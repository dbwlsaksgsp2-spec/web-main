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총매출액 (억 원)</c:v>
                </c:pt>
              </c:strCache>
            </c:strRef>
          </c:tx>
          <c:marker>
            <c:symbol val="none"/>
          </c:marker>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4.74</c:v>
                </c:pt>
                <c:pt idx="1">
                  <c:v>7.21</c:v>
                </c:pt>
                <c:pt idx="2">
                  <c:v>2.08</c:v>
                </c:pt>
                <c:pt idx="3">
                  <c:v>6.9</c:v>
                </c:pt>
                <c:pt idx="4">
                  <c:v>4.9</c:v>
                </c:pt>
                <c:pt idx="5">
                  <c:v>3.07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매출 비중 (%)</c:v>
                </c:pt>
              </c:strCache>
            </c:strRef>
          </c:tx>
          <c:cat>
            <c:strRef>
              <c:f>Sheet1!$A$2:$A$4</c:f>
              <c:strCache>
                <c:ptCount val="3"/>
                <c:pt idx="0">
                  <c:v>프리미엄</c:v>
                </c:pt>
                <c:pt idx="1">
                  <c:v>엔터프라이즈</c:v>
                </c:pt>
                <c:pt idx="2">
                  <c:v>베이직</c:v>
                </c:pt>
              </c:strCache>
            </c:strRef>
          </c:cat>
          <c:val>
            <c:numRef>
              <c:f>Sheet1!$B$2:$B$4</c:f>
              <c:numCache>
                <c:formatCode>General</c:formatCode>
                <c:ptCount val="3"/>
                <c:pt idx="0">
                  <c:v>44.2</c:v>
                </c:pt>
                <c:pt idx="1">
                  <c:v>39.1</c:v>
                </c:pt>
                <c:pt idx="2">
                  <c:v>16.7</c:v>
                </c:pt>
              </c:numCache>
            </c:numRef>
          </c:val>
        </c:ser>
      </c:pieChart>
    </c:plotArea>
    <c:legend>
      <c:legendPos val="b"/>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매출 점유율 (%)</c:v>
                </c:pt>
              </c:strCache>
            </c:strRef>
          </c:tx>
          <c:cat>
            <c:strRef>
              <c:f>Sheet1!$A$2:$A$6</c:f>
              <c:strCache>
                <c:ptCount val="5"/>
                <c:pt idx="0">
                  <c:v>기타 (3.4%)</c:v>
                </c:pt>
                <c:pt idx="1">
                  <c:v>호남권 (6.2%)</c:v>
                </c:pt>
                <c:pt idx="2">
                  <c:v>충청권 (9.4%)</c:v>
                </c:pt>
                <c:pt idx="3">
                  <c:v>영남권 (18.7%)</c:v>
                </c:pt>
                <c:pt idx="4">
                  <c:v>수도권 (62.3%)</c:v>
                </c:pt>
              </c:strCache>
            </c:strRef>
          </c:cat>
          <c:val>
            <c:numRef>
              <c:f>Sheet1!$B$2:$B$6</c:f>
              <c:numCache>
                <c:formatCode>General</c:formatCode>
                <c:ptCount val="5"/>
                <c:pt idx="0">
                  <c:v>3.4</c:v>
                </c:pt>
                <c:pt idx="1">
                  <c:v>6.2</c:v>
                </c:pt>
                <c:pt idx="2">
                  <c:v>9.4</c:v>
                </c:pt>
                <c:pt idx="3">
                  <c:v>18.7</c:v>
                </c:pt>
                <c:pt idx="4">
                  <c:v>62.3</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영업기획팀 김민서 대리입니다. 지금부터 2025년 상반기 매출 보고 발표를 시작하겠습니다. 본 보고는 지난 1월부터 6월까지의 당사 영업 실적을 체계적으로 점검하여 핵심 발견사항을 제시하기 위해 마련되었습니다. 다음 슬라이드로 이동해 전체 발표 목차를 안내해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오늘 발표할 5가지 핵심 목차입니다. 구체적으로 말씀드리면, 전체 실적 요약 보고를 시작으로 월별/제품별 상세 데이터, 지역별 분포를 종합 분석하겠습니다. 이어서 주요 성과와 과제를 진단하고, 최종적으로 하반기 4대 영업 전략을 제안하는 순으로 마치겠습니다. 먼저 전체 실적 요약을 보고드리겠습니다.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2025년 상반기 전체 영업 실적 요약입니다. 구체적으로 말씀드리면, 상반기 총매출은 28억 4,200만 원으로 전년 동기 대비 12.3% 크게 증가하였으며, 총 판매 건수는 1,847건으로 8.7% 늘어났습니다. 월별로는 봄 프로모션 효과를 얻은 4월이 6억 9,003만 원으로 최고치를 기록한 반면 비수기인 3월은 2억 790만 원으로 최저치에 머물렀습니다. 다음 슬라이드로 이동하여 월별 매출 흐름을 꺾은선 차트로 더욱 상세히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월별 매출 변동 추이입니다. 구체적으로 말씀드리면, 꺾은선 차트에서 나타나듯 1월 일시 하락 후 2월에 7억 2천만 원대까지 급증했습니다. 이후 3월에 계절 비수기로 최저점을 찍었으나, 4월 봄 프로모션이 폭발적인 성과를 거두어 6억 9천만 원대로 재반등에 성공했습니다. 다음 슬라이드에서는 이러한 매출을 이끈 제품별 비중 분석 결과를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제품군별 매출 비중 분석입니다. 구체적으로 말씀드리면, 전체 매출 비중의 44.2%를 차지한 프리미엄 제품군이 매출 기여도 1위를 기록했습니다. 엔터프라이즈는 B2B 영업 활성화로 39.1%의 매출 비중을 차지하여 2위를 기록했습니다. 두 주력 제품군이 전체 매출의 83.3%를 주도하고 있음을 볼 수 있습니다. 다음 슬라이드에서는 지역별 매출 점유율을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지역별 상반기 매출 분포 순위입니다. 구체적으로 말씀드리면, 가로 막대 차트에서 가장 긴 비중을 차지하는 수도권이 62.3%의 높은 점유율로 과반 이상을 지배하고 있습니다. 뒤이어 영남권이 18.7%를 점유했고, 호남과 기타 지방권역은 각 6% 미만의 매우 저조한 침투율을 보였습니다. 따라서 수도권 편중 해결을 위해 하반기 지방권 확장 영업이 요구됩니다. 다음 슬라이드에서는 상반기 주요 성과 및 이슈를 종합 진단해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상반기 성과 및 직면한 극복 과제입니다. 구체적으로 말씀드리면, 신규 영업 목표 108% 달성과 함께 고객 충성도 NPS 지수가 72점까지 상승하는 뚜렷한 성과를 거두었습니다. 하지만 3월 영업 공백 관리 체계 부족, 베이직 단가 하락세, 그리고 강원/호남 파트너 망 저조 등의 고질적인 이슈는 속히 극복해야 합니다. 이 분석을 집대성하여 하반기 최종 제안 내용을 보고드리겠습니다.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상반기 전체 요약 및 하반기 추진 제안입니다. 구체적으로 말씀드리면, 매출 성장을 증명함과 동시에 주력 제품군 편중 극복과 지방 시장 활로 개척이라는 전략 과제를 발굴했습니다. 이에 대한 제안으로 프리미엄 프로모션 유치, 지방 파트너쉽 강화, 디지털 광고 예산 20% 증액 조치를 적극 시행할 것을 건의드립니다. 마지막으로 질의응답을 진행하도록 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2025년 상반기 매출 보고 발표를 모두 마치겠습니다. 오늘 건의드린 하반기 구체적 대안들에 대해 질문이 있으시거나 의견이 있으시다면 질의하여 주시기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1371600"/>
            <a:ext cx="182880" cy="411480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011680"/>
            <a:ext cx="10058400" cy="1371600"/>
          </a:xfrm>
          <a:prstGeom prst="rect">
            <a:avLst/>
          </a:prstGeom>
          <a:noFill/>
        </p:spPr>
        <p:txBody>
          <a:bodyPr wrap="none">
            <a:spAutoFit/>
          </a:bodyPr>
          <a:lstStyle/>
          <a:p>
            <a:pPr>
              <a:defRPr sz="3800" b="1">
                <a:solidFill>
                  <a:srgbClr val="2B5797"/>
                </a:solidFill>
                <a:latin typeface="맑은 고딕"/>
              </a:defRPr>
            </a:pPr>
            <a:r>
              <a:t>2025년 상반기 매출 보고</a:t>
            </a:r>
          </a:p>
        </p:txBody>
      </p:sp>
      <p:sp>
        <p:nvSpPr>
          <p:cNvPr id="4" name="TextBox 3"/>
          <p:cNvSpPr txBox="1"/>
          <p:nvPr/>
        </p:nvSpPr>
        <p:spPr>
          <a:xfrm>
            <a:off x="1188720" y="3200400"/>
            <a:ext cx="10058400" cy="914400"/>
          </a:xfrm>
          <a:prstGeom prst="rect">
            <a:avLst/>
          </a:prstGeom>
          <a:noFill/>
        </p:spPr>
        <p:txBody>
          <a:bodyPr wrap="none">
            <a:spAutoFit/>
          </a:bodyPr>
          <a:lstStyle/>
          <a:p>
            <a:pPr>
              <a:defRPr sz="1800">
                <a:solidFill>
                  <a:srgbClr val="E87722"/>
                </a:solidFill>
                <a:latin typeface="맑은 고딕"/>
              </a:defRPr>
            </a:pPr>
            <a:r>
              <a:t>보고기간: 2025년 1월 ~ 6월  |  부서: 영업기획팀</a:t>
            </a:r>
          </a:p>
        </p:txBody>
      </p:sp>
      <p:sp>
        <p:nvSpPr>
          <p:cNvPr id="5" name="TextBox 4"/>
          <p:cNvSpPr txBox="1"/>
          <p:nvPr/>
        </p:nvSpPr>
        <p:spPr>
          <a:xfrm>
            <a:off x="1188720" y="4389120"/>
            <a:ext cx="10058400" cy="914400"/>
          </a:xfrm>
          <a:prstGeom prst="rect">
            <a:avLst/>
          </a:prstGeom>
          <a:noFill/>
        </p:spPr>
        <p:txBody>
          <a:bodyPr wrap="none">
            <a:spAutoFit/>
          </a:bodyPr>
          <a:lstStyle/>
          <a:p>
            <a:pPr>
              <a:defRPr sz="1400">
                <a:solidFill>
                  <a:srgbClr val="788291"/>
                </a:solidFill>
                <a:latin typeface="맑은 고딕"/>
              </a:defRPr>
            </a:pPr>
            <a:r>
              <a:t>작성자: 김민서 대리  |  작성일: 2025년 7월 5일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tIns="0" bIns="0" lIns="0" rIns="0">
            <a:spAutoFit/>
          </a:bodyPr>
          <a:lstStyle/>
          <a:p>
            <a:pPr>
              <a:defRPr sz="2800" b="1">
                <a:solidFill>
                  <a:srgbClr val="2B5797"/>
                </a:solidFill>
                <a:latin typeface="맑은 고딕"/>
              </a:defRPr>
            </a:pPr>
            <a:r>
              <a:t>목차</a:t>
            </a:r>
          </a:p>
        </p:txBody>
      </p:sp>
      <p:sp>
        <p:nvSpPr>
          <p:cNvPr id="4" name="TextBox 3"/>
          <p:cNvSpPr txBox="1"/>
          <p:nvPr/>
        </p:nvSpPr>
        <p:spPr>
          <a:xfrm>
            <a:off x="914400" y="841248"/>
            <a:ext cx="10515600" cy="365760"/>
          </a:xfrm>
          <a:prstGeom prst="rect">
            <a:avLst/>
          </a:prstGeom>
          <a:noFill/>
        </p:spPr>
        <p:txBody>
          <a:bodyPr wrap="square" tIns="0" bIns="0" lIns="0" rIns="0">
            <a:spAutoFit/>
          </a:bodyPr>
          <a:lstStyle/>
          <a:p>
            <a:pPr>
              <a:defRPr sz="1500" b="1">
                <a:solidFill>
                  <a:srgbClr val="E87722"/>
                </a:solidFill>
                <a:latin typeface="맑은 고딕"/>
              </a:defRPr>
            </a:pPr>
            <a:r>
              <a:t>상반기 실적 분석부터 전략 제안까지 5단계 흐름으로 보고드리겠습니다.</a:t>
            </a:r>
          </a:p>
        </p:txBody>
      </p:sp>
      <p:sp>
        <p:nvSpPr>
          <p:cNvPr id="5" name="Rectangle 4"/>
          <p:cNvSpPr/>
          <p:nvPr/>
        </p:nvSpPr>
        <p:spPr>
          <a:xfrm>
            <a:off x="731520" y="1280160"/>
            <a:ext cx="10698480" cy="9144"/>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2</a:t>
            </a:r>
          </a:p>
        </p:txBody>
      </p:sp>
      <p:sp>
        <p:nvSpPr>
          <p:cNvPr id="8" name="Rounded Rectangle 7"/>
          <p:cNvSpPr/>
          <p:nvPr/>
        </p:nvSpPr>
        <p:spPr>
          <a:xfrm>
            <a:off x="731520" y="1554480"/>
            <a:ext cx="10698480" cy="64008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64208"/>
            <a:ext cx="10332720" cy="457200"/>
          </a:xfrm>
          <a:prstGeom prst="rect">
            <a:avLst/>
          </a:prstGeom>
          <a:noFill/>
        </p:spPr>
        <p:txBody>
          <a:bodyPr wrap="none">
            <a:spAutoFit/>
          </a:bodyPr>
          <a:lstStyle/>
          <a:p>
            <a:pPr>
              <a:defRPr sz="1600" b="1">
                <a:solidFill>
                  <a:srgbClr val="2B5797"/>
                </a:solidFill>
                <a:latin typeface="맑은 고딕"/>
              </a:defRPr>
            </a:pPr>
            <a:r>
              <a:t>01.  전체 실적 요약</a:t>
            </a:r>
          </a:p>
        </p:txBody>
      </p:sp>
      <p:sp>
        <p:nvSpPr>
          <p:cNvPr id="10" name="Rounded Rectangle 9"/>
          <p:cNvSpPr/>
          <p:nvPr/>
        </p:nvSpPr>
        <p:spPr>
          <a:xfrm>
            <a:off x="731520" y="2377440"/>
            <a:ext cx="10698480" cy="64008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87168"/>
            <a:ext cx="10332720" cy="457200"/>
          </a:xfrm>
          <a:prstGeom prst="rect">
            <a:avLst/>
          </a:prstGeom>
          <a:noFill/>
        </p:spPr>
        <p:txBody>
          <a:bodyPr wrap="none">
            <a:spAutoFit/>
          </a:bodyPr>
          <a:lstStyle/>
          <a:p>
            <a:pPr>
              <a:defRPr sz="1600" b="1">
                <a:solidFill>
                  <a:srgbClr val="2B5797"/>
                </a:solidFill>
                <a:latin typeface="맑은 고딕"/>
              </a:defRPr>
            </a:pPr>
            <a:r>
              <a:t>02.  월별 및 제품별 분석</a:t>
            </a:r>
          </a:p>
        </p:txBody>
      </p:sp>
      <p:sp>
        <p:nvSpPr>
          <p:cNvPr id="12" name="Rounded Rectangle 11"/>
          <p:cNvSpPr/>
          <p:nvPr/>
        </p:nvSpPr>
        <p:spPr>
          <a:xfrm>
            <a:off x="731520" y="3200400"/>
            <a:ext cx="10698480" cy="64008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10128"/>
            <a:ext cx="10332720" cy="457200"/>
          </a:xfrm>
          <a:prstGeom prst="rect">
            <a:avLst/>
          </a:prstGeom>
          <a:noFill/>
        </p:spPr>
        <p:txBody>
          <a:bodyPr wrap="none">
            <a:spAutoFit/>
          </a:bodyPr>
          <a:lstStyle/>
          <a:p>
            <a:pPr>
              <a:defRPr sz="1600" b="1">
                <a:solidFill>
                  <a:srgbClr val="2B5797"/>
                </a:solidFill>
                <a:latin typeface="맑은 고딕"/>
              </a:defRPr>
            </a:pPr>
            <a:r>
              <a:t>03.  지역별 매출 분포</a:t>
            </a:r>
          </a:p>
        </p:txBody>
      </p:sp>
      <p:sp>
        <p:nvSpPr>
          <p:cNvPr id="14" name="Rounded Rectangle 13"/>
          <p:cNvSpPr/>
          <p:nvPr/>
        </p:nvSpPr>
        <p:spPr>
          <a:xfrm>
            <a:off x="731520" y="4023360"/>
            <a:ext cx="10698480" cy="64008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33088"/>
            <a:ext cx="10332720" cy="457200"/>
          </a:xfrm>
          <a:prstGeom prst="rect">
            <a:avLst/>
          </a:prstGeom>
          <a:noFill/>
        </p:spPr>
        <p:txBody>
          <a:bodyPr wrap="none">
            <a:spAutoFit/>
          </a:bodyPr>
          <a:lstStyle/>
          <a:p>
            <a:pPr>
              <a:defRPr sz="1600" b="1">
                <a:solidFill>
                  <a:srgbClr val="2B5797"/>
                </a:solidFill>
                <a:latin typeface="맑은 고딕"/>
              </a:defRPr>
            </a:pPr>
            <a:r>
              <a:t>04.  주요 성과 및 이슈</a:t>
            </a:r>
          </a:p>
        </p:txBody>
      </p:sp>
      <p:sp>
        <p:nvSpPr>
          <p:cNvPr id="16" name="Rounded Rectangle 15"/>
          <p:cNvSpPr/>
          <p:nvPr/>
        </p:nvSpPr>
        <p:spPr>
          <a:xfrm>
            <a:off x="731520" y="4846320"/>
            <a:ext cx="10698480" cy="64008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56048"/>
            <a:ext cx="10332720" cy="457200"/>
          </a:xfrm>
          <a:prstGeom prst="rect">
            <a:avLst/>
          </a:prstGeom>
          <a:noFill/>
        </p:spPr>
        <p:txBody>
          <a:bodyPr wrap="none">
            <a:spAutoFit/>
          </a:bodyPr>
          <a:lstStyle/>
          <a:p>
            <a:pPr>
              <a:defRPr sz="1600" b="1">
                <a:solidFill>
                  <a:srgbClr val="2B5797"/>
                </a:solidFill>
                <a:latin typeface="맑은 고딕"/>
              </a:defRPr>
            </a:pPr>
            <a:r>
              <a:t>05.  하반기 전략 제안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tIns="0" bIns="0" lIns="0" rIns="0">
            <a:spAutoFit/>
          </a:bodyPr>
          <a:lstStyle/>
          <a:p>
            <a:pPr>
              <a:defRPr sz="2800" b="1">
                <a:solidFill>
                  <a:srgbClr val="2B5797"/>
                </a:solidFill>
                <a:latin typeface="맑은 고딕"/>
              </a:defRPr>
            </a:pPr>
            <a:r>
              <a:t>1. 전체 실적 요약</a:t>
            </a:r>
          </a:p>
        </p:txBody>
      </p:sp>
      <p:sp>
        <p:nvSpPr>
          <p:cNvPr id="4" name="TextBox 3"/>
          <p:cNvSpPr txBox="1"/>
          <p:nvPr/>
        </p:nvSpPr>
        <p:spPr>
          <a:xfrm>
            <a:off x="914400" y="841248"/>
            <a:ext cx="10515600" cy="365760"/>
          </a:xfrm>
          <a:prstGeom prst="rect">
            <a:avLst/>
          </a:prstGeom>
          <a:noFill/>
        </p:spPr>
        <p:txBody>
          <a:bodyPr wrap="square" tIns="0" bIns="0" lIns="0" rIns="0">
            <a:spAutoFit/>
          </a:bodyPr>
          <a:lstStyle/>
          <a:p>
            <a:pPr>
              <a:defRPr sz="1500" b="1">
                <a:solidFill>
                  <a:srgbClr val="E87722"/>
                </a:solidFill>
                <a:latin typeface="맑은 고딕"/>
              </a:defRPr>
            </a:pPr>
            <a:r>
              <a:t>상반기 총매출 28억 4,200만 원 달성, 전년 동기 대비 +12.3% 큰 폭 성장</a:t>
            </a:r>
          </a:p>
        </p:txBody>
      </p:sp>
      <p:sp>
        <p:nvSpPr>
          <p:cNvPr id="5" name="Rectangle 4"/>
          <p:cNvSpPr/>
          <p:nvPr/>
        </p:nvSpPr>
        <p:spPr>
          <a:xfrm>
            <a:off x="731520" y="1280160"/>
            <a:ext cx="10698480" cy="9144"/>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3</a:t>
            </a:r>
          </a:p>
        </p:txBody>
      </p:sp>
      <p:sp>
        <p:nvSpPr>
          <p:cNvPr id="8" name="Rounded Rectangle 7"/>
          <p:cNvSpPr/>
          <p:nvPr/>
        </p:nvSpPr>
        <p:spPr>
          <a:xfrm>
            <a:off x="731520" y="1645920"/>
            <a:ext cx="10698480" cy="411480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10424160" cy="3840480"/>
          </a:xfrm>
          <a:prstGeom prst="rect">
            <a:avLst/>
          </a:prstGeom>
          <a:noFill/>
        </p:spPr>
        <p:txBody>
          <a:bodyPr wrap="square">
            <a:spAutoFit/>
          </a:bodyPr>
          <a:lstStyle/>
          <a:p>
            <a:pPr>
              <a:spcAft>
                <a:spcPts val="1200"/>
              </a:spcAft>
              <a:defRPr sz="1800" b="0">
                <a:solidFill>
                  <a:srgbClr val="2B5797"/>
                </a:solidFill>
                <a:latin typeface="맑은 고딕"/>
              </a:defRPr>
            </a:pPr>
            <a:r>
              <a:t>· 실적 지표: 상반기 총매출 28억 4,200만 원 (전년 동기 대비 +12.3% 증가)</a:t>
            </a:r>
          </a:p>
          <a:p>
            <a:pPr>
              <a:spcAft>
                <a:spcPts val="1200"/>
              </a:spcAft>
              <a:defRPr sz="1800" b="0">
                <a:solidFill>
                  <a:srgbClr val="2B5797"/>
                </a:solidFill>
                <a:latin typeface="맑은 고딕"/>
              </a:defRPr>
            </a:pPr>
            <a:r>
              <a:t>· 판매 효율: 총 판매 건수 1,847건 (전년비 +8.7%), 월평균 매출 4억 7,367만 원</a:t>
            </a:r>
          </a:p>
          <a:p>
            <a:pPr>
              <a:spcAft>
                <a:spcPts val="1200"/>
              </a:spcAft>
              <a:defRPr sz="1800" b="0">
                <a:solidFill>
                  <a:srgbClr val="2B5797"/>
                </a:solidFill>
                <a:latin typeface="맑은 고딕"/>
              </a:defRPr>
            </a:pPr>
            <a:r>
              <a:t>· 월별 극단: 4월 봄 프로모션 최고 실적(6.9억) / 3월 계절 비수기 최저 실적(2.08억)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tIns="0" bIns="0" lIns="0" rIns="0">
            <a:spAutoFit/>
          </a:bodyPr>
          <a:lstStyle/>
          <a:p>
            <a:pPr>
              <a:defRPr sz="2800" b="1">
                <a:solidFill>
                  <a:srgbClr val="2B5797"/>
                </a:solidFill>
                <a:latin typeface="맑은 고딕"/>
              </a:defRPr>
            </a:pPr>
            <a:r>
              <a:t>2. 월별 매출 현황</a:t>
            </a:r>
          </a:p>
        </p:txBody>
      </p:sp>
      <p:sp>
        <p:nvSpPr>
          <p:cNvPr id="4" name="TextBox 3"/>
          <p:cNvSpPr txBox="1"/>
          <p:nvPr/>
        </p:nvSpPr>
        <p:spPr>
          <a:xfrm>
            <a:off x="914400" y="841248"/>
            <a:ext cx="10515600" cy="365760"/>
          </a:xfrm>
          <a:prstGeom prst="rect">
            <a:avLst/>
          </a:prstGeom>
          <a:noFill/>
        </p:spPr>
        <p:txBody>
          <a:bodyPr wrap="square" tIns="0" bIns="0" lIns="0" rIns="0">
            <a:spAutoFit/>
          </a:bodyPr>
          <a:lstStyle/>
          <a:p>
            <a:pPr>
              <a:defRPr sz="1500" b="1">
                <a:solidFill>
                  <a:srgbClr val="E87722"/>
                </a:solidFill>
                <a:latin typeface="맑은 고딕"/>
              </a:defRPr>
            </a:pPr>
            <a:r>
              <a:t>시간 흐름에 따른 상반기 월 매출 추이 (3월 최저점 극복 후 4월 최고점 반등)</a:t>
            </a:r>
          </a:p>
        </p:txBody>
      </p:sp>
      <p:sp>
        <p:nvSpPr>
          <p:cNvPr id="5" name="Rectangle 4"/>
          <p:cNvSpPr/>
          <p:nvPr/>
        </p:nvSpPr>
        <p:spPr>
          <a:xfrm>
            <a:off x="731520" y="1280160"/>
            <a:ext cx="10698480" cy="9144"/>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4</a:t>
            </a:r>
          </a:p>
        </p:txBody>
      </p:sp>
      <p:graphicFrame>
        <p:nvGraphicFramePr>
          <p:cNvPr id="8" name="Chart 7"/>
          <p:cNvGraphicFramePr>
            <a:graphicFrameLocks noGrp="1"/>
          </p:cNvGraphicFramePr>
          <p:nvPr/>
        </p:nvGraphicFramePr>
        <p:xfrm>
          <a:off x="1371600" y="1645920"/>
          <a:ext cx="941832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tIns="0" bIns="0" lIns="0" rIns="0">
            <a:spAutoFit/>
          </a:bodyPr>
          <a:lstStyle/>
          <a:p>
            <a:pPr>
              <a:defRPr sz="2800" b="1">
                <a:solidFill>
                  <a:srgbClr val="2B5797"/>
                </a:solidFill>
                <a:latin typeface="맑은 고딕"/>
              </a:defRPr>
            </a:pPr>
            <a:r>
              <a:t>3. 제품별 분석</a:t>
            </a:r>
          </a:p>
        </p:txBody>
      </p:sp>
      <p:sp>
        <p:nvSpPr>
          <p:cNvPr id="4" name="TextBox 3"/>
          <p:cNvSpPr txBox="1"/>
          <p:nvPr/>
        </p:nvSpPr>
        <p:spPr>
          <a:xfrm>
            <a:off x="914400" y="841248"/>
            <a:ext cx="10515600" cy="365760"/>
          </a:xfrm>
          <a:prstGeom prst="rect">
            <a:avLst/>
          </a:prstGeom>
          <a:noFill/>
        </p:spPr>
        <p:txBody>
          <a:bodyPr wrap="square" tIns="0" bIns="0" lIns="0" rIns="0">
            <a:spAutoFit/>
          </a:bodyPr>
          <a:lstStyle/>
          <a:p>
            <a:pPr>
              <a:defRPr sz="1500" b="1">
                <a:solidFill>
                  <a:srgbClr val="E87722"/>
                </a:solidFill>
                <a:latin typeface="맑은 고딕"/>
              </a:defRPr>
            </a:pPr>
            <a:r>
              <a:t>프리미엄(44.2%)과 엔터프라이즈(39.1%) 제품군이 성장의 핵심 축 담당</a:t>
            </a:r>
          </a:p>
        </p:txBody>
      </p:sp>
      <p:sp>
        <p:nvSpPr>
          <p:cNvPr id="5" name="Rectangle 4"/>
          <p:cNvSpPr/>
          <p:nvPr/>
        </p:nvSpPr>
        <p:spPr>
          <a:xfrm>
            <a:off x="731520" y="1280160"/>
            <a:ext cx="10698480" cy="9144"/>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5</a:t>
            </a:r>
          </a:p>
        </p:txBody>
      </p:sp>
      <p:graphicFrame>
        <p:nvGraphicFramePr>
          <p:cNvPr id="8" name="Chart 7"/>
          <p:cNvGraphicFramePr>
            <a:graphicFrameLocks noGrp="1"/>
          </p:cNvGraphicFramePr>
          <p:nvPr/>
        </p:nvGraphicFramePr>
        <p:xfrm>
          <a:off x="1371600" y="1645920"/>
          <a:ext cx="941832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tIns="0" bIns="0" lIns="0" rIns="0">
            <a:spAutoFit/>
          </a:bodyPr>
          <a:lstStyle/>
          <a:p>
            <a:pPr>
              <a:defRPr sz="2800" b="1">
                <a:solidFill>
                  <a:srgbClr val="2B5797"/>
                </a:solidFill>
                <a:latin typeface="맑은 고딕"/>
              </a:defRPr>
            </a:pPr>
            <a:r>
              <a:t>4. 지역별 분석</a:t>
            </a:r>
          </a:p>
        </p:txBody>
      </p:sp>
      <p:sp>
        <p:nvSpPr>
          <p:cNvPr id="4" name="TextBox 3"/>
          <p:cNvSpPr txBox="1"/>
          <p:nvPr/>
        </p:nvSpPr>
        <p:spPr>
          <a:xfrm>
            <a:off x="914400" y="841248"/>
            <a:ext cx="10515600" cy="365760"/>
          </a:xfrm>
          <a:prstGeom prst="rect">
            <a:avLst/>
          </a:prstGeom>
          <a:noFill/>
        </p:spPr>
        <p:txBody>
          <a:bodyPr wrap="square" tIns="0" bIns="0" lIns="0" rIns="0">
            <a:spAutoFit/>
          </a:bodyPr>
          <a:lstStyle/>
          <a:p>
            <a:pPr>
              <a:defRPr sz="1500" b="1">
                <a:solidFill>
                  <a:srgbClr val="E87722"/>
                </a:solidFill>
                <a:latin typeface="맑은 고딕"/>
              </a:defRPr>
            </a:pPr>
            <a:r>
              <a:t>수도권(62.3%) 편중 현상 지속으로 전국 단위 커버리지 확장 과제 도출</a:t>
            </a:r>
          </a:p>
        </p:txBody>
      </p:sp>
      <p:sp>
        <p:nvSpPr>
          <p:cNvPr id="5" name="Rectangle 4"/>
          <p:cNvSpPr/>
          <p:nvPr/>
        </p:nvSpPr>
        <p:spPr>
          <a:xfrm>
            <a:off x="731520" y="1280160"/>
            <a:ext cx="10698480" cy="9144"/>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6</a:t>
            </a:r>
          </a:p>
        </p:txBody>
      </p:sp>
      <p:graphicFrame>
        <p:nvGraphicFramePr>
          <p:cNvPr id="8" name="Chart 7"/>
          <p:cNvGraphicFramePr>
            <a:graphicFrameLocks noGrp="1"/>
          </p:cNvGraphicFramePr>
          <p:nvPr/>
        </p:nvGraphicFramePr>
        <p:xfrm>
          <a:off x="1371600" y="1645920"/>
          <a:ext cx="941832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tIns="0" bIns="0" lIns="0" rIns="0">
            <a:spAutoFit/>
          </a:bodyPr>
          <a:lstStyle/>
          <a:p>
            <a:pPr>
              <a:defRPr sz="2800" b="1">
                <a:solidFill>
                  <a:srgbClr val="2B5797"/>
                </a:solidFill>
                <a:latin typeface="맑은 고딕"/>
              </a:defRPr>
            </a:pPr>
            <a:r>
              <a:t>5. 주요 성과 및 이슈</a:t>
            </a:r>
          </a:p>
        </p:txBody>
      </p:sp>
      <p:sp>
        <p:nvSpPr>
          <p:cNvPr id="4" name="TextBox 3"/>
          <p:cNvSpPr txBox="1"/>
          <p:nvPr/>
        </p:nvSpPr>
        <p:spPr>
          <a:xfrm>
            <a:off x="914400" y="841248"/>
            <a:ext cx="10515600" cy="365760"/>
          </a:xfrm>
          <a:prstGeom prst="rect">
            <a:avLst/>
          </a:prstGeom>
          <a:noFill/>
        </p:spPr>
        <p:txBody>
          <a:bodyPr wrap="square" tIns="0" bIns="0" lIns="0" rIns="0">
            <a:spAutoFit/>
          </a:bodyPr>
          <a:lstStyle/>
          <a:p>
            <a:pPr>
              <a:defRPr sz="1500" b="1">
                <a:solidFill>
                  <a:srgbClr val="E87722"/>
                </a:solidFill>
                <a:latin typeface="맑은 고딕"/>
              </a:defRPr>
            </a:pPr>
            <a:r>
              <a:t>유치 목표 초과 및 만족도 NPS 향상 vs 비수기 매출 저하 해결 시급</a:t>
            </a:r>
          </a:p>
        </p:txBody>
      </p:sp>
      <p:sp>
        <p:nvSpPr>
          <p:cNvPr id="5" name="Rectangle 4"/>
          <p:cNvSpPr/>
          <p:nvPr/>
        </p:nvSpPr>
        <p:spPr>
          <a:xfrm>
            <a:off x="731520" y="1280160"/>
            <a:ext cx="10698480" cy="9144"/>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7</a:t>
            </a:r>
          </a:p>
        </p:txBody>
      </p:sp>
      <p:sp>
        <p:nvSpPr>
          <p:cNvPr id="8" name="Rounded Rectangle 7"/>
          <p:cNvSpPr/>
          <p:nvPr/>
        </p:nvSpPr>
        <p:spPr>
          <a:xfrm>
            <a:off x="731520" y="1645920"/>
            <a:ext cx="5120640" cy="411480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4846320" cy="3840480"/>
          </a:xfrm>
          <a:prstGeom prst="rect">
            <a:avLst/>
          </a:prstGeom>
          <a:noFill/>
        </p:spPr>
        <p:txBody>
          <a:bodyPr wrap="square">
            <a:spAutoFit/>
          </a:bodyPr>
          <a:lstStyle/>
          <a:p>
            <a:pPr>
              <a:spcAft>
                <a:spcPts val="1200"/>
              </a:spcAft>
              <a:defRPr sz="1400" b="0">
                <a:solidFill>
                  <a:srgbClr val="2B5797"/>
                </a:solidFill>
                <a:latin typeface="맑은 고딕"/>
              </a:defRPr>
            </a:pPr>
            <a:r>
              <a:t>■ 주요 성과 (Key Achievements)</a:t>
            </a:r>
          </a:p>
          <a:p>
            <a:pPr>
              <a:spcAft>
                <a:spcPts val="1200"/>
              </a:spcAft>
              <a:defRPr sz="1400" b="0">
                <a:solidFill>
                  <a:srgbClr val="2B5797"/>
                </a:solidFill>
                <a:latin typeface="맑은 고딕"/>
              </a:defRPr>
            </a:pPr>
            <a:r>
              <a:t>· 신규 고객 유치 목표 달성률 108% (302건 달성)</a:t>
            </a:r>
          </a:p>
          <a:p>
            <a:pPr>
              <a:spcAft>
                <a:spcPts val="1200"/>
              </a:spcAft>
              <a:defRPr sz="1400" b="0">
                <a:solidFill>
                  <a:srgbClr val="2B5797"/>
                </a:solidFill>
                <a:latin typeface="맑은 고딕"/>
              </a:defRPr>
            </a:pPr>
            <a:r>
              <a:t>· 고객 만족도 NPS 72점 달성 (전년비 7점 상승)</a:t>
            </a:r>
          </a:p>
          <a:p>
            <a:pPr>
              <a:spcAft>
                <a:spcPts val="1200"/>
              </a:spcAft>
              <a:defRPr sz="1400" b="0">
                <a:solidFill>
                  <a:srgbClr val="2B5797"/>
                </a:solidFill>
                <a:latin typeface="맑은 고딕"/>
              </a:defRPr>
            </a:pPr>
            <a:r>
              <a:t>· 엔터프라이즈 신규 3개사 수주 (연 5억+ 매출 효과)</a:t>
            </a:r>
          </a:p>
        </p:txBody>
      </p:sp>
      <p:sp>
        <p:nvSpPr>
          <p:cNvPr id="10" name="Rounded Rectangle 9"/>
          <p:cNvSpPr/>
          <p:nvPr/>
        </p:nvSpPr>
        <p:spPr>
          <a:xfrm>
            <a:off x="6309360" y="1645920"/>
            <a:ext cx="5120640" cy="411480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783080"/>
            <a:ext cx="4846320" cy="3840480"/>
          </a:xfrm>
          <a:prstGeom prst="rect">
            <a:avLst/>
          </a:prstGeom>
          <a:noFill/>
        </p:spPr>
        <p:txBody>
          <a:bodyPr wrap="square">
            <a:spAutoFit/>
          </a:bodyPr>
          <a:lstStyle/>
          <a:p>
            <a:pPr>
              <a:spcAft>
                <a:spcPts val="1200"/>
              </a:spcAft>
              <a:defRPr sz="1400" b="0">
                <a:solidFill>
                  <a:srgbClr val="2B5797"/>
                </a:solidFill>
                <a:latin typeface="맑은 고딕"/>
              </a:defRPr>
            </a:pPr>
            <a:r>
              <a:t>■ 극복 과제 (Key Issues)</a:t>
            </a:r>
          </a:p>
          <a:p>
            <a:pPr>
              <a:spcAft>
                <a:spcPts val="1200"/>
              </a:spcAft>
              <a:defRPr sz="1400" b="0">
                <a:solidFill>
                  <a:srgbClr val="2B5797"/>
                </a:solidFill>
                <a:latin typeface="맑은 고딕"/>
              </a:defRPr>
            </a:pPr>
            <a:r>
              <a:t>· 3월 분기 전환기 영업 공백에 따른 비수기 매출 급감 해결</a:t>
            </a:r>
          </a:p>
          <a:p>
            <a:pPr>
              <a:spcAft>
                <a:spcPts val="1200"/>
              </a:spcAft>
              <a:defRPr sz="1400" b="0">
                <a:solidFill>
                  <a:srgbClr val="2B5797"/>
                </a:solidFill>
                <a:latin typeface="맑은 고딕"/>
              </a:defRPr>
            </a:pPr>
            <a:r>
              <a:t>· 베이직 요금 고객 단가 하락 방지 부가서비스 패키징</a:t>
            </a:r>
          </a:p>
          <a:p>
            <a:pPr>
              <a:spcAft>
                <a:spcPts val="1200"/>
              </a:spcAft>
              <a:defRPr sz="1400" b="0">
                <a:solidFill>
                  <a:srgbClr val="2B5797"/>
                </a:solidFill>
                <a:latin typeface="맑은 고딕"/>
              </a:defRPr>
            </a:pPr>
            <a:r>
              <a:t>· 호남 및 강원 지역 침투율 저조 극복을 위한 파트너망 구축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457200"/>
            <a:ext cx="109728" cy="73152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84048"/>
            <a:ext cx="10515600" cy="457200"/>
          </a:xfrm>
          <a:prstGeom prst="rect">
            <a:avLst/>
          </a:prstGeom>
          <a:noFill/>
        </p:spPr>
        <p:txBody>
          <a:bodyPr wrap="square" tIns="0" bIns="0" lIns="0" rIns="0">
            <a:spAutoFit/>
          </a:bodyPr>
          <a:lstStyle/>
          <a:p>
            <a:pPr>
              <a:defRPr sz="2800" b="1">
                <a:solidFill>
                  <a:srgbClr val="2B5797"/>
                </a:solidFill>
                <a:latin typeface="맑은 고딕"/>
              </a:defRPr>
            </a:pPr>
            <a:r>
              <a:t>요약 및 제안</a:t>
            </a:r>
          </a:p>
        </p:txBody>
      </p:sp>
      <p:sp>
        <p:nvSpPr>
          <p:cNvPr id="4" name="TextBox 3"/>
          <p:cNvSpPr txBox="1"/>
          <p:nvPr/>
        </p:nvSpPr>
        <p:spPr>
          <a:xfrm>
            <a:off x="914400" y="841248"/>
            <a:ext cx="10515600" cy="365760"/>
          </a:xfrm>
          <a:prstGeom prst="rect">
            <a:avLst/>
          </a:prstGeom>
          <a:noFill/>
        </p:spPr>
        <p:txBody>
          <a:bodyPr wrap="square" tIns="0" bIns="0" lIns="0" rIns="0">
            <a:spAutoFit/>
          </a:bodyPr>
          <a:lstStyle/>
          <a:p>
            <a:pPr>
              <a:defRPr sz="1500" b="1">
                <a:solidFill>
                  <a:srgbClr val="E87722"/>
                </a:solidFill>
                <a:latin typeface="맑은 고딕"/>
              </a:defRPr>
            </a:pPr>
            <a:r>
              <a:t>성장세를 가속화하기 위한 핵심 분석 결과 및 하반기 전략 액션 제안</a:t>
            </a:r>
          </a:p>
        </p:txBody>
      </p:sp>
      <p:sp>
        <p:nvSpPr>
          <p:cNvPr id="5" name="Rectangle 4"/>
          <p:cNvSpPr/>
          <p:nvPr/>
        </p:nvSpPr>
        <p:spPr>
          <a:xfrm>
            <a:off x="731520" y="1280160"/>
            <a:ext cx="10698480" cy="9144"/>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7" name="TextBox 6"/>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8</a:t>
            </a:r>
          </a:p>
        </p:txBody>
      </p:sp>
      <p:sp>
        <p:nvSpPr>
          <p:cNvPr id="8" name="Rounded Rectangle 7"/>
          <p:cNvSpPr/>
          <p:nvPr/>
        </p:nvSpPr>
        <p:spPr>
          <a:xfrm>
            <a:off x="731520" y="1645920"/>
            <a:ext cx="10698480" cy="201168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10424160" cy="1737360"/>
          </a:xfrm>
          <a:prstGeom prst="rect">
            <a:avLst/>
          </a:prstGeom>
          <a:noFill/>
        </p:spPr>
        <p:txBody>
          <a:bodyPr wrap="square">
            <a:spAutoFit/>
          </a:bodyPr>
          <a:lstStyle/>
          <a:p>
            <a:pPr>
              <a:spcAft>
                <a:spcPts val="1200"/>
              </a:spcAft>
              <a:defRPr sz="1300" b="0">
                <a:solidFill>
                  <a:srgbClr val="2B5797"/>
                </a:solidFill>
                <a:latin typeface="맑은 고딕"/>
              </a:defRPr>
            </a:pPr>
            <a:r>
              <a:t>[핵심 발견 (Key Findings)]</a:t>
            </a:r>
          </a:p>
          <a:p>
            <a:pPr>
              <a:spcAft>
                <a:spcPts val="1200"/>
              </a:spcAft>
              <a:defRPr sz="1300" b="0">
                <a:solidFill>
                  <a:srgbClr val="2B5797"/>
                </a:solidFill>
                <a:latin typeface="맑은 고딕"/>
              </a:defRPr>
            </a:pPr>
            <a:r>
              <a:t>1. 상반기 총매출 28.4억 원(+12.3% YoY) 달성으로 전반적인 비즈니스 성장세 확인</a:t>
            </a:r>
          </a:p>
          <a:p>
            <a:pPr>
              <a:spcAft>
                <a:spcPts val="1200"/>
              </a:spcAft>
              <a:defRPr sz="1300" b="0">
                <a:solidFill>
                  <a:srgbClr val="2B5797"/>
                </a:solidFill>
                <a:latin typeface="맑은 고딕"/>
              </a:defRPr>
            </a:pPr>
            <a:r>
              <a:t>2. 프리미엄(44.2%)과 엔터프라이즈(39.1%) 제품군이 전체 성장의 중추적 역할 수행</a:t>
            </a:r>
          </a:p>
          <a:p>
            <a:pPr>
              <a:spcAft>
                <a:spcPts val="1200"/>
              </a:spcAft>
              <a:defRPr sz="1300" b="0">
                <a:solidFill>
                  <a:srgbClr val="2B5797"/>
                </a:solidFill>
                <a:latin typeface="맑은 고딕"/>
              </a:defRPr>
            </a:pPr>
            <a:r>
              <a:t>3. 수도권 편중(62.3%) 문제 및 3월 계절 비수기 매출 하락 제어를 위한 방안 마련 필요</a:t>
            </a:r>
          </a:p>
        </p:txBody>
      </p:sp>
      <p:sp>
        <p:nvSpPr>
          <p:cNvPr id="10" name="Rounded Rectangle 9"/>
          <p:cNvSpPr/>
          <p:nvPr/>
        </p:nvSpPr>
        <p:spPr>
          <a:xfrm>
            <a:off x="731520" y="3931920"/>
            <a:ext cx="10698480" cy="1828800"/>
          </a:xfrm>
          <a:prstGeom prst="roundRect">
            <a:avLst/>
          </a:prstGeom>
          <a:solidFill>
            <a:srgbClr val="F8F9FA"/>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69080"/>
            <a:ext cx="10424160" cy="1554480"/>
          </a:xfrm>
          <a:prstGeom prst="rect">
            <a:avLst/>
          </a:prstGeom>
          <a:noFill/>
        </p:spPr>
        <p:txBody>
          <a:bodyPr wrap="square">
            <a:spAutoFit/>
          </a:bodyPr>
          <a:lstStyle/>
          <a:p>
            <a:pPr>
              <a:spcAft>
                <a:spcPts val="1200"/>
              </a:spcAft>
              <a:defRPr sz="1300" b="0">
                <a:solidFill>
                  <a:srgbClr val="2B5797"/>
                </a:solidFill>
                <a:latin typeface="맑은 고딕"/>
              </a:defRPr>
            </a:pPr>
            <a:r>
              <a:t>[제안 및 다음 단계 (Proposals &amp; Next Steps)]</a:t>
            </a:r>
          </a:p>
          <a:p>
            <a:pPr>
              <a:spcAft>
                <a:spcPts val="1200"/>
              </a:spcAft>
              <a:defRPr sz="1300" b="0">
                <a:solidFill>
                  <a:srgbClr val="2B5797"/>
                </a:solidFill>
                <a:latin typeface="맑은 고딕"/>
              </a:defRPr>
            </a:pPr>
            <a:r>
              <a:t>1. 프리미엄 프로모션 유치 및 엔터프라이즈 분기별 세미나를 통한 기존 고객 리텐션 확보</a:t>
            </a:r>
          </a:p>
          <a:p>
            <a:pPr>
              <a:spcAft>
                <a:spcPts val="1200"/>
              </a:spcAft>
              <a:defRPr sz="1300" b="0">
                <a:solidFill>
                  <a:srgbClr val="2B5797"/>
                </a:solidFill>
                <a:latin typeface="맑은 고딕"/>
              </a:defRPr>
            </a:pPr>
            <a:r>
              <a:t>2. 호남·강원 지역 파트너 계약 및 입찰 활성화, 솔루션 마케팅 예산 20% 증액 편성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영업기획팀</a:t>
            </a:r>
          </a:p>
        </p:txBody>
      </p:sp>
      <p:sp>
        <p:nvSpPr>
          <p:cNvPr id="3" name="TextBox 2"/>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9</a:t>
            </a:r>
          </a:p>
        </p:txBody>
      </p:sp>
      <p:sp>
        <p:nvSpPr>
          <p:cNvPr id="4" name="TextBox 3"/>
          <p:cNvSpPr txBox="1"/>
          <p:nvPr/>
        </p:nvSpPr>
        <p:spPr>
          <a:xfrm>
            <a:off x="914400" y="2011680"/>
            <a:ext cx="10362895" cy="3200400"/>
          </a:xfrm>
          <a:prstGeom prst="rect">
            <a:avLst/>
          </a:prstGeom>
          <a:noFill/>
        </p:spPr>
        <p:txBody>
          <a:bodyPr wrap="square">
            <a:spAutoFit/>
          </a:bodyPr>
          <a:lstStyle/>
          <a:p>
            <a:pPr algn="ctr">
              <a:spcAft>
                <a:spcPts val="2400"/>
              </a:spcAft>
              <a:defRPr sz="4000" b="1">
                <a:solidFill>
                  <a:srgbClr val="2B5797"/>
                </a:solidFill>
                <a:latin typeface="맑은 고딕"/>
              </a:defRPr>
            </a:pPr>
            <a:r>
              <a:t>경청해 주셔서 감사합니다.</a:t>
            </a:r>
          </a:p>
          <a:p>
            <a:pPr algn="ctr">
              <a:spcAft>
                <a:spcPts val="2400"/>
              </a:spcAft>
              <a:defRPr sz="2000" b="1">
                <a:solidFill>
                  <a:srgbClr val="E87722"/>
                </a:solidFill>
                <a:latin typeface="맑은 고딕"/>
              </a:defRPr>
            </a:pPr>
            <a:r>
              <a:t>[ Q&amp;A 및 자유 토론 ]</a:t>
            </a:r>
          </a:p>
          <a:p>
            <a:pPr algn="ctr">
              <a:defRPr sz="1400">
                <a:solidFill>
                  <a:srgbClr val="2B5797"/>
                </a:solidFill>
                <a:latin typeface="맑은 고딕"/>
              </a:defRPr>
            </a:pPr>
            <a:r>
              <a:t>문의처: 영업기획팀 김민서 대리 (minseo.kim@company.com / 내선번호 342)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