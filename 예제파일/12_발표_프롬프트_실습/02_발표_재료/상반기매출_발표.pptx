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베이직</c:v>
                </c:pt>
              </c:strCache>
            </c:strRef>
          </c:tx>
          <c:marker>
            <c:symbol val="none"/>
          </c:marker>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0.3861</c:v>
                </c:pt>
                <c:pt idx="1">
                  <c:v>0.594</c:v>
                </c:pt>
                <c:pt idx="2">
                  <c:v>0.1485</c:v>
                </c:pt>
                <c:pt idx="3">
                  <c:v>0.5643</c:v>
                </c:pt>
                <c:pt idx="4">
                  <c:v>0.1485</c:v>
                </c:pt>
                <c:pt idx="5">
                  <c:v>0.5247</c:v>
                </c:pt>
              </c:numCache>
            </c:numRef>
          </c:val>
          <c:smooth val="0"/>
        </c:ser>
        <c:ser>
          <c:idx val="1"/>
          <c:order val="1"/>
          <c:tx>
            <c:strRef>
              <c:f>Sheet1!$C$1</c:f>
              <c:strCache>
                <c:ptCount val="1"/>
                <c:pt idx="0">
                  <c:v>프리미엄</c:v>
                </c:pt>
              </c:strCache>
            </c:strRef>
          </c:tx>
          <c:marker>
            <c:symbol val="none"/>
          </c:marker>
          <c:cat>
            <c:strRef>
              <c:f>Sheet1!$A$2:$A$7</c:f>
              <c:strCache>
                <c:ptCount val="6"/>
                <c:pt idx="0">
                  <c:v>1월</c:v>
                </c:pt>
                <c:pt idx="1">
                  <c:v>2월</c:v>
                </c:pt>
                <c:pt idx="2">
                  <c:v>3월</c:v>
                </c:pt>
                <c:pt idx="3">
                  <c:v>4월</c:v>
                </c:pt>
                <c:pt idx="4">
                  <c:v>5월</c:v>
                </c:pt>
                <c:pt idx="5">
                  <c:v>6월</c:v>
                </c:pt>
              </c:strCache>
            </c:strRef>
          </c:cat>
          <c:val>
            <c:numRef>
              <c:f>Sheet1!$C$2:$C$7</c:f>
              <c:numCache>
                <c:formatCode>General</c:formatCode>
                <c:ptCount val="6"/>
                <c:pt idx="0">
                  <c:v>1.188</c:v>
                </c:pt>
                <c:pt idx="1">
                  <c:v>1.6632</c:v>
                </c:pt>
                <c:pt idx="2">
                  <c:v>1.3365</c:v>
                </c:pt>
                <c:pt idx="3">
                  <c:v>0.594</c:v>
                </c:pt>
                <c:pt idx="4">
                  <c:v>1.188</c:v>
                </c:pt>
                <c:pt idx="5">
                  <c:v>1.1583</c:v>
                </c:pt>
              </c:numCache>
            </c:numRef>
          </c:val>
          <c:smooth val="0"/>
        </c:ser>
        <c:ser>
          <c:idx val="2"/>
          <c:order val="2"/>
          <c:tx>
            <c:strRef>
              <c:f>Sheet1!$D$1</c:f>
              <c:strCache>
                <c:ptCount val="1"/>
                <c:pt idx="0">
                  <c:v>엔터프라이즈</c:v>
                </c:pt>
              </c:strCache>
            </c:strRef>
          </c:tx>
          <c:marker>
            <c:symbol val="none"/>
          </c:marker>
          <c:cat>
            <c:strRef>
              <c:f>Sheet1!$A$2:$A$7</c:f>
              <c:strCache>
                <c:ptCount val="6"/>
                <c:pt idx="0">
                  <c:v>1월</c:v>
                </c:pt>
                <c:pt idx="1">
                  <c:v>2월</c:v>
                </c:pt>
                <c:pt idx="2">
                  <c:v>3월</c:v>
                </c:pt>
                <c:pt idx="3">
                  <c:v>4월</c:v>
                </c:pt>
                <c:pt idx="4">
                  <c:v>5월</c:v>
                </c:pt>
                <c:pt idx="5">
                  <c:v>6월</c:v>
                </c:pt>
              </c:strCache>
            </c:strRef>
          </c:cat>
          <c:val>
            <c:numRef>
              <c:f>Sheet1!$D$2:$D$7</c:f>
              <c:numCache>
                <c:formatCode>General</c:formatCode>
                <c:ptCount val="6"/>
                <c:pt idx="0">
                  <c:v>3.168</c:v>
                </c:pt>
                <c:pt idx="1">
                  <c:v>4.95</c:v>
                </c:pt>
                <c:pt idx="2">
                  <c:v>0.594</c:v>
                </c:pt>
                <c:pt idx="3">
                  <c:v>5.742</c:v>
                </c:pt>
                <c:pt idx="4">
                  <c:v>3.564</c:v>
                </c:pt>
                <c:pt idx="5">
                  <c:v>1.386</c:v>
                </c:pt>
              </c:numCache>
            </c:numRef>
          </c:val>
          <c:smooth val="0"/>
        </c:ser>
        <c:ser>
          <c:idx val="3"/>
          <c:order val="3"/>
          <c:tx>
            <c:strRef>
              <c:f>Sheet1!$E$1</c:f>
              <c:strCache>
                <c:ptCount val="1"/>
                <c:pt idx="0">
                  <c:v>월 합계 매출</c:v>
                </c:pt>
              </c:strCache>
            </c:strRef>
          </c:tx>
          <c:marker>
            <c:symbol val="none"/>
          </c:marker>
          <c:cat>
            <c:strRef>
              <c:f>Sheet1!$A$2:$A$7</c:f>
              <c:strCache>
                <c:ptCount val="6"/>
                <c:pt idx="0">
                  <c:v>1월</c:v>
                </c:pt>
                <c:pt idx="1">
                  <c:v>2월</c:v>
                </c:pt>
                <c:pt idx="2">
                  <c:v>3월</c:v>
                </c:pt>
                <c:pt idx="3">
                  <c:v>4월</c:v>
                </c:pt>
                <c:pt idx="4">
                  <c:v>5월</c:v>
                </c:pt>
                <c:pt idx="5">
                  <c:v>6월</c:v>
                </c:pt>
              </c:strCache>
            </c:strRef>
          </c:cat>
          <c:val>
            <c:numRef>
              <c:f>Sheet1!$E$2:$E$7</c:f>
              <c:numCache>
                <c:formatCode>General</c:formatCode>
                <c:ptCount val="6"/>
                <c:pt idx="0">
                  <c:v>4.742100000000001</c:v>
                </c:pt>
                <c:pt idx="1">
                  <c:v>7.2072</c:v>
                </c:pt>
                <c:pt idx="2">
                  <c:v>2.079</c:v>
                </c:pt>
                <c:pt idx="3">
                  <c:v>6.9003</c:v>
                </c:pt>
                <c:pt idx="4">
                  <c:v>4.9005</c:v>
                </c:pt>
                <c:pt idx="5">
                  <c:v>3.069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영업기획팀 김민서 대리입니다. 지금부터 2025년 상반기 매출 보고 요약 발표를 시작하도록 하겠습니다. 이번 발표는 지난 1월부터 6월까지의 상반기 영업 실적을 체계적으로 분석하여 핵심 성과와 이슈를 공유하고, 이를 극복하기 위한 하반기 전략 제안을 드리고자 준비했습니다. 그럼 다음 슬라이드로 이동해 목차부터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오늘 발표할 전체 흐름입니다. 발표는 전체 실적 요약을 시작으로, 제품군별 세부 매출 비중, 분기별 매출 추이, 그리고 지역별 매출 분포를 다루겠습니다. 이어서 상반기 활동을 총평하며 주요 성과와 극복 과제를 분석하고, 마지막으로 하반기 구체적인 전략 제안 순으로 진행하겠습니다. 그럼 첫 번째 순서인 전체 실적 요약부터 보고해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2025년 상반기 전체 실적의 핵심 요약입니다. 구체적으로 말씀드리면, 상반기 총매출은 28억 4,200만 원으로 전년 동기 대비 12.3% 큰 폭의 성장을 기록했습니다. 총 판매 건수 또한 1,847건으로 전년 동기 대비 8.7% 증가하며 성장세를 보였습니다. 월평균 매출은 4억 7,367만 원 수준입니다. 특히 주목할 만한 부분은 매출의 변동폭인데, 봄맞이 프로모션 효과를 톡톡히 본 4월이 6억 9,003만 원으로 최고 매출을 달성한 반면, 분기 전환기 비수기였던 3월은 2억 790만 원으로 최저 매출을 보였습니다. 이러한 극단적인 실적 차이는 비수기 매출 보완 전략의 필요성을 시사합니다. 그럼 다음 슬라이드에서는 이러한 실적을 견인한 제품군별 상세 데이터를 분석해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제품군별 매출 분포 및 성과 분석입니다. 구체적으로 말씀드리면, 매출 기여도가 가장 높은 제품군은 '프리미엄'으로, 12억 5,580만 원의 실적을 기록하며 전체 매출의 44.2%를 견인했습니다. 프리미엄은 기능 업그레이드 패키지의 인기에 힘입어 전년 동기 대비 18.6% 성장하였으며, 베이직에서 프리미엄으로의 업셀링 성공률도 23.4%로 높게 나타났습니다. 두 번째로 비중이 높은 '엔터프라이즈'는 11억 1,298만 원으로 전체의 39.1%를 차지했습니다. B2B 영업팀 확충 효과로 대형 신규 계약 3건을 수주했으며, 계약 갱신율도 91.2%로 업계 평균인 82%를 크게 상회했습니다. 마지막으로 '베이직'은 4억 7,322만 원으로 전체의 16.7%를 차지하였으며, 소규모 사업자 신규 유입 덕에 전년비 5.2% 성장하며 안정적인 기반 매출 역할을 수행하고 있습니다. 종합해 보면, 프리미엄과 엔터프라이즈가 전체 매출의 83% 이상을 책임지며 주 성장 동력 역할을 수행하고 있음을 알 수 있습니다. 그럼 이어서 상반기 월별 및 분기별 매출 흐름을 꺾은선 그래프로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월별 상세 매출 추이와 분기별 주요 변동 사유입니다. 구체적으로 말씀드리면, 1분기 총 매출은 12억 7,830만 원을 기록하여 전년 대비 9.1% 성장했습니다. 1월 명절 연휴 기간 중 일시적인 판매 하락이 있었으나 2월에 바로 회복되었습니다. 단, 3월은 계절적인 비수기가 맞물리면서 상반기 최저점인 2억 790만 원에 그쳤습니다. 반면 2분기는 15억 6,370만 원을 달성하며 전년 동기 대비 15.8%라는 높은 성장률을 나타냈습니다. 특히 4월에는 프리미엄/엔터프라이즈의 봄맞이 프로모션 성공으로 매출이 6억 9,003만 원까지 치솟았으며, 5월에는 대형 공공기관이 포함된 정부 디지털 전환 사업 수주가 발생하면서 실적을 굳건히 지탱했습니다. 이어서 다음 슬라이드에서는 지역별 매출의 상세 분포를 통해 영업 전략의 침투 수준을 점검하겠습니다.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상반기 지역별 매출 분포 현황과 주요 분석 내용입니다. 구체적으로 말씀드리면, 당사 매출의 62.3%인 15억 8,410만 원이 서울, 경기, 인천 등 수도권에 집중되어 있습니다. 이는 주요 기업 본사의 지리적 여건과 B2B 인프라가 수도권에 밀집되어 있는 데 기인합니다. 반면 영남권은 18.7%로 뒤를 잇고 있지만 충청권 9.4%, 호남권 6.2%, 강원 및 제주는 3.4% 수준으로 지방 지사의 매출 비중이 매우 저조합니다. 이처럼 수도권에 대한 매출 의존도가 극도로 높기 때문에, 당사가 하반기에 지속 성장하기 위해서는 호남과 강원 등 잠재력 대비 침투가 부진한 지방 시장의 파트너사 협력을 확대해야 합니다. 다음 슬라이드에서는 이러한 실적을 바탕으로 도출한 주요 성과와 극복해야 할 이슈를 정리해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상반기 주요 성과 및 우리가 안고 있는 극복 과제입니다. 구체적으로 말씀드리면, 성과 부문에서는 마케팅과 영업의 호조로 신규 유치 목표 대비 108%인 302건을 달성했고, 지속적인 품질 개선과 적극적 지원을 통해 고객 만족 지수 NPS가 전년 대비 7점이나 향상된 72점을 마크했습니다. 또한 향후 연간 5억 원 규모의 계약 가치가 예상되는 엔터프라이즈 3개사 신규 수주와 업셀링 캠페인의 높은 ROI 역시 고무적입니다. 하지만 극복해야 할 이슈 또한 뚜렷합니다. 1분기 전환기인 3월 비수기의 영업 공백 관리 체계 부재로 매출이 급감했으며, 베이직 요금제 고객의 평균 단가가 하락세에 있어 번들 부가 서비스 발굴이 시급합니다. 아울러 앞서 보신 것처럼 호남과 강원 지역 침투율이 여전히 저조해 전국구 확장성에 애로가 있습니다. 이러한 분석을 토대로 마련한 하반기 핵심 액션 제안을 보고드리겠습니다.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매출 극대화와 지역 확장을 위한 네 가지 핵심 전략 제안입니다. 구체적으로 말씀드리면, 첫째, 프리미엄의 성장 모멘텀을 연장하기 위해 7-8월 휴가철 패키지와 조기 갱신 10% 할인을 유도하고 9월 추석 특수 기업 패키지를 기획하겠습니다. 둘째, 엔터프라이즈의 안정성을 높이기 위해 기존 대형 고객사 갱신율 95% 달성을 목표로 분기별 전용 세미나를 정례화하고 신규 파이프라인 2건 이상을 연내 완결 짓겠습니다. 셋째, 침투가 저조한 호남과 강원 지역에 거점 파트너사 3곳 이상을 확보하여 지방 중소기업 및 공공 조달 입찰 참여 기회를 확대하겠습니다. 넷째, 효과적인 리드 발굴을 위해 디지털 마케팅 예산을 20% 증액하여 주 1회 온라인 라이브 데모 세션을 대대적으로 가동하겠습니다. 이러한 전략들이 완벽히 수행된다면 하반기 목표 실적 또한 초과 달성할 것으로 보입니다. 그럼 발표를 마무리하도록 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2025년 상반기 매출 보고 요약 발표를 마치겠습니다. 오늘 공유드린 성과와 추진 과제, 그리고 하반기 네 가지 실행안에 대해 의문사항이나 추가 조언이 있으시다면 편안하게 말씀해 주시기 바랍니다. 성심껏 답변해 드리도록 하겠습니다. 경청해 주셔서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32720" cy="1371600"/>
          </a:xfrm>
          <a:prstGeom prst="rect">
            <a:avLst/>
          </a:prstGeom>
          <a:noFill/>
        </p:spPr>
        <p:txBody>
          <a:bodyPr wrap="square">
            <a:spAutoFit/>
          </a:bodyPr>
          <a:lstStyle/>
          <a:p>
            <a:pPr algn="l">
              <a:defRPr sz="4000" b="1">
                <a:solidFill>
                  <a:srgbClr val="FFFFFF"/>
                </a:solidFill>
                <a:latin typeface="맑은 고딕"/>
              </a:defRPr>
            </a:pPr>
            <a:r>
              <a:t>2025년 상반기 매출 보고 요약</a:t>
            </a:r>
          </a:p>
        </p:txBody>
      </p:sp>
      <p:sp>
        <p:nvSpPr>
          <p:cNvPr id="5" name="TextBox 4"/>
          <p:cNvSpPr txBox="1"/>
          <p:nvPr/>
        </p:nvSpPr>
        <p:spPr>
          <a:xfrm>
            <a:off x="914400" y="3200400"/>
            <a:ext cx="10332720" cy="914400"/>
          </a:xfrm>
          <a:prstGeom prst="rect">
            <a:avLst/>
          </a:prstGeom>
          <a:noFill/>
        </p:spPr>
        <p:txBody>
          <a:bodyPr wrap="none">
            <a:spAutoFit/>
          </a:bodyPr>
          <a:lstStyle/>
          <a:p>
            <a:pPr algn="l">
              <a:defRPr sz="1800" b="0">
                <a:solidFill>
                  <a:srgbClr val="D2E1FA"/>
                </a:solidFill>
                <a:latin typeface="맑은 고딕"/>
              </a:defRPr>
            </a:pPr>
            <a:r>
              <a:t>보고 기간: 2025년 1월 ~ 6월  |  보고 대상: 경영지원본부장</a:t>
            </a:r>
          </a:p>
        </p:txBody>
      </p:sp>
      <p:sp>
        <p:nvSpPr>
          <p:cNvPr id="6" name="TextBox 5"/>
          <p:cNvSpPr txBox="1"/>
          <p:nvPr/>
        </p:nvSpPr>
        <p:spPr>
          <a:xfrm>
            <a:off x="914400" y="4572000"/>
            <a:ext cx="10332720" cy="914400"/>
          </a:xfrm>
          <a:prstGeom prst="rect">
            <a:avLst/>
          </a:prstGeom>
          <a:noFill/>
        </p:spPr>
        <p:txBody>
          <a:bodyPr wrap="none">
            <a:spAutoFit/>
          </a:bodyPr>
          <a:lstStyle/>
          <a:p>
            <a:pPr algn="l">
              <a:lnSpc>
                <a:spcPct val="130000"/>
              </a:lnSpc>
              <a:defRPr sz="1400" b="0">
                <a:solidFill>
                  <a:srgbClr val="E6F0FF"/>
                </a:solidFill>
                <a:latin typeface="맑은 고딕"/>
              </a:defRPr>
            </a:pPr>
            <a:r>
              <a:t>작성부서 : 영업기획팀</a:t>
            </a:r>
            <a:br/>
            <a:r>
              <a:t>작 성 자 : 김민서 대리</a:t>
            </a:r>
            <a:br/>
            <a:r>
              <a:t>작 성 일 : 2025년 7월 5일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목차</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상반기 실적 분석부터 하반기 핵심 전략 제안까지의 진행 흐름입니다.</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128016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828800"/>
            <a:ext cx="731520" cy="731520"/>
          </a:xfrm>
          <a:prstGeom prst="round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B5797"/>
                </a:solidFill>
                <a:latin typeface="맑은 고딕"/>
              </a:defRPr>
            </a:pPr>
            <a:r>
              <a:t>01</a:t>
            </a:r>
          </a:p>
        </p:txBody>
      </p:sp>
      <p:sp>
        <p:nvSpPr>
          <p:cNvPr id="8" name="TextBox 7"/>
          <p:cNvSpPr txBox="1"/>
          <p:nvPr/>
        </p:nvSpPr>
        <p:spPr>
          <a:xfrm>
            <a:off x="1828800" y="1783080"/>
            <a:ext cx="3840480" cy="914400"/>
          </a:xfrm>
          <a:prstGeom prst="rect">
            <a:avLst/>
          </a:prstGeom>
          <a:noFill/>
        </p:spPr>
        <p:txBody>
          <a:bodyPr wrap="square">
            <a:spAutoFit/>
          </a:bodyPr>
          <a:lstStyle/>
          <a:p>
            <a:pPr algn="l">
              <a:defRPr sz="1600" b="1">
                <a:solidFill>
                  <a:srgbClr val="212529"/>
                </a:solidFill>
                <a:latin typeface="맑은 고딕"/>
              </a:defRPr>
            </a:pPr>
            <a:r>
              <a:t>전체 실적 요약</a:t>
            </a:r>
          </a:p>
          <a:p>
            <a:pPr algn="l">
              <a:defRPr sz="1200" b="0">
                <a:solidFill>
                  <a:srgbClr val="6C757D"/>
                </a:solidFill>
                <a:latin typeface="맑은 고딕"/>
              </a:defRPr>
            </a:pPr>
            <a:r>
              <a:t>상반기 매출/판매건수 등 총괄 실적 종합</a:t>
            </a:r>
          </a:p>
        </p:txBody>
      </p:sp>
      <p:sp>
        <p:nvSpPr>
          <p:cNvPr id="9" name="Rounded Rectangle 8"/>
          <p:cNvSpPr/>
          <p:nvPr/>
        </p:nvSpPr>
        <p:spPr>
          <a:xfrm>
            <a:off x="6309360" y="1645920"/>
            <a:ext cx="5120640" cy="128016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828800"/>
            <a:ext cx="731520" cy="731520"/>
          </a:xfrm>
          <a:prstGeom prst="round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B5797"/>
                </a:solidFill>
                <a:latin typeface="맑은 고딕"/>
              </a:defRPr>
            </a:pPr>
            <a:r>
              <a:t>02</a:t>
            </a:r>
          </a:p>
        </p:txBody>
      </p:sp>
      <p:sp>
        <p:nvSpPr>
          <p:cNvPr id="11" name="TextBox 10"/>
          <p:cNvSpPr txBox="1"/>
          <p:nvPr/>
        </p:nvSpPr>
        <p:spPr>
          <a:xfrm>
            <a:off x="7406640" y="1783080"/>
            <a:ext cx="3840480" cy="914400"/>
          </a:xfrm>
          <a:prstGeom prst="rect">
            <a:avLst/>
          </a:prstGeom>
          <a:noFill/>
        </p:spPr>
        <p:txBody>
          <a:bodyPr wrap="square">
            <a:spAutoFit/>
          </a:bodyPr>
          <a:lstStyle/>
          <a:p>
            <a:pPr algn="l">
              <a:defRPr sz="1600" b="1">
                <a:solidFill>
                  <a:srgbClr val="212529"/>
                </a:solidFill>
                <a:latin typeface="맑은 고딕"/>
              </a:defRPr>
            </a:pPr>
            <a:r>
              <a:t>제품별 분석</a:t>
            </a:r>
          </a:p>
          <a:p>
            <a:pPr algn="l">
              <a:defRPr sz="1200" b="0">
                <a:solidFill>
                  <a:srgbClr val="6C757D"/>
                </a:solidFill>
                <a:latin typeface="맑은 고딕"/>
              </a:defRPr>
            </a:pPr>
            <a:r>
              <a:t>베이직, 프리미엄, 엔터프라이즈별 실적 분석</a:t>
            </a:r>
          </a:p>
        </p:txBody>
      </p:sp>
      <p:sp>
        <p:nvSpPr>
          <p:cNvPr id="12" name="Rounded Rectangle 11"/>
          <p:cNvSpPr/>
          <p:nvPr/>
        </p:nvSpPr>
        <p:spPr>
          <a:xfrm>
            <a:off x="731520" y="3200400"/>
            <a:ext cx="5120640" cy="128016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383280"/>
            <a:ext cx="731520" cy="731520"/>
          </a:xfrm>
          <a:prstGeom prst="round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B5797"/>
                </a:solidFill>
                <a:latin typeface="맑은 고딕"/>
              </a:defRPr>
            </a:pPr>
            <a:r>
              <a:t>03</a:t>
            </a:r>
          </a:p>
        </p:txBody>
      </p:sp>
      <p:sp>
        <p:nvSpPr>
          <p:cNvPr id="14" name="TextBox 13"/>
          <p:cNvSpPr txBox="1"/>
          <p:nvPr/>
        </p:nvSpPr>
        <p:spPr>
          <a:xfrm>
            <a:off x="1828800" y="3337560"/>
            <a:ext cx="3840480" cy="914400"/>
          </a:xfrm>
          <a:prstGeom prst="rect">
            <a:avLst/>
          </a:prstGeom>
          <a:noFill/>
        </p:spPr>
        <p:txBody>
          <a:bodyPr wrap="square">
            <a:spAutoFit/>
          </a:bodyPr>
          <a:lstStyle/>
          <a:p>
            <a:pPr algn="l">
              <a:defRPr sz="1600" b="1">
                <a:solidFill>
                  <a:srgbClr val="212529"/>
                </a:solidFill>
                <a:latin typeface="맑은 고딕"/>
              </a:defRPr>
            </a:pPr>
            <a:r>
              <a:t>분기별 매출 추이</a:t>
            </a:r>
          </a:p>
          <a:p>
            <a:pPr algn="l">
              <a:defRPr sz="1200" b="0">
                <a:solidFill>
                  <a:srgbClr val="6C757D"/>
                </a:solidFill>
                <a:latin typeface="맑은 고딕"/>
              </a:defRPr>
            </a:pPr>
            <a:r>
              <a:t>1분기 대비 2분기 주요 성장 요인 진단</a:t>
            </a:r>
          </a:p>
        </p:txBody>
      </p:sp>
      <p:sp>
        <p:nvSpPr>
          <p:cNvPr id="15" name="Rounded Rectangle 14"/>
          <p:cNvSpPr/>
          <p:nvPr/>
        </p:nvSpPr>
        <p:spPr>
          <a:xfrm>
            <a:off x="6309360" y="3200400"/>
            <a:ext cx="5120640" cy="128016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3383280"/>
            <a:ext cx="731520" cy="731520"/>
          </a:xfrm>
          <a:prstGeom prst="round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B5797"/>
                </a:solidFill>
                <a:latin typeface="맑은 고딕"/>
              </a:defRPr>
            </a:pPr>
            <a:r>
              <a:t>04</a:t>
            </a:r>
          </a:p>
        </p:txBody>
      </p:sp>
      <p:sp>
        <p:nvSpPr>
          <p:cNvPr id="17" name="TextBox 16"/>
          <p:cNvSpPr txBox="1"/>
          <p:nvPr/>
        </p:nvSpPr>
        <p:spPr>
          <a:xfrm>
            <a:off x="7406640" y="3337560"/>
            <a:ext cx="3840480" cy="914400"/>
          </a:xfrm>
          <a:prstGeom prst="rect">
            <a:avLst/>
          </a:prstGeom>
          <a:noFill/>
        </p:spPr>
        <p:txBody>
          <a:bodyPr wrap="square">
            <a:spAutoFit/>
          </a:bodyPr>
          <a:lstStyle/>
          <a:p>
            <a:pPr algn="l">
              <a:defRPr sz="1600" b="1">
                <a:solidFill>
                  <a:srgbClr val="212529"/>
                </a:solidFill>
                <a:latin typeface="맑은 고딕"/>
              </a:defRPr>
            </a:pPr>
            <a:r>
              <a:t>지역별 매출 분포</a:t>
            </a:r>
          </a:p>
          <a:p>
            <a:pPr algn="l">
              <a:defRPr sz="1200" b="0">
                <a:solidFill>
                  <a:srgbClr val="6C757D"/>
                </a:solidFill>
                <a:latin typeface="맑은 고딕"/>
              </a:defRPr>
            </a:pPr>
            <a:r>
              <a:t>수도권 편중 현상 및 지역별 실적 요약</a:t>
            </a:r>
          </a:p>
        </p:txBody>
      </p:sp>
      <p:sp>
        <p:nvSpPr>
          <p:cNvPr id="18" name="Rounded Rectangle 17"/>
          <p:cNvSpPr/>
          <p:nvPr/>
        </p:nvSpPr>
        <p:spPr>
          <a:xfrm>
            <a:off x="731520" y="4754880"/>
            <a:ext cx="5120640" cy="128016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4937760"/>
            <a:ext cx="731520" cy="731520"/>
          </a:xfrm>
          <a:prstGeom prst="round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B5797"/>
                </a:solidFill>
                <a:latin typeface="맑은 고딕"/>
              </a:defRPr>
            </a:pPr>
            <a:r>
              <a:t>05</a:t>
            </a:r>
          </a:p>
        </p:txBody>
      </p:sp>
      <p:sp>
        <p:nvSpPr>
          <p:cNvPr id="20" name="TextBox 19"/>
          <p:cNvSpPr txBox="1"/>
          <p:nvPr/>
        </p:nvSpPr>
        <p:spPr>
          <a:xfrm>
            <a:off x="1828800" y="4892040"/>
            <a:ext cx="3840480" cy="914400"/>
          </a:xfrm>
          <a:prstGeom prst="rect">
            <a:avLst/>
          </a:prstGeom>
          <a:noFill/>
        </p:spPr>
        <p:txBody>
          <a:bodyPr wrap="square">
            <a:spAutoFit/>
          </a:bodyPr>
          <a:lstStyle/>
          <a:p>
            <a:pPr algn="l">
              <a:defRPr sz="1600" b="1">
                <a:solidFill>
                  <a:srgbClr val="212529"/>
                </a:solidFill>
                <a:latin typeface="맑은 고딕"/>
              </a:defRPr>
            </a:pPr>
            <a:r>
              <a:t>주요 성과 및 이슈</a:t>
            </a:r>
          </a:p>
          <a:p>
            <a:pPr algn="l">
              <a:defRPr sz="1200" b="0">
                <a:solidFill>
                  <a:srgbClr val="6C757D"/>
                </a:solidFill>
                <a:latin typeface="맑은 고딕"/>
              </a:defRPr>
            </a:pPr>
            <a:r>
              <a:t>신규 유치 목표 달성과 비수기 공백 등 진단</a:t>
            </a:r>
          </a:p>
        </p:txBody>
      </p:sp>
      <p:sp>
        <p:nvSpPr>
          <p:cNvPr id="21" name="Rounded Rectangle 20"/>
          <p:cNvSpPr/>
          <p:nvPr/>
        </p:nvSpPr>
        <p:spPr>
          <a:xfrm>
            <a:off x="6309360" y="4754880"/>
            <a:ext cx="5120640" cy="128016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4937760"/>
            <a:ext cx="731520" cy="731520"/>
          </a:xfrm>
          <a:prstGeom prst="round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B5797"/>
                </a:solidFill>
                <a:latin typeface="맑은 고딕"/>
              </a:defRPr>
            </a:pPr>
            <a:r>
              <a:t>06</a:t>
            </a:r>
          </a:p>
        </p:txBody>
      </p:sp>
      <p:sp>
        <p:nvSpPr>
          <p:cNvPr id="23" name="TextBox 22"/>
          <p:cNvSpPr txBox="1"/>
          <p:nvPr/>
        </p:nvSpPr>
        <p:spPr>
          <a:xfrm>
            <a:off x="7406640" y="4892040"/>
            <a:ext cx="3840480" cy="914400"/>
          </a:xfrm>
          <a:prstGeom prst="rect">
            <a:avLst/>
          </a:prstGeom>
          <a:noFill/>
        </p:spPr>
        <p:txBody>
          <a:bodyPr wrap="square">
            <a:spAutoFit/>
          </a:bodyPr>
          <a:lstStyle/>
          <a:p>
            <a:pPr algn="l">
              <a:defRPr sz="1600" b="1">
                <a:solidFill>
                  <a:srgbClr val="212529"/>
                </a:solidFill>
                <a:latin typeface="맑은 고딕"/>
              </a:defRPr>
            </a:pPr>
            <a:r>
              <a:t>하반기 전략 제안</a:t>
            </a:r>
          </a:p>
          <a:p>
            <a:pPr algn="l">
              <a:defRPr sz="1200" b="0">
                <a:solidFill>
                  <a:srgbClr val="6C757D"/>
                </a:solidFill>
                <a:latin typeface="맑은 고딕"/>
              </a:defRPr>
            </a:pPr>
            <a:r>
              <a:t>성장세를 이어가기 위한 4대 액션 플랜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1. 전체 실적 요약</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상반기 총매출 28억 4,200만 원 달성, 전년 동기 대비 +12.3% 성장 기록</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46888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731520"/>
          </a:xfrm>
          <a:prstGeom prst="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B5797"/>
                </a:solidFill>
                <a:latin typeface="맑은 고딕"/>
              </a:defRPr>
            </a:pPr>
            <a:r>
              <a:t>상반기 총매출</a:t>
            </a:r>
          </a:p>
        </p:txBody>
      </p:sp>
      <p:sp>
        <p:nvSpPr>
          <p:cNvPr id="8" name="TextBox 7"/>
          <p:cNvSpPr txBox="1"/>
          <p:nvPr/>
        </p:nvSpPr>
        <p:spPr>
          <a:xfrm>
            <a:off x="822960" y="2651760"/>
            <a:ext cx="2286000" cy="2743200"/>
          </a:xfrm>
          <a:prstGeom prst="rect">
            <a:avLst/>
          </a:prstGeom>
          <a:noFill/>
        </p:spPr>
        <p:txBody>
          <a:bodyPr wrap="square">
            <a:spAutoFit/>
          </a:bodyPr>
          <a:lstStyle/>
          <a:p>
            <a:pPr algn="ctr">
              <a:spcAft>
                <a:spcPts val="2000"/>
              </a:spcAft>
              <a:defRPr sz="2400" b="1">
                <a:solidFill>
                  <a:srgbClr val="2B5797"/>
                </a:solidFill>
                <a:latin typeface="맑은 고딕"/>
              </a:defRPr>
            </a:pPr>
            <a:r>
              <a:t>28억 4,200만 원</a:t>
            </a:r>
          </a:p>
          <a:p>
            <a:pPr algn="ctr">
              <a:defRPr sz="1300" b="0">
                <a:solidFill>
                  <a:srgbClr val="6C757D"/>
                </a:solidFill>
                <a:latin typeface="맑은 고딕"/>
              </a:defRPr>
            </a:pPr>
            <a:r>
              <a:t>전년 동기 대비 +12.3%</a:t>
            </a:r>
          </a:p>
        </p:txBody>
      </p:sp>
      <p:sp>
        <p:nvSpPr>
          <p:cNvPr id="9" name="Rounded Rectangle 8"/>
          <p:cNvSpPr/>
          <p:nvPr/>
        </p:nvSpPr>
        <p:spPr>
          <a:xfrm>
            <a:off x="3474720" y="1645920"/>
            <a:ext cx="246888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645920"/>
            <a:ext cx="2468880" cy="731520"/>
          </a:xfrm>
          <a:prstGeom prst="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B5797"/>
                </a:solidFill>
                <a:latin typeface="맑은 고딕"/>
              </a:defRPr>
            </a:pPr>
            <a:r>
              <a:t>총 판매 건수</a:t>
            </a:r>
          </a:p>
        </p:txBody>
      </p:sp>
      <p:sp>
        <p:nvSpPr>
          <p:cNvPr id="11" name="TextBox 10"/>
          <p:cNvSpPr txBox="1"/>
          <p:nvPr/>
        </p:nvSpPr>
        <p:spPr>
          <a:xfrm>
            <a:off x="3566160" y="2651760"/>
            <a:ext cx="2286000" cy="2743200"/>
          </a:xfrm>
          <a:prstGeom prst="rect">
            <a:avLst/>
          </a:prstGeom>
          <a:noFill/>
        </p:spPr>
        <p:txBody>
          <a:bodyPr wrap="square">
            <a:spAutoFit/>
          </a:bodyPr>
          <a:lstStyle/>
          <a:p>
            <a:pPr algn="ctr">
              <a:spcAft>
                <a:spcPts val="2000"/>
              </a:spcAft>
              <a:defRPr sz="2400" b="1">
                <a:solidFill>
                  <a:srgbClr val="2B5797"/>
                </a:solidFill>
                <a:latin typeface="맑은 고딕"/>
              </a:defRPr>
            </a:pPr>
            <a:r>
              <a:t>1,847 건</a:t>
            </a:r>
          </a:p>
          <a:p>
            <a:pPr algn="ctr">
              <a:defRPr sz="1300" b="0">
                <a:solidFill>
                  <a:srgbClr val="6C757D"/>
                </a:solidFill>
                <a:latin typeface="맑은 고딕"/>
              </a:defRPr>
            </a:pPr>
            <a:r>
              <a:t>전년 동기 대비 +8.7%</a:t>
            </a:r>
          </a:p>
        </p:txBody>
      </p:sp>
      <p:sp>
        <p:nvSpPr>
          <p:cNvPr id="12" name="Rounded Rectangle 11"/>
          <p:cNvSpPr/>
          <p:nvPr/>
        </p:nvSpPr>
        <p:spPr>
          <a:xfrm>
            <a:off x="6217920" y="1645920"/>
            <a:ext cx="246888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468880" cy="731520"/>
          </a:xfrm>
          <a:prstGeom prst="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B5797"/>
                </a:solidFill>
                <a:latin typeface="맑은 고딕"/>
              </a:defRPr>
            </a:pPr>
            <a:r>
              <a:t>월평균 매출</a:t>
            </a:r>
          </a:p>
        </p:txBody>
      </p:sp>
      <p:sp>
        <p:nvSpPr>
          <p:cNvPr id="14" name="TextBox 13"/>
          <p:cNvSpPr txBox="1"/>
          <p:nvPr/>
        </p:nvSpPr>
        <p:spPr>
          <a:xfrm>
            <a:off x="6309360" y="2651760"/>
            <a:ext cx="2286000" cy="2743200"/>
          </a:xfrm>
          <a:prstGeom prst="rect">
            <a:avLst/>
          </a:prstGeom>
          <a:noFill/>
        </p:spPr>
        <p:txBody>
          <a:bodyPr wrap="square">
            <a:spAutoFit/>
          </a:bodyPr>
          <a:lstStyle/>
          <a:p>
            <a:pPr algn="ctr">
              <a:spcAft>
                <a:spcPts val="2000"/>
              </a:spcAft>
              <a:defRPr sz="2400" b="1">
                <a:solidFill>
                  <a:srgbClr val="212529"/>
                </a:solidFill>
                <a:latin typeface="맑은 고딕"/>
              </a:defRPr>
            </a:pPr>
            <a:r>
              <a:t>4억 7,367만 원</a:t>
            </a:r>
          </a:p>
          <a:p>
            <a:pPr algn="ctr">
              <a:defRPr sz="1300" b="0">
                <a:solidFill>
                  <a:srgbClr val="6C757D"/>
                </a:solidFill>
                <a:latin typeface="맑은 고딕"/>
              </a:defRPr>
            </a:pPr>
            <a:r>
              <a:t>상반기 평균 실적</a:t>
            </a:r>
          </a:p>
        </p:txBody>
      </p:sp>
      <p:sp>
        <p:nvSpPr>
          <p:cNvPr id="15" name="Rounded Rectangle 14"/>
          <p:cNvSpPr/>
          <p:nvPr/>
        </p:nvSpPr>
        <p:spPr>
          <a:xfrm>
            <a:off x="8961120" y="1645920"/>
            <a:ext cx="246888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0" y="1645920"/>
            <a:ext cx="2468880" cy="731520"/>
          </a:xfrm>
          <a:prstGeom prst="rect">
            <a:avLst/>
          </a:prstGeom>
          <a:solidFill>
            <a:srgbClr val="FE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E87722"/>
                </a:solidFill>
                <a:latin typeface="맑은 고딕"/>
              </a:defRPr>
            </a:pPr>
            <a:r>
              <a:t>매출 극단값</a:t>
            </a:r>
          </a:p>
        </p:txBody>
      </p:sp>
      <p:sp>
        <p:nvSpPr>
          <p:cNvPr id="17" name="TextBox 16"/>
          <p:cNvSpPr txBox="1"/>
          <p:nvPr/>
        </p:nvSpPr>
        <p:spPr>
          <a:xfrm>
            <a:off x="9052560" y="2651760"/>
            <a:ext cx="2286000" cy="2743200"/>
          </a:xfrm>
          <a:prstGeom prst="rect">
            <a:avLst/>
          </a:prstGeom>
          <a:noFill/>
        </p:spPr>
        <p:txBody>
          <a:bodyPr wrap="square">
            <a:spAutoFit/>
          </a:bodyPr>
          <a:lstStyle/>
          <a:p>
            <a:pPr algn="ctr">
              <a:spcAft>
                <a:spcPts val="2000"/>
              </a:spcAft>
              <a:defRPr sz="2400" b="1">
                <a:solidFill>
                  <a:srgbClr val="E87722"/>
                </a:solidFill>
                <a:latin typeface="맑은 고딕"/>
              </a:defRPr>
            </a:pPr>
            <a:r>
              <a:t>최고 4월 / 최저 3월</a:t>
            </a:r>
          </a:p>
          <a:p>
            <a:pPr algn="ctr">
              <a:defRPr sz="1300" b="0">
                <a:solidFill>
                  <a:srgbClr val="6C757D"/>
                </a:solidFill>
                <a:latin typeface="맑은 고딕"/>
              </a:defRPr>
            </a:pPr>
            <a:r>
              <a:t>4월: 6.9억 / 3월: 2.08억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2. 제품별 분석</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프리미엄(44.2%)과 엔터프라이즈(39.1%)가 상반기 매출 성장의 주도적 역할 수행</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3749040"/>
          </a:xfrm>
          <a:prstGeom prst="rect">
            <a:avLst/>
          </a:prstGeom>
          <a:noFill/>
        </p:spPr>
        <p:txBody>
          <a:bodyPr wrap="square">
            <a:spAutoFit/>
          </a:bodyPr>
          <a:lstStyle/>
          <a:p>
            <a:pPr algn="l">
              <a:spcAft>
                <a:spcPts val="1000"/>
              </a:spcAft>
              <a:defRPr sz="2000" b="1">
                <a:solidFill>
                  <a:srgbClr val="6C757D"/>
                </a:solidFill>
                <a:latin typeface="맑은 고딕"/>
              </a:defRPr>
            </a:pPr>
            <a:r>
              <a:t>베이직 (Basic)</a:t>
            </a:r>
          </a:p>
          <a:p>
            <a:pPr algn="l">
              <a:spcAft>
                <a:spcPts val="2000"/>
              </a:spcAft>
              <a:defRPr sz="2200" b="1">
                <a:solidFill>
                  <a:srgbClr val="212529"/>
                </a:solidFill>
                <a:latin typeface="맑은 고딕"/>
              </a:defRPr>
            </a:pPr>
            <a:r>
              <a:t>4억 7,322만 원 (16.7%)</a:t>
            </a:r>
          </a:p>
          <a:p>
            <a:pPr algn="l">
              <a:spcAft>
                <a:spcPts val="1500"/>
              </a:spcAft>
              <a:defRPr sz="1000" b="0">
                <a:solidFill>
                  <a:srgbClr val="C8CDD2"/>
                </a:solidFill>
                <a:latin typeface="맑은 고딕"/>
              </a:defRPr>
            </a:pPr>
            <a:r>
              <a:t>──────────────────</a:t>
            </a:r>
          </a:p>
          <a:p>
            <a:pPr algn="l">
              <a:spcAft>
                <a:spcPts val="800"/>
              </a:spcAft>
              <a:defRPr sz="1300" b="0">
                <a:solidFill>
                  <a:srgbClr val="212529"/>
                </a:solidFill>
                <a:latin typeface="맑은 고딕"/>
              </a:defRPr>
            </a:pPr>
            <a:r>
              <a:t>· 안정적인 기반 매출 유지</a:t>
            </a:r>
          </a:p>
          <a:p>
            <a:pPr algn="l">
              <a:spcAft>
                <a:spcPts val="800"/>
              </a:spcAft>
              <a:defRPr sz="1300" b="0">
                <a:solidFill>
                  <a:srgbClr val="212529"/>
                </a:solidFill>
                <a:latin typeface="맑은 고딕"/>
              </a:defRPr>
            </a:pPr>
            <a:r>
              <a:t>· 소규모 사업자 신규 유입 증가</a:t>
            </a:r>
          </a:p>
          <a:p>
            <a:pPr algn="l">
              <a:spcAft>
                <a:spcPts val="800"/>
              </a:spcAft>
              <a:defRPr sz="1300" b="0">
                <a:solidFill>
                  <a:srgbClr val="212529"/>
                </a:solidFill>
                <a:latin typeface="맑은 고딕"/>
              </a:defRPr>
            </a:pPr>
            <a:r>
              <a:t>· 전년 대비: +5.2% 성장</a:t>
            </a:r>
          </a:p>
          <a:p>
            <a:pPr algn="l">
              <a:spcAft>
                <a:spcPts val="800"/>
              </a:spcAft>
              <a:defRPr sz="1300" b="0">
                <a:solidFill>
                  <a:srgbClr val="212529"/>
                </a:solidFill>
                <a:latin typeface="맑은 고딕"/>
              </a:defRPr>
            </a:pPr>
            <a:r>
              <a:t>· 이탈률: 4.2% (전년 5.8% 대비 개선)</a:t>
            </a:r>
          </a:p>
        </p:txBody>
      </p:sp>
      <p:sp>
        <p:nvSpPr>
          <p:cNvPr id="8" name="Rounded Rectangle 7"/>
          <p:cNvSpPr/>
          <p:nvPr/>
        </p:nvSpPr>
        <p:spPr>
          <a:xfrm>
            <a:off x="4389120" y="1645920"/>
            <a:ext cx="3383280" cy="4114800"/>
          </a:xfrm>
          <a:prstGeom prst="roundRect">
            <a:avLst/>
          </a:prstGeom>
          <a:solidFill>
            <a:srgbClr val="FEF3EB"/>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3749040"/>
          </a:xfrm>
          <a:prstGeom prst="rect">
            <a:avLst/>
          </a:prstGeom>
          <a:noFill/>
        </p:spPr>
        <p:txBody>
          <a:bodyPr wrap="square">
            <a:spAutoFit/>
          </a:bodyPr>
          <a:lstStyle/>
          <a:p>
            <a:pPr algn="l">
              <a:spcAft>
                <a:spcPts val="1000"/>
              </a:spcAft>
              <a:defRPr sz="2000" b="1">
                <a:solidFill>
                  <a:srgbClr val="E87722"/>
                </a:solidFill>
                <a:latin typeface="맑은 고딕"/>
              </a:defRPr>
            </a:pPr>
            <a:r>
              <a:t>프리미엄 (Premium)</a:t>
            </a:r>
          </a:p>
          <a:p>
            <a:pPr algn="l">
              <a:spcAft>
                <a:spcPts val="2000"/>
              </a:spcAft>
              <a:defRPr sz="2200" b="1">
                <a:solidFill>
                  <a:srgbClr val="212529"/>
                </a:solidFill>
                <a:latin typeface="맑은 고딕"/>
              </a:defRPr>
            </a:pPr>
            <a:r>
              <a:t>12억 5,580만 원 (44.2%)</a:t>
            </a:r>
          </a:p>
          <a:p>
            <a:pPr algn="l">
              <a:spcAft>
                <a:spcPts val="1500"/>
              </a:spcAft>
              <a:defRPr sz="1000" b="0">
                <a:solidFill>
                  <a:srgbClr val="C8CDD2"/>
                </a:solidFill>
                <a:latin typeface="맑은 고딕"/>
              </a:defRPr>
            </a:pPr>
            <a:r>
              <a:t>──────────────────</a:t>
            </a:r>
          </a:p>
          <a:p>
            <a:pPr algn="l">
              <a:spcAft>
                <a:spcPts val="800"/>
              </a:spcAft>
              <a:defRPr sz="1300" b="0">
                <a:solidFill>
                  <a:srgbClr val="212529"/>
                </a:solidFill>
                <a:latin typeface="맑은 고딕"/>
              </a:defRPr>
            </a:pPr>
            <a:r>
              <a:t>· 2분기 뚜렷한 성장세 (4~6월 평균 19.8%↑)</a:t>
            </a:r>
          </a:p>
          <a:p>
            <a:pPr algn="l">
              <a:spcAft>
                <a:spcPts val="800"/>
              </a:spcAft>
              <a:defRPr sz="1300" b="0">
                <a:solidFill>
                  <a:srgbClr val="212529"/>
                </a:solidFill>
                <a:latin typeface="맑은 고딕"/>
              </a:defRPr>
            </a:pPr>
            <a:r>
              <a:t>· 기능 업그레이드 패키지 인기</a:t>
            </a:r>
          </a:p>
          <a:p>
            <a:pPr algn="l">
              <a:spcAft>
                <a:spcPts val="800"/>
              </a:spcAft>
              <a:defRPr sz="1300" b="0">
                <a:solidFill>
                  <a:srgbClr val="212529"/>
                </a:solidFill>
                <a:latin typeface="맑은 고딕"/>
              </a:defRPr>
            </a:pPr>
            <a:r>
              <a:t>· 전년 대비: +18.6% (최고 성장률)</a:t>
            </a:r>
          </a:p>
          <a:p>
            <a:pPr algn="l">
              <a:spcAft>
                <a:spcPts val="800"/>
              </a:spcAft>
              <a:defRPr sz="1300" b="0">
                <a:solidFill>
                  <a:srgbClr val="212529"/>
                </a:solidFill>
                <a:latin typeface="맑은 고딕"/>
              </a:defRPr>
            </a:pPr>
            <a:r>
              <a:t>· 업셀링 성공률: 23.4% 기록</a:t>
            </a:r>
          </a:p>
        </p:txBody>
      </p:sp>
      <p:sp>
        <p:nvSpPr>
          <p:cNvPr id="10" name="Rounded Rectangle 9"/>
          <p:cNvSpPr/>
          <p:nvPr/>
        </p:nvSpPr>
        <p:spPr>
          <a:xfrm>
            <a:off x="8046720" y="1645920"/>
            <a:ext cx="3383280" cy="4114800"/>
          </a:xfrm>
          <a:prstGeom prst="roundRect">
            <a:avLst/>
          </a:prstGeom>
          <a:solidFill>
            <a:srgbClr val="E6F0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3749040"/>
          </a:xfrm>
          <a:prstGeom prst="rect">
            <a:avLst/>
          </a:prstGeom>
          <a:noFill/>
        </p:spPr>
        <p:txBody>
          <a:bodyPr wrap="square">
            <a:spAutoFit/>
          </a:bodyPr>
          <a:lstStyle/>
          <a:p>
            <a:pPr algn="l">
              <a:spcAft>
                <a:spcPts val="1000"/>
              </a:spcAft>
              <a:defRPr sz="2000" b="1">
                <a:solidFill>
                  <a:srgbClr val="2B5797"/>
                </a:solidFill>
                <a:latin typeface="맑은 고딕"/>
              </a:defRPr>
            </a:pPr>
            <a:r>
              <a:t>엔터프라이즈 (Enterprise)</a:t>
            </a:r>
          </a:p>
          <a:p>
            <a:pPr algn="l">
              <a:spcAft>
                <a:spcPts val="2000"/>
              </a:spcAft>
              <a:defRPr sz="2200" b="1">
                <a:solidFill>
                  <a:srgbClr val="212529"/>
                </a:solidFill>
                <a:latin typeface="맑은 고딕"/>
              </a:defRPr>
            </a:pPr>
            <a:r>
              <a:t>11억 1,298만 원 (39.1%)</a:t>
            </a:r>
          </a:p>
          <a:p>
            <a:pPr algn="l">
              <a:spcAft>
                <a:spcPts val="1500"/>
              </a:spcAft>
              <a:defRPr sz="1000" b="0">
                <a:solidFill>
                  <a:srgbClr val="C8CDD2"/>
                </a:solidFill>
                <a:latin typeface="맑은 고딕"/>
              </a:defRPr>
            </a:pPr>
            <a:r>
              <a:t>──────────────────</a:t>
            </a:r>
          </a:p>
          <a:p>
            <a:pPr algn="l">
              <a:spcAft>
                <a:spcPts val="800"/>
              </a:spcAft>
              <a:defRPr sz="1300" b="0">
                <a:solidFill>
                  <a:srgbClr val="212529"/>
                </a:solidFill>
                <a:latin typeface="맑은 고딕"/>
              </a:defRPr>
            </a:pPr>
            <a:r>
              <a:t>· 대형 고객사 3개사 신규 계약</a:t>
            </a:r>
          </a:p>
          <a:p>
            <a:pPr algn="l">
              <a:spcAft>
                <a:spcPts val="800"/>
              </a:spcAft>
              <a:defRPr sz="1300" b="0">
                <a:solidFill>
                  <a:srgbClr val="212529"/>
                </a:solidFill>
                <a:latin typeface="맑은 고딕"/>
              </a:defRPr>
            </a:pPr>
            <a:r>
              <a:t>· B2B 영업팀 확충 효과 본격화</a:t>
            </a:r>
          </a:p>
          <a:p>
            <a:pPr algn="l">
              <a:spcAft>
                <a:spcPts val="800"/>
              </a:spcAft>
              <a:defRPr sz="1300" b="0">
                <a:solidFill>
                  <a:srgbClr val="212529"/>
                </a:solidFill>
                <a:latin typeface="맑은 고딕"/>
              </a:defRPr>
            </a:pPr>
            <a:r>
              <a:t>· 전년 대비: +14.1% 성장</a:t>
            </a:r>
          </a:p>
          <a:p>
            <a:pPr algn="l">
              <a:spcAft>
                <a:spcPts val="800"/>
              </a:spcAft>
              <a:defRPr sz="1300" b="0">
                <a:solidFill>
                  <a:srgbClr val="212529"/>
                </a:solidFill>
                <a:latin typeface="맑은 고딕"/>
              </a:defRPr>
            </a:pPr>
            <a:r>
              <a:t>· 계약 갱신율: 91.2% (업계평균 82% 상회)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3. 분기별 매출 추이</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1분기 대비 2분기 매출 +22.3% 급성장 (4월 프로모션 및 5월 대형 사업 수주)</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731520" y="1645920"/>
          <a:ext cx="6217920" cy="4389120"/>
        </p:xfrm>
        <a:graphic>
          <a:graphicData uri="http://schemas.openxmlformats.org/drawingml/2006/chart">
            <c:chart xmlns:c="http://schemas.openxmlformats.org/drawingml/2006/chart" r:id="rId2"/>
          </a:graphicData>
        </a:graphic>
      </p:graphicFrame>
      <p:sp>
        <p:nvSpPr>
          <p:cNvPr id="7" name="Rounded Rectangle 6"/>
          <p:cNvSpPr/>
          <p:nvPr/>
        </p:nvSpPr>
        <p:spPr>
          <a:xfrm>
            <a:off x="7315200" y="1645920"/>
            <a:ext cx="4114800" cy="438912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828800"/>
            <a:ext cx="3749039" cy="4023360"/>
          </a:xfrm>
          <a:prstGeom prst="rect">
            <a:avLst/>
          </a:prstGeom>
          <a:noFill/>
        </p:spPr>
        <p:txBody>
          <a:bodyPr wrap="square">
            <a:spAutoFit/>
          </a:bodyPr>
          <a:lstStyle/>
          <a:p>
            <a:pPr algn="l">
              <a:spcAft>
                <a:spcPts val="1500"/>
              </a:spcAft>
              <a:defRPr sz="1800" b="1">
                <a:solidFill>
                  <a:srgbClr val="2B5797"/>
                </a:solidFill>
                <a:latin typeface="맑은 고딕"/>
              </a:defRPr>
            </a:pPr>
            <a:r>
              <a:t>분기별 주요 실적 요약</a:t>
            </a:r>
          </a:p>
          <a:p>
            <a:pPr algn="l">
              <a:defRPr sz="1400" b="1">
                <a:solidFill>
                  <a:srgbClr val="212529"/>
                </a:solidFill>
                <a:latin typeface="맑은 고딕"/>
              </a:defRPr>
            </a:pPr>
            <a:r>
              <a:t>■ 1분기 (1~3월): 12억 7,830만 원</a:t>
            </a:r>
          </a:p>
          <a:p>
            <a:pPr algn="l">
              <a:spcAft>
                <a:spcPts val="1500"/>
              </a:spcAft>
              <a:defRPr sz="1200" b="0">
                <a:solidFill>
                  <a:srgbClr val="6C757D"/>
                </a:solidFill>
                <a:latin typeface="맑은 고딕"/>
              </a:defRPr>
            </a:pPr>
            <a:r>
              <a:t>  · 전년 동기 대비 +9.1% 성장</a:t>
            </a:r>
            <a:br/>
            <a:r>
              <a:t>  · 1월 명절 효과로 하락했으나 2월 빠르게 반등</a:t>
            </a:r>
            <a:br/>
            <a:r>
              <a:t>  · 3월은 계절성 비수기로 최저점(2억 790만 원) 기록</a:t>
            </a:r>
          </a:p>
          <a:p>
            <a:pPr algn="l">
              <a:defRPr sz="1400" b="1">
                <a:solidFill>
                  <a:srgbClr val="E87722"/>
                </a:solidFill>
                <a:latin typeface="맑은 고딕"/>
              </a:defRPr>
            </a:pPr>
            <a:r>
              <a:t>■ 2분기 (4~6월): 15억 6,370만 원</a:t>
            </a:r>
          </a:p>
          <a:p>
            <a:pPr algn="l">
              <a:defRPr sz="1200" b="0">
                <a:solidFill>
                  <a:srgbClr val="6C757D"/>
                </a:solidFill>
                <a:latin typeface="맑은 고딕"/>
              </a:defRPr>
            </a:pPr>
            <a:r>
              <a:t>  · 전년 동기 대비 +15.8% 대폭 성장</a:t>
            </a:r>
            <a:br/>
            <a:r>
              <a:t>  · 4월 봄맞이 프로모션 성공으로 매출 최고점 돌파</a:t>
            </a:r>
            <a:br/>
            <a:r>
              <a:t>  · 5월 정부 디지털 전환 사업 수주 효과 반영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4. 지역별 매출 분포</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수도권 매출 비중 62.3% 편중, 충청/호남 등 지방 시장 침투 확대 요구됨</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645920"/>
          <a:ext cx="6217920" cy="4114800"/>
        </p:xfrm>
        <a:graphic>
          <a:graphicData uri="http://schemas.openxmlformats.org/drawingml/2006/table">
            <a:tbl>
              <a:tblPr firstRow="1" bandRow="1">
                <a:tableStyleId>{5C22544A-7EE6-4342-B048-85BDC9FD1C3A}</a:tableStyleId>
              </a:tblPr>
              <a:tblGrid>
                <a:gridCol w="2926080"/>
                <a:gridCol w="1920240"/>
                <a:gridCol w="1371600"/>
              </a:tblGrid>
              <a:tr h="587828">
                <a:tc>
                  <a:txBody>
                    <a:bodyPr/>
                    <a:lstStyle/>
                    <a:p>
                      <a:pPr algn="ctr">
                        <a:defRPr sz="1400" b="1">
                          <a:solidFill>
                            <a:srgbClr val="FFFFFF"/>
                          </a:solidFill>
                          <a:latin typeface="맑은 고딕"/>
                        </a:defRPr>
                      </a:pPr>
                      <a:r>
                        <a:t>지역명</a:t>
                      </a:r>
                    </a:p>
                  </a:txBody>
                  <a:tcPr anchor="ctr">
                    <a:solidFill>
                      <a:srgbClr val="2B5797"/>
                    </a:solidFill>
                  </a:tcPr>
                </a:tc>
                <a:tc>
                  <a:txBody>
                    <a:bodyPr/>
                    <a:lstStyle/>
                    <a:p>
                      <a:pPr algn="ctr">
                        <a:defRPr sz="1400" b="1">
                          <a:solidFill>
                            <a:srgbClr val="FFFFFF"/>
                          </a:solidFill>
                          <a:latin typeface="맑은 고딕"/>
                        </a:defRPr>
                      </a:pPr>
                      <a:r>
                        <a:t>매출액</a:t>
                      </a:r>
                    </a:p>
                  </a:txBody>
                  <a:tcPr anchor="ctr">
                    <a:solidFill>
                      <a:srgbClr val="2B5797"/>
                    </a:solidFill>
                  </a:tcPr>
                </a:tc>
                <a:tc>
                  <a:txBody>
                    <a:bodyPr/>
                    <a:lstStyle/>
                    <a:p>
                      <a:pPr algn="ctr">
                        <a:defRPr sz="1400" b="1">
                          <a:solidFill>
                            <a:srgbClr val="FFFFFF"/>
                          </a:solidFill>
                          <a:latin typeface="맑은 고딕"/>
                        </a:defRPr>
                      </a:pPr>
                      <a:r>
                        <a:t>매출 비중</a:t>
                      </a:r>
                    </a:p>
                  </a:txBody>
                  <a:tcPr anchor="ctr">
                    <a:solidFill>
                      <a:srgbClr val="2B5797"/>
                    </a:solidFill>
                  </a:tcPr>
                </a:tc>
              </a:tr>
              <a:tr h="587828">
                <a:tc>
                  <a:txBody>
                    <a:bodyPr/>
                    <a:lstStyle/>
                    <a:p>
                      <a:pPr algn="l">
                        <a:defRPr sz="1200" b="0">
                          <a:solidFill>
                            <a:srgbClr val="212529"/>
                          </a:solidFill>
                          <a:latin typeface="맑은 고딕"/>
                        </a:defRPr>
                      </a:pPr>
                      <a:r>
                        <a:t>수도권 (서울/경기/인천)</a:t>
                      </a:r>
                    </a:p>
                  </a:txBody>
                  <a:tcPr anchor="ctr">
                    <a:solidFill>
                      <a:srgbClr val="FFFFFF"/>
                    </a:solidFill>
                  </a:tcPr>
                </a:tc>
                <a:tc>
                  <a:txBody>
                    <a:bodyPr/>
                    <a:lstStyle/>
                    <a:p>
                      <a:pPr algn="r">
                        <a:defRPr sz="1200" b="0">
                          <a:solidFill>
                            <a:srgbClr val="212529"/>
                          </a:solidFill>
                          <a:latin typeface="맑은 고딕"/>
                        </a:defRPr>
                      </a:pPr>
                      <a:r>
                        <a:t>15억 8,410만 원</a:t>
                      </a:r>
                    </a:p>
                  </a:txBody>
                  <a:tcPr anchor="ctr">
                    <a:solidFill>
                      <a:srgbClr val="FFFFFF"/>
                    </a:solidFill>
                  </a:tcPr>
                </a:tc>
                <a:tc>
                  <a:txBody>
                    <a:bodyPr/>
                    <a:lstStyle/>
                    <a:p>
                      <a:pPr algn="r">
                        <a:defRPr sz="1200" b="0">
                          <a:solidFill>
                            <a:srgbClr val="212529"/>
                          </a:solidFill>
                          <a:latin typeface="맑은 고딕"/>
                        </a:defRPr>
                      </a:pPr>
                      <a:r>
                        <a:t>62.3%</a:t>
                      </a:r>
                    </a:p>
                  </a:txBody>
                  <a:tcPr anchor="ctr">
                    <a:solidFill>
                      <a:srgbClr val="FFFFFF"/>
                    </a:solidFill>
                  </a:tcPr>
                </a:tc>
              </a:tr>
              <a:tr h="587828">
                <a:tc>
                  <a:txBody>
                    <a:bodyPr/>
                    <a:lstStyle/>
                    <a:p>
                      <a:pPr algn="l">
                        <a:defRPr sz="1200" b="0">
                          <a:solidFill>
                            <a:srgbClr val="212529"/>
                          </a:solidFill>
                          <a:latin typeface="맑은 고딕"/>
                        </a:defRPr>
                      </a:pPr>
                      <a:r>
                        <a:t>영남권 (부산/대구/경남/경북)</a:t>
                      </a:r>
                    </a:p>
                  </a:txBody>
                  <a:tcPr anchor="ctr">
                    <a:solidFill>
                      <a:srgbClr val="FFFFFF"/>
                    </a:solidFill>
                  </a:tcPr>
                </a:tc>
                <a:tc>
                  <a:txBody>
                    <a:bodyPr/>
                    <a:lstStyle/>
                    <a:p>
                      <a:pPr algn="r">
                        <a:defRPr sz="1200" b="0">
                          <a:solidFill>
                            <a:srgbClr val="212529"/>
                          </a:solidFill>
                          <a:latin typeface="맑은 고딕"/>
                        </a:defRPr>
                      </a:pPr>
                      <a:r>
                        <a:t>4억 7,520만 원</a:t>
                      </a:r>
                    </a:p>
                  </a:txBody>
                  <a:tcPr anchor="ctr">
                    <a:solidFill>
                      <a:srgbClr val="FFFFFF"/>
                    </a:solidFill>
                  </a:tcPr>
                </a:tc>
                <a:tc>
                  <a:txBody>
                    <a:bodyPr/>
                    <a:lstStyle/>
                    <a:p>
                      <a:pPr algn="r">
                        <a:defRPr sz="1200" b="0">
                          <a:solidFill>
                            <a:srgbClr val="212529"/>
                          </a:solidFill>
                          <a:latin typeface="맑은 고딕"/>
                        </a:defRPr>
                      </a:pPr>
                      <a:r>
                        <a:t>18.7%</a:t>
                      </a:r>
                    </a:p>
                  </a:txBody>
                  <a:tcPr anchor="ctr">
                    <a:solidFill>
                      <a:srgbClr val="FFFFFF"/>
                    </a:solidFill>
                  </a:tcPr>
                </a:tc>
              </a:tr>
              <a:tr h="587828">
                <a:tc>
                  <a:txBody>
                    <a:bodyPr/>
                    <a:lstStyle/>
                    <a:p>
                      <a:pPr algn="l">
                        <a:defRPr sz="1200" b="0">
                          <a:solidFill>
                            <a:srgbClr val="212529"/>
                          </a:solidFill>
                          <a:latin typeface="맑은 고딕"/>
                        </a:defRPr>
                      </a:pPr>
                      <a:r>
                        <a:t>충청권 (대전/세종/충남/충북)</a:t>
                      </a:r>
                    </a:p>
                  </a:txBody>
                  <a:tcPr anchor="ctr">
                    <a:solidFill>
                      <a:srgbClr val="FFFFFF"/>
                    </a:solidFill>
                  </a:tcPr>
                </a:tc>
                <a:tc>
                  <a:txBody>
                    <a:bodyPr/>
                    <a:lstStyle/>
                    <a:p>
                      <a:pPr algn="r">
                        <a:defRPr sz="1200" b="0">
                          <a:solidFill>
                            <a:srgbClr val="212529"/>
                          </a:solidFill>
                          <a:latin typeface="맑은 고딕"/>
                        </a:defRPr>
                      </a:pPr>
                      <a:r>
                        <a:t>2억 3,820만 원</a:t>
                      </a:r>
                    </a:p>
                  </a:txBody>
                  <a:tcPr anchor="ctr">
                    <a:solidFill>
                      <a:srgbClr val="FFFFFF"/>
                    </a:solidFill>
                  </a:tcPr>
                </a:tc>
                <a:tc>
                  <a:txBody>
                    <a:bodyPr/>
                    <a:lstStyle/>
                    <a:p>
                      <a:pPr algn="r">
                        <a:defRPr sz="1200" b="0">
                          <a:solidFill>
                            <a:srgbClr val="212529"/>
                          </a:solidFill>
                          <a:latin typeface="맑은 고딕"/>
                        </a:defRPr>
                      </a:pPr>
                      <a:r>
                        <a:t>9.4%</a:t>
                      </a:r>
                    </a:p>
                  </a:txBody>
                  <a:tcPr anchor="ctr">
                    <a:solidFill>
                      <a:srgbClr val="FFFFFF"/>
                    </a:solidFill>
                  </a:tcPr>
                </a:tc>
              </a:tr>
              <a:tr h="587828">
                <a:tc>
                  <a:txBody>
                    <a:bodyPr/>
                    <a:lstStyle/>
                    <a:p>
                      <a:pPr algn="l">
                        <a:defRPr sz="1200" b="0">
                          <a:solidFill>
                            <a:srgbClr val="212529"/>
                          </a:solidFill>
                          <a:latin typeface="맑은 고딕"/>
                        </a:defRPr>
                      </a:pPr>
                      <a:r>
                        <a:t>호남권 (광주/전남/전북)</a:t>
                      </a:r>
                    </a:p>
                  </a:txBody>
                  <a:tcPr anchor="ctr">
                    <a:solidFill>
                      <a:srgbClr val="FFFFFF"/>
                    </a:solidFill>
                  </a:tcPr>
                </a:tc>
                <a:tc>
                  <a:txBody>
                    <a:bodyPr/>
                    <a:lstStyle/>
                    <a:p>
                      <a:pPr algn="r">
                        <a:defRPr sz="1200" b="0">
                          <a:solidFill>
                            <a:srgbClr val="212529"/>
                          </a:solidFill>
                          <a:latin typeface="맑은 고딕"/>
                        </a:defRPr>
                      </a:pPr>
                      <a:r>
                        <a:t>1억 5,740만 원</a:t>
                      </a:r>
                    </a:p>
                  </a:txBody>
                  <a:tcPr anchor="ctr">
                    <a:solidFill>
                      <a:srgbClr val="FFFFFF"/>
                    </a:solidFill>
                  </a:tcPr>
                </a:tc>
                <a:tc>
                  <a:txBody>
                    <a:bodyPr/>
                    <a:lstStyle/>
                    <a:p>
                      <a:pPr algn="r">
                        <a:defRPr sz="1200" b="0">
                          <a:solidFill>
                            <a:srgbClr val="212529"/>
                          </a:solidFill>
                          <a:latin typeface="맑은 고딕"/>
                        </a:defRPr>
                      </a:pPr>
                      <a:r>
                        <a:t>6.2%</a:t>
                      </a:r>
                    </a:p>
                  </a:txBody>
                  <a:tcPr anchor="ctr">
                    <a:solidFill>
                      <a:srgbClr val="FFFFFF"/>
                    </a:solidFill>
                  </a:tcPr>
                </a:tc>
              </a:tr>
              <a:tr h="587828">
                <a:tc>
                  <a:txBody>
                    <a:bodyPr/>
                    <a:lstStyle/>
                    <a:p>
                      <a:pPr algn="l">
                        <a:defRPr sz="1200" b="0">
                          <a:solidFill>
                            <a:srgbClr val="212529"/>
                          </a:solidFill>
                          <a:latin typeface="맑은 고딕"/>
                        </a:defRPr>
                      </a:pPr>
                      <a:r>
                        <a:t>기타 (강원/제주)</a:t>
                      </a:r>
                    </a:p>
                  </a:txBody>
                  <a:tcPr anchor="ctr">
                    <a:solidFill>
                      <a:srgbClr val="FFFFFF"/>
                    </a:solidFill>
                  </a:tcPr>
                </a:tc>
                <a:tc>
                  <a:txBody>
                    <a:bodyPr/>
                    <a:lstStyle/>
                    <a:p>
                      <a:pPr algn="r">
                        <a:defRPr sz="1200" b="0">
                          <a:solidFill>
                            <a:srgbClr val="212529"/>
                          </a:solidFill>
                          <a:latin typeface="맑은 고딕"/>
                        </a:defRPr>
                      </a:pPr>
                      <a:r>
                        <a:t>8,710만 원</a:t>
                      </a:r>
                    </a:p>
                  </a:txBody>
                  <a:tcPr anchor="ctr">
                    <a:solidFill>
                      <a:srgbClr val="FFFFFF"/>
                    </a:solidFill>
                  </a:tcPr>
                </a:tc>
                <a:tc>
                  <a:txBody>
                    <a:bodyPr/>
                    <a:lstStyle/>
                    <a:p>
                      <a:pPr algn="r">
                        <a:defRPr sz="1200" b="0">
                          <a:solidFill>
                            <a:srgbClr val="212529"/>
                          </a:solidFill>
                          <a:latin typeface="맑은 고딕"/>
                        </a:defRPr>
                      </a:pPr>
                      <a:r>
                        <a:t>3.4%</a:t>
                      </a:r>
                    </a:p>
                  </a:txBody>
                  <a:tcPr anchor="ctr">
                    <a:solidFill>
                      <a:srgbClr val="FFFFFF"/>
                    </a:solidFill>
                  </a:tcPr>
                </a:tc>
              </a:tr>
              <a:tr h="587832">
                <a:tc>
                  <a:txBody>
                    <a:bodyPr/>
                    <a:lstStyle/>
                    <a:p>
                      <a:pPr algn="l">
                        <a:defRPr sz="1200" b="1">
                          <a:solidFill>
                            <a:srgbClr val="212529"/>
                          </a:solidFill>
                          <a:latin typeface="맑은 고딕"/>
                        </a:defRPr>
                      </a:pPr>
                      <a:r>
                        <a:t>합계 (보고서 명시 기준)</a:t>
                      </a:r>
                    </a:p>
                  </a:txBody>
                  <a:tcPr anchor="ctr">
                    <a:solidFill>
                      <a:srgbClr val="E6EBF0"/>
                    </a:solidFill>
                  </a:tcPr>
                </a:tc>
                <a:tc>
                  <a:txBody>
                    <a:bodyPr/>
                    <a:lstStyle/>
                    <a:p>
                      <a:pPr algn="r">
                        <a:defRPr sz="1200" b="1">
                          <a:solidFill>
                            <a:srgbClr val="212529"/>
                          </a:solidFill>
                          <a:latin typeface="맑은 고딕"/>
                        </a:defRPr>
                      </a:pPr>
                      <a:r>
                        <a:t>25억 4,200만 원</a:t>
                      </a:r>
                    </a:p>
                  </a:txBody>
                  <a:tcPr anchor="ctr">
                    <a:solidFill>
                      <a:srgbClr val="E6EBF0"/>
                    </a:solidFill>
                  </a:tcPr>
                </a:tc>
                <a:tc>
                  <a:txBody>
                    <a:bodyPr/>
                    <a:lstStyle/>
                    <a:p>
                      <a:pPr algn="r">
                        <a:defRPr sz="1200" b="1">
                          <a:solidFill>
                            <a:srgbClr val="212529"/>
                          </a:solidFill>
                          <a:latin typeface="맑은 고딕"/>
                        </a:defRPr>
                      </a:pPr>
                      <a:r>
                        <a:t>100.0%</a:t>
                      </a:r>
                    </a:p>
                  </a:txBody>
                  <a:tcPr anchor="ctr">
                    <a:solidFill>
                      <a:srgbClr val="E6EBF0"/>
                    </a:solidFill>
                  </a:tcPr>
                </a:tc>
              </a:tr>
            </a:tbl>
          </a:graphicData>
        </a:graphic>
      </p:graphicFrame>
      <p:sp>
        <p:nvSpPr>
          <p:cNvPr id="7" name="Rounded Rectangle 6"/>
          <p:cNvSpPr/>
          <p:nvPr/>
        </p:nvSpPr>
        <p:spPr>
          <a:xfrm>
            <a:off x="7315200" y="1645920"/>
            <a:ext cx="411480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828800"/>
            <a:ext cx="3749039" cy="3749039"/>
          </a:xfrm>
          <a:prstGeom prst="rect">
            <a:avLst/>
          </a:prstGeom>
          <a:noFill/>
        </p:spPr>
        <p:txBody>
          <a:bodyPr wrap="square">
            <a:spAutoFit/>
          </a:bodyPr>
          <a:lstStyle/>
          <a:p>
            <a:pPr algn="l">
              <a:spcAft>
                <a:spcPts val="1500"/>
              </a:spcAft>
              <a:defRPr sz="1800" b="1">
                <a:solidFill>
                  <a:srgbClr val="2B5797"/>
                </a:solidFill>
                <a:latin typeface="맑은 고딕"/>
              </a:defRPr>
            </a:pPr>
            <a:r>
              <a:t>지역별 현황 분석 및 시사점</a:t>
            </a:r>
          </a:p>
          <a:p>
            <a:pPr algn="l">
              <a:spcBef>
                <a:spcPts val="800"/>
              </a:spcBef>
              <a:defRPr sz="1300" b="1">
                <a:solidFill>
                  <a:srgbClr val="212529"/>
                </a:solidFill>
                <a:latin typeface="맑은 고딕"/>
              </a:defRPr>
            </a:pPr>
            <a:r>
              <a:t>■ 수도권 편중 현상 심화 (+62%)</a:t>
            </a:r>
          </a:p>
          <a:p>
            <a:pPr algn="l">
              <a:spcAft>
                <a:spcPts val="300"/>
              </a:spcAft>
              <a:defRPr sz="1100" b="0">
                <a:solidFill>
                  <a:srgbClr val="6C757D"/>
                </a:solidFill>
                <a:latin typeface="맑은 고딕"/>
              </a:defRPr>
            </a:pPr>
            <a:r>
              <a:t>  · 매출의 과반수가 서울·경기·인천에 집중됨.</a:t>
            </a:r>
          </a:p>
          <a:p>
            <a:pPr algn="l">
              <a:spcAft>
                <a:spcPts val="300"/>
              </a:spcAft>
              <a:defRPr sz="1100" b="0">
                <a:solidFill>
                  <a:srgbClr val="6C757D"/>
                </a:solidFill>
                <a:latin typeface="맑은 고딕"/>
              </a:defRPr>
            </a:pPr>
            <a:r>
              <a:t>  · 대기업 및 IT 인프라 인프라 수혜 영향.</a:t>
            </a:r>
          </a:p>
          <a:p>
            <a:pPr algn="l">
              <a:spcBef>
                <a:spcPts val="800"/>
              </a:spcBef>
              <a:defRPr sz="1300" b="1">
                <a:solidFill>
                  <a:srgbClr val="212529"/>
                </a:solidFill>
                <a:latin typeface="맑은 고딕"/>
              </a:defRPr>
            </a:pPr>
            <a:r>
              <a:t>■ 비수도권 잠재 시장 개척 필요</a:t>
            </a:r>
          </a:p>
          <a:p>
            <a:pPr algn="l">
              <a:spcAft>
                <a:spcPts val="300"/>
              </a:spcAft>
              <a:defRPr sz="1100" b="0">
                <a:solidFill>
                  <a:srgbClr val="6C757D"/>
                </a:solidFill>
                <a:latin typeface="맑은 고딕"/>
              </a:defRPr>
            </a:pPr>
            <a:r>
              <a:t>  · 영남(18.7%) 대비 충청(9.4%), 호남(6.2%)의 매출 점유율이 심각하게 저조함.</a:t>
            </a:r>
          </a:p>
          <a:p>
            <a:pPr algn="l">
              <a:spcAft>
                <a:spcPts val="300"/>
              </a:spcAft>
              <a:defRPr sz="1100" b="0">
                <a:solidFill>
                  <a:srgbClr val="6C757D"/>
                </a:solidFill>
                <a:latin typeface="맑은 고딕"/>
              </a:defRPr>
            </a:pPr>
            <a:r>
              <a:t>  · 호남·강원 지역 파트너망 협력 강화를 통해 침투율 개선 필요.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5. 주요 성과 및 이슈</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NPS 만족도 상승 및 대형 계약 수주 성공 vs 3월 비수기 급감 및 단가 하락 과제</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120640" cy="548640"/>
          </a:xfrm>
          <a:prstGeom prst="rect">
            <a:avLst/>
          </a:prstGeom>
          <a:solidFill>
            <a:srgbClr val="E6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B5797"/>
                </a:solidFill>
                <a:latin typeface="맑은 고딕"/>
              </a:defRPr>
            </a:pPr>
            <a:r>
              <a:t>✅ 주요 성과 (Key Achievements)</a:t>
            </a:r>
          </a:p>
        </p:txBody>
      </p:sp>
      <p:sp>
        <p:nvSpPr>
          <p:cNvPr id="8" name="TextBox 7"/>
          <p:cNvSpPr txBox="1"/>
          <p:nvPr/>
        </p:nvSpPr>
        <p:spPr>
          <a:xfrm>
            <a:off x="914400" y="2286000"/>
            <a:ext cx="4754880" cy="3291840"/>
          </a:xfrm>
          <a:prstGeom prst="rect">
            <a:avLst/>
          </a:prstGeom>
          <a:noFill/>
        </p:spPr>
        <p:txBody>
          <a:bodyPr wrap="square">
            <a:spAutoFit/>
          </a:bodyPr>
          <a:lstStyle/>
          <a:p>
            <a:pPr algn="l">
              <a:spcAft>
                <a:spcPts val="1200"/>
              </a:spcAft>
              <a:defRPr sz="1300" b="0">
                <a:solidFill>
                  <a:srgbClr val="212529"/>
                </a:solidFill>
                <a:latin typeface="맑은 고딕"/>
              </a:defRPr>
            </a:pPr>
            <a:r>
              <a:t>· 신규 고객 유치 목표 달성률 108% (목표 280건 → 실적 302건)</a:t>
            </a:r>
          </a:p>
          <a:p>
            <a:pPr algn="l">
              <a:spcAft>
                <a:spcPts val="1200"/>
              </a:spcAft>
              <a:defRPr sz="1300" b="0">
                <a:solidFill>
                  <a:srgbClr val="212529"/>
                </a:solidFill>
                <a:latin typeface="맑은 고딕"/>
              </a:defRPr>
            </a:pPr>
            <a:r>
              <a:t>· 고객 만족도 NPS 72점 기록 (전년 65점 대비 7점 상승)</a:t>
            </a:r>
          </a:p>
          <a:p>
            <a:pPr algn="l">
              <a:spcAft>
                <a:spcPts val="1200"/>
              </a:spcAft>
              <a:defRPr sz="1300" b="0">
                <a:solidFill>
                  <a:srgbClr val="212529"/>
                </a:solidFill>
                <a:latin typeface="맑은 고딕"/>
              </a:defRPr>
            </a:pPr>
            <a:r>
              <a:t>· 엔터프라이즈 대형 신규 계약 3건 수주 (연 5억+ 매출 기대)</a:t>
            </a:r>
          </a:p>
          <a:p>
            <a:pPr algn="l">
              <a:spcAft>
                <a:spcPts val="1200"/>
              </a:spcAft>
              <a:defRPr sz="1300" b="0">
                <a:solidFill>
                  <a:srgbClr val="212529"/>
                </a:solidFill>
                <a:latin typeface="맑은 고딕"/>
              </a:defRPr>
            </a:pPr>
            <a:r>
              <a:t>· 프리미엄 고객 업셀링 캠페인 ROI 340% 기록</a:t>
            </a:r>
          </a:p>
        </p:txBody>
      </p:sp>
      <p:sp>
        <p:nvSpPr>
          <p:cNvPr id="9" name="Rounded Rectangle 8"/>
          <p:cNvSpPr/>
          <p:nvPr/>
        </p:nvSpPr>
        <p:spPr>
          <a:xfrm>
            <a:off x="6309360" y="1645920"/>
            <a:ext cx="5120640" cy="411480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645920"/>
            <a:ext cx="5120640" cy="548640"/>
          </a:xfrm>
          <a:prstGeom prst="rect">
            <a:avLst/>
          </a:prstGeom>
          <a:solidFill>
            <a:srgbClr val="FE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E87722"/>
                </a:solidFill>
                <a:latin typeface="맑은 고딕"/>
              </a:defRPr>
            </a:pPr>
            <a:r>
              <a:t>⚠️ 극복 과제 (Key Issues)</a:t>
            </a:r>
          </a:p>
        </p:txBody>
      </p:sp>
      <p:sp>
        <p:nvSpPr>
          <p:cNvPr id="11" name="TextBox 10"/>
          <p:cNvSpPr txBox="1"/>
          <p:nvPr/>
        </p:nvSpPr>
        <p:spPr>
          <a:xfrm>
            <a:off x="6492240" y="2286000"/>
            <a:ext cx="4754880" cy="3291840"/>
          </a:xfrm>
          <a:prstGeom prst="rect">
            <a:avLst/>
          </a:prstGeom>
          <a:noFill/>
        </p:spPr>
        <p:txBody>
          <a:bodyPr wrap="square">
            <a:spAutoFit/>
          </a:bodyPr>
          <a:lstStyle/>
          <a:p>
            <a:pPr algn="l">
              <a:spcAft>
                <a:spcPts val="1200"/>
              </a:spcAft>
              <a:defRPr sz="1300" b="0">
                <a:solidFill>
                  <a:srgbClr val="212529"/>
                </a:solidFill>
                <a:latin typeface="맑은 고딕"/>
              </a:defRPr>
            </a:pPr>
            <a:r>
              <a:t>· 3월 분기 전환기 영업 공백으로 인한 비수기 매출 급감 발생</a:t>
            </a:r>
          </a:p>
          <a:p>
            <a:pPr algn="l">
              <a:spcAft>
                <a:spcPts val="1200"/>
              </a:spcAft>
              <a:defRPr sz="1300" b="0">
                <a:solidFill>
                  <a:srgbClr val="212529"/>
                </a:solidFill>
                <a:latin typeface="맑은 고딕"/>
              </a:defRPr>
            </a:pPr>
            <a:r>
              <a:t>· 베이직 요금제 고객 단가 하락 추세 (서비스 팩 도입 필요)</a:t>
            </a:r>
          </a:p>
          <a:p>
            <a:pPr algn="l">
              <a:spcAft>
                <a:spcPts val="1200"/>
              </a:spcAft>
              <a:defRPr sz="1300" b="0">
                <a:solidFill>
                  <a:srgbClr val="212529"/>
                </a:solidFill>
                <a:latin typeface="맑은 고딕"/>
              </a:defRPr>
            </a:pPr>
            <a:r>
              <a:t>· 호남, 강원 지역 침투율 저조로 전국 영업망 확장성 정체</a:t>
            </a:r>
          </a:p>
          <a:p>
            <a:pPr algn="l">
              <a:spcAft>
                <a:spcPts val="1200"/>
              </a:spcAft>
              <a:defRPr sz="1300" b="0">
                <a:solidFill>
                  <a:srgbClr val="212529"/>
                </a:solidFill>
                <a:latin typeface="맑은 고딕"/>
              </a:defRPr>
            </a:pPr>
            <a:r>
              <a:t>· 일부 엔터프라이즈 리드 타임 지연 대응 체계 구축 요망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a:spAutoFit/>
          </a:bodyPr>
          <a:lstStyle/>
          <a:p>
            <a:pPr>
              <a:defRPr sz="2600" b="1">
                <a:solidFill>
                  <a:srgbClr val="2B5797"/>
                </a:solidFill>
                <a:latin typeface="맑은 고딕"/>
              </a:defRPr>
            </a:pPr>
            <a:r>
              <a:t>6. 하반기 전략 제안</a:t>
            </a:r>
          </a:p>
        </p:txBody>
      </p:sp>
      <p:sp>
        <p:nvSpPr>
          <p:cNvPr id="4" name="TextBox 3"/>
          <p:cNvSpPr txBox="1"/>
          <p:nvPr/>
        </p:nvSpPr>
        <p:spPr>
          <a:xfrm>
            <a:off x="914400" y="841248"/>
            <a:ext cx="10515600" cy="365760"/>
          </a:xfrm>
          <a:prstGeom prst="rect">
            <a:avLst/>
          </a:prstGeom>
          <a:noFill/>
        </p:spPr>
        <p:txBody>
          <a:bodyPr wrap="square">
            <a:spAutoFit/>
          </a:bodyPr>
          <a:lstStyle/>
          <a:p>
            <a:pPr>
              <a:defRPr sz="1400" b="1">
                <a:solidFill>
                  <a:srgbClr val="E87722"/>
                </a:solidFill>
                <a:latin typeface="맑은 고딕"/>
              </a:defRPr>
            </a:pPr>
            <a:r>
              <a:t>상반기 성장 모멘텀 확대와 취약점 개선을 위한 4대 핵심 영업/마케팅 전략</a:t>
            </a:r>
          </a:p>
        </p:txBody>
      </p:sp>
      <p:sp>
        <p:nvSpPr>
          <p:cNvPr id="5" name="Rectangle 4"/>
          <p:cNvSpPr/>
          <p:nvPr/>
        </p:nvSpPr>
        <p:spPr>
          <a:xfrm>
            <a:off x="731520" y="1280160"/>
            <a:ext cx="10698480" cy="18288"/>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1920240"/>
          </a:xfrm>
          <a:prstGeom prst="roundRect">
            <a:avLst/>
          </a:prstGeom>
          <a:solidFill>
            <a:srgbClr val="FEF3EB"/>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731520" cy="365760"/>
          </a:xfrm>
          <a:prstGeom prst="rect">
            <a:avLst/>
          </a:prstGeom>
          <a:noFill/>
        </p:spPr>
        <p:txBody>
          <a:bodyPr wrap="none">
            <a:spAutoFit/>
          </a:bodyPr>
          <a:lstStyle/>
          <a:p>
            <a:pPr algn="l">
              <a:defRPr sz="1300" b="1">
                <a:solidFill>
                  <a:srgbClr val="2B5797"/>
                </a:solidFill>
                <a:latin typeface="맑은 고딕"/>
              </a:defRPr>
            </a:pPr>
            <a:r>
              <a:t>Action 01</a:t>
            </a:r>
          </a:p>
        </p:txBody>
      </p:sp>
      <p:sp>
        <p:nvSpPr>
          <p:cNvPr id="8" name="TextBox 7"/>
          <p:cNvSpPr txBox="1"/>
          <p:nvPr/>
        </p:nvSpPr>
        <p:spPr>
          <a:xfrm>
            <a:off x="1920240" y="1783080"/>
            <a:ext cx="3749040" cy="365760"/>
          </a:xfrm>
          <a:prstGeom prst="rect">
            <a:avLst/>
          </a:prstGeom>
          <a:noFill/>
        </p:spPr>
        <p:txBody>
          <a:bodyPr wrap="none">
            <a:spAutoFit/>
          </a:bodyPr>
          <a:lstStyle/>
          <a:p>
            <a:pPr algn="l">
              <a:defRPr sz="1500" b="1">
                <a:solidFill>
                  <a:srgbClr val="212529"/>
                </a:solidFill>
                <a:latin typeface="맑은 고딕"/>
              </a:defRPr>
            </a:pPr>
            <a:r>
              <a:t>프리미엄 프로모션 강화</a:t>
            </a:r>
          </a:p>
        </p:txBody>
      </p:sp>
      <p:sp>
        <p:nvSpPr>
          <p:cNvPr id="9" name="TextBox 8"/>
          <p:cNvSpPr txBox="1"/>
          <p:nvPr/>
        </p:nvSpPr>
        <p:spPr>
          <a:xfrm>
            <a:off x="914400" y="2194560"/>
            <a:ext cx="4754880" cy="1280160"/>
          </a:xfrm>
          <a:prstGeom prst="rect">
            <a:avLst/>
          </a:prstGeom>
          <a:noFill/>
        </p:spPr>
        <p:txBody>
          <a:bodyPr wrap="square">
            <a:spAutoFit/>
          </a:bodyPr>
          <a:lstStyle/>
          <a:p>
            <a:pPr algn="l">
              <a:spcAft>
                <a:spcPts val="600"/>
              </a:spcAft>
              <a:defRPr sz="1100" b="1">
                <a:solidFill>
                  <a:srgbClr val="6C757D"/>
                </a:solidFill>
                <a:latin typeface="맑은 고딕"/>
              </a:defRPr>
            </a:pPr>
            <a:r>
              <a:t>상반기 최고 성장세를 보인 프리미엄 모멘텀 연장을 목표로 합니다.</a:t>
            </a:r>
          </a:p>
          <a:p>
            <a:pPr algn="l">
              <a:spcAft>
                <a:spcPts val="200"/>
              </a:spcAft>
              <a:defRPr sz="1100" b="0">
                <a:solidFill>
                  <a:srgbClr val="212529"/>
                </a:solidFill>
                <a:latin typeface="맑은 고딕"/>
              </a:defRPr>
            </a:pPr>
            <a:r>
              <a:t>· 7~8월 여름 패키지 할인 (조기 연장 시 10% 추가 할인)</a:t>
            </a:r>
          </a:p>
          <a:p>
            <a:pPr algn="l">
              <a:spcAft>
                <a:spcPts val="200"/>
              </a:spcAft>
              <a:defRPr sz="1100" b="0">
                <a:solidFill>
                  <a:srgbClr val="212529"/>
                </a:solidFill>
                <a:latin typeface="맑은 고딕"/>
              </a:defRPr>
            </a:pPr>
            <a:r>
              <a:t>· 9월 추석 맞춤형 기업 단체 선물 패키지 구성</a:t>
            </a:r>
          </a:p>
        </p:txBody>
      </p:sp>
      <p:sp>
        <p:nvSpPr>
          <p:cNvPr id="10" name="Rounded Rectangle 9"/>
          <p:cNvSpPr/>
          <p:nvPr/>
        </p:nvSpPr>
        <p:spPr>
          <a:xfrm>
            <a:off x="6309360" y="1645920"/>
            <a:ext cx="5120640" cy="192024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783080"/>
            <a:ext cx="731520" cy="365760"/>
          </a:xfrm>
          <a:prstGeom prst="rect">
            <a:avLst/>
          </a:prstGeom>
          <a:noFill/>
        </p:spPr>
        <p:txBody>
          <a:bodyPr wrap="none">
            <a:spAutoFit/>
          </a:bodyPr>
          <a:lstStyle/>
          <a:p>
            <a:pPr algn="l">
              <a:defRPr sz="1300" b="1">
                <a:solidFill>
                  <a:srgbClr val="2B5797"/>
                </a:solidFill>
                <a:latin typeface="맑은 고딕"/>
              </a:defRPr>
            </a:pPr>
            <a:r>
              <a:t>Action 02</a:t>
            </a:r>
          </a:p>
        </p:txBody>
      </p:sp>
      <p:sp>
        <p:nvSpPr>
          <p:cNvPr id="12" name="TextBox 11"/>
          <p:cNvSpPr txBox="1"/>
          <p:nvPr/>
        </p:nvSpPr>
        <p:spPr>
          <a:xfrm>
            <a:off x="7498080" y="1783080"/>
            <a:ext cx="3749040" cy="365760"/>
          </a:xfrm>
          <a:prstGeom prst="rect">
            <a:avLst/>
          </a:prstGeom>
          <a:noFill/>
        </p:spPr>
        <p:txBody>
          <a:bodyPr wrap="none">
            <a:spAutoFit/>
          </a:bodyPr>
          <a:lstStyle/>
          <a:p>
            <a:pPr algn="l">
              <a:defRPr sz="1500" b="1">
                <a:solidFill>
                  <a:srgbClr val="212529"/>
                </a:solidFill>
                <a:latin typeface="맑은 고딕"/>
              </a:defRPr>
            </a:pPr>
            <a:r>
              <a:t>엔터프라이즈 관리 고도화</a:t>
            </a:r>
          </a:p>
        </p:txBody>
      </p:sp>
      <p:sp>
        <p:nvSpPr>
          <p:cNvPr id="13" name="TextBox 12"/>
          <p:cNvSpPr txBox="1"/>
          <p:nvPr/>
        </p:nvSpPr>
        <p:spPr>
          <a:xfrm>
            <a:off x="6492240" y="2194560"/>
            <a:ext cx="4754880" cy="1280160"/>
          </a:xfrm>
          <a:prstGeom prst="rect">
            <a:avLst/>
          </a:prstGeom>
          <a:noFill/>
        </p:spPr>
        <p:txBody>
          <a:bodyPr wrap="square">
            <a:spAutoFit/>
          </a:bodyPr>
          <a:lstStyle/>
          <a:p>
            <a:pPr algn="l">
              <a:spcAft>
                <a:spcPts val="600"/>
              </a:spcAft>
              <a:defRPr sz="1100" b="1">
                <a:solidFill>
                  <a:srgbClr val="6C757D"/>
                </a:solidFill>
                <a:latin typeface="맑은 고딕"/>
              </a:defRPr>
            </a:pPr>
            <a:r>
              <a:t>대형 고객 유지를 통한 영업 수익 기반 확대를 공고히 합니다.</a:t>
            </a:r>
          </a:p>
          <a:p>
            <a:pPr algn="l">
              <a:spcAft>
                <a:spcPts val="200"/>
              </a:spcAft>
              <a:defRPr sz="1100" b="0">
                <a:solidFill>
                  <a:srgbClr val="212529"/>
                </a:solidFill>
                <a:latin typeface="맑은 고딕"/>
              </a:defRPr>
            </a:pPr>
            <a:r>
              <a:t>· 기존 고객 이탈 방지를 위한 전용 세미나 분기별 운영</a:t>
            </a:r>
          </a:p>
          <a:p>
            <a:pPr algn="l">
              <a:spcAft>
                <a:spcPts val="200"/>
              </a:spcAft>
              <a:defRPr sz="1100" b="0">
                <a:solidFill>
                  <a:srgbClr val="212529"/>
                </a:solidFill>
                <a:latin typeface="맑은 고딕"/>
              </a:defRPr>
            </a:pPr>
            <a:r>
              <a:t>· 하반기 중 대형 고객사 2개사 추가 수주 파이프라인 가동</a:t>
            </a:r>
          </a:p>
        </p:txBody>
      </p:sp>
      <p:sp>
        <p:nvSpPr>
          <p:cNvPr id="14" name="Rounded Rectangle 13"/>
          <p:cNvSpPr/>
          <p:nvPr/>
        </p:nvSpPr>
        <p:spPr>
          <a:xfrm>
            <a:off x="731520" y="3840480"/>
            <a:ext cx="5120640" cy="192024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77640"/>
            <a:ext cx="731520" cy="365760"/>
          </a:xfrm>
          <a:prstGeom prst="rect">
            <a:avLst/>
          </a:prstGeom>
          <a:noFill/>
        </p:spPr>
        <p:txBody>
          <a:bodyPr wrap="none">
            <a:spAutoFit/>
          </a:bodyPr>
          <a:lstStyle/>
          <a:p>
            <a:pPr algn="l">
              <a:defRPr sz="1300" b="1">
                <a:solidFill>
                  <a:srgbClr val="2B5797"/>
                </a:solidFill>
                <a:latin typeface="맑은 고딕"/>
              </a:defRPr>
            </a:pPr>
            <a:r>
              <a:t>Action 03</a:t>
            </a:r>
          </a:p>
        </p:txBody>
      </p:sp>
      <p:sp>
        <p:nvSpPr>
          <p:cNvPr id="16" name="TextBox 15"/>
          <p:cNvSpPr txBox="1"/>
          <p:nvPr/>
        </p:nvSpPr>
        <p:spPr>
          <a:xfrm>
            <a:off x="1920240" y="3977640"/>
            <a:ext cx="3749040" cy="365760"/>
          </a:xfrm>
          <a:prstGeom prst="rect">
            <a:avLst/>
          </a:prstGeom>
          <a:noFill/>
        </p:spPr>
        <p:txBody>
          <a:bodyPr wrap="none">
            <a:spAutoFit/>
          </a:bodyPr>
          <a:lstStyle/>
          <a:p>
            <a:pPr algn="l">
              <a:defRPr sz="1500" b="1">
                <a:solidFill>
                  <a:srgbClr val="212529"/>
                </a:solidFill>
                <a:latin typeface="맑은 고딕"/>
              </a:defRPr>
            </a:pPr>
            <a:r>
              <a:t>지역 파트너 협력 균형 전략</a:t>
            </a:r>
          </a:p>
        </p:txBody>
      </p:sp>
      <p:sp>
        <p:nvSpPr>
          <p:cNvPr id="17" name="TextBox 16"/>
          <p:cNvSpPr txBox="1"/>
          <p:nvPr/>
        </p:nvSpPr>
        <p:spPr>
          <a:xfrm>
            <a:off x="914400" y="4389120"/>
            <a:ext cx="4754880" cy="1280160"/>
          </a:xfrm>
          <a:prstGeom prst="rect">
            <a:avLst/>
          </a:prstGeom>
          <a:noFill/>
        </p:spPr>
        <p:txBody>
          <a:bodyPr wrap="square">
            <a:spAutoFit/>
          </a:bodyPr>
          <a:lstStyle/>
          <a:p>
            <a:pPr algn="l">
              <a:spcAft>
                <a:spcPts val="600"/>
              </a:spcAft>
              <a:defRPr sz="1100" b="1">
                <a:solidFill>
                  <a:srgbClr val="6C757D"/>
                </a:solidFill>
                <a:latin typeface="맑은 고딕"/>
              </a:defRPr>
            </a:pPr>
            <a:r>
              <a:t>매출 편중을 해결하고 지방 잠재 고객을 적극 유치합니다.</a:t>
            </a:r>
          </a:p>
          <a:p>
            <a:pPr algn="l">
              <a:spcAft>
                <a:spcPts val="200"/>
              </a:spcAft>
              <a:defRPr sz="1100" b="0">
                <a:solidFill>
                  <a:srgbClr val="212529"/>
                </a:solidFill>
                <a:latin typeface="맑은 고딕"/>
              </a:defRPr>
            </a:pPr>
            <a:r>
              <a:t>· 호남 및 강원 지역 거점 파트너사 3곳 이상 계약 확보</a:t>
            </a:r>
          </a:p>
          <a:p>
            <a:pPr algn="l">
              <a:spcAft>
                <a:spcPts val="200"/>
              </a:spcAft>
              <a:defRPr sz="1100" b="0">
                <a:solidFill>
                  <a:srgbClr val="212529"/>
                </a:solidFill>
                <a:latin typeface="맑은 고딕"/>
              </a:defRPr>
            </a:pPr>
            <a:r>
              <a:t>· 지방 공공기관 및 중소기업 디지털 전환 입찰 참여 확대</a:t>
            </a:r>
          </a:p>
        </p:txBody>
      </p:sp>
      <p:sp>
        <p:nvSpPr>
          <p:cNvPr id="18" name="Rounded Rectangle 17"/>
          <p:cNvSpPr/>
          <p:nvPr/>
        </p:nvSpPr>
        <p:spPr>
          <a:xfrm>
            <a:off x="6309360" y="3840480"/>
            <a:ext cx="5120640" cy="1920240"/>
          </a:xfrm>
          <a:prstGeom prst="roundRect">
            <a:avLst/>
          </a:prstGeom>
          <a:solidFill>
            <a:srgbClr val="FFFFFF"/>
          </a:solidFill>
          <a:ln w="1905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77640"/>
            <a:ext cx="731520" cy="365760"/>
          </a:xfrm>
          <a:prstGeom prst="rect">
            <a:avLst/>
          </a:prstGeom>
          <a:noFill/>
        </p:spPr>
        <p:txBody>
          <a:bodyPr wrap="none">
            <a:spAutoFit/>
          </a:bodyPr>
          <a:lstStyle/>
          <a:p>
            <a:pPr algn="l">
              <a:defRPr sz="1300" b="1">
                <a:solidFill>
                  <a:srgbClr val="2B5797"/>
                </a:solidFill>
                <a:latin typeface="맑은 고딕"/>
              </a:defRPr>
            </a:pPr>
            <a:r>
              <a:t>Action 04</a:t>
            </a:r>
          </a:p>
        </p:txBody>
      </p:sp>
      <p:sp>
        <p:nvSpPr>
          <p:cNvPr id="20" name="TextBox 19"/>
          <p:cNvSpPr txBox="1"/>
          <p:nvPr/>
        </p:nvSpPr>
        <p:spPr>
          <a:xfrm>
            <a:off x="7498080" y="3977640"/>
            <a:ext cx="3749040" cy="365760"/>
          </a:xfrm>
          <a:prstGeom prst="rect">
            <a:avLst/>
          </a:prstGeom>
          <a:noFill/>
        </p:spPr>
        <p:txBody>
          <a:bodyPr wrap="none">
            <a:spAutoFit/>
          </a:bodyPr>
          <a:lstStyle/>
          <a:p>
            <a:pPr algn="l">
              <a:defRPr sz="1500" b="1">
                <a:solidFill>
                  <a:srgbClr val="212529"/>
                </a:solidFill>
                <a:latin typeface="맑은 고딕"/>
              </a:defRPr>
            </a:pPr>
            <a:r>
              <a:t>디지털 마케팅 활성화</a:t>
            </a:r>
          </a:p>
        </p:txBody>
      </p:sp>
      <p:sp>
        <p:nvSpPr>
          <p:cNvPr id="21" name="TextBox 20"/>
          <p:cNvSpPr txBox="1"/>
          <p:nvPr/>
        </p:nvSpPr>
        <p:spPr>
          <a:xfrm>
            <a:off x="6492240" y="4389120"/>
            <a:ext cx="4754880" cy="1280160"/>
          </a:xfrm>
          <a:prstGeom prst="rect">
            <a:avLst/>
          </a:prstGeom>
          <a:noFill/>
        </p:spPr>
        <p:txBody>
          <a:bodyPr wrap="square">
            <a:spAutoFit/>
          </a:bodyPr>
          <a:lstStyle/>
          <a:p>
            <a:pPr algn="l">
              <a:spcAft>
                <a:spcPts val="600"/>
              </a:spcAft>
              <a:defRPr sz="1100" b="1">
                <a:solidFill>
                  <a:srgbClr val="6C757D"/>
                </a:solidFill>
                <a:latin typeface="맑은 고딕"/>
              </a:defRPr>
            </a:pPr>
            <a:r>
              <a:t>온라인 잠재 고객 리드 확보를 위해 인프라를 증진합니다.</a:t>
            </a:r>
          </a:p>
          <a:p>
            <a:pPr algn="l">
              <a:spcAft>
                <a:spcPts val="200"/>
              </a:spcAft>
              <a:defRPr sz="1100" b="0">
                <a:solidFill>
                  <a:srgbClr val="212529"/>
                </a:solidFill>
                <a:latin typeface="맑은 고딕"/>
              </a:defRPr>
            </a:pPr>
            <a:r>
              <a:t>· 마케팅 예산 20% 증액 편성으로 타겟 광고 고도화</a:t>
            </a:r>
          </a:p>
          <a:p>
            <a:pPr algn="l">
              <a:spcAft>
                <a:spcPts val="200"/>
              </a:spcAft>
              <a:defRPr sz="1100" b="0">
                <a:solidFill>
                  <a:srgbClr val="212529"/>
                </a:solidFill>
                <a:latin typeface="맑은 고딕"/>
              </a:defRPr>
            </a:pPr>
            <a:r>
              <a:t>· 솔루션 온라인 실시간 데모 세션 주 1회 상설 정례화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3200400"/>
          </a:xfrm>
          <a:prstGeom prst="rect">
            <a:avLst/>
          </a:prstGeom>
          <a:noFill/>
        </p:spPr>
        <p:txBody>
          <a:bodyPr wrap="square">
            <a:spAutoFit/>
          </a:bodyPr>
          <a:lstStyle/>
          <a:p>
            <a:pPr algn="ctr">
              <a:spcAft>
                <a:spcPts val="2400"/>
              </a:spcAft>
              <a:defRPr sz="4200" b="1">
                <a:solidFill>
                  <a:srgbClr val="FFFFFF"/>
                </a:solidFill>
                <a:latin typeface="맑은 고딕"/>
              </a:defRPr>
            </a:pPr>
            <a:r>
              <a:t>경청해 주셔서 감사합니다.</a:t>
            </a:r>
          </a:p>
          <a:p>
            <a:pPr algn="ctr">
              <a:spcAft>
                <a:spcPts val="2400"/>
              </a:spcAft>
              <a:defRPr sz="2000" b="1">
                <a:solidFill>
                  <a:srgbClr val="E87722"/>
                </a:solidFill>
                <a:latin typeface="맑은 고딕"/>
              </a:defRPr>
            </a:pPr>
            <a:r>
              <a:t>Q&amp;A 및 자유 토론</a:t>
            </a:r>
          </a:p>
          <a:p>
            <a:pPr algn="ctr">
              <a:defRPr sz="1400" b="0">
                <a:solidFill>
                  <a:srgbClr val="D2E1FA"/>
                </a:solidFill>
                <a:latin typeface="맑은 고딕"/>
              </a:defRPr>
            </a:pPr>
            <a:r>
              <a:t>문의: 영업기획팀 김민서 대리 (minseo.kim@company.com / 02-1234-5678)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