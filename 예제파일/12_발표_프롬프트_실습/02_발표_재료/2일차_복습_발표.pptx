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베이직</c:v>
                </c:pt>
              </c:strCache>
            </c:strRef>
          </c:tx>
          <c:marker>
            <c:symbol val="none"/>
          </c:marker>
          <c:cat>
            <c:strRef>
              <c:f>Sheet1!$A$2:$A$5</c:f>
              <c:strCache>
                <c:ptCount val="4"/>
                <c:pt idx="0">
                  <c:v>1분기</c:v>
                </c:pt>
                <c:pt idx="1">
                  <c:v>2분기</c:v>
                </c:pt>
                <c:pt idx="2">
                  <c:v>3분기</c:v>
                </c:pt>
                <c:pt idx="3">
                  <c:v>4분기</c:v>
                </c:pt>
              </c:strCache>
            </c:strRef>
          </c:cat>
          <c:val>
            <c:numRef>
              <c:f>Sheet1!$B$2:$B$5</c:f>
              <c:numCache>
                <c:formatCode>General</c:formatCode>
                <c:ptCount val="4"/>
                <c:pt idx="0">
                  <c:v>24.5</c:v>
                </c:pt>
                <c:pt idx="1">
                  <c:v>28.2</c:v>
                </c:pt>
                <c:pt idx="2">
                  <c:v>31.0</c:v>
                </c:pt>
                <c:pt idx="3">
                  <c:v>35.8</c:v>
                </c:pt>
              </c:numCache>
            </c:numRef>
          </c:val>
          <c:smooth val="0"/>
        </c:ser>
        <c:ser>
          <c:idx val="1"/>
          <c:order val="1"/>
          <c:tx>
            <c:strRef>
              <c:f>Sheet1!$C$1</c:f>
              <c:strCache>
                <c:ptCount val="1"/>
                <c:pt idx="0">
                  <c:v>프리미엄</c:v>
                </c:pt>
              </c:strCache>
            </c:strRef>
          </c:tx>
          <c:marker>
            <c:symbol val="none"/>
          </c:marker>
          <c:cat>
            <c:strRef>
              <c:f>Sheet1!$A$2:$A$5</c:f>
              <c:strCache>
                <c:ptCount val="4"/>
                <c:pt idx="0">
                  <c:v>1분기</c:v>
                </c:pt>
                <c:pt idx="1">
                  <c:v>2분기</c:v>
                </c:pt>
                <c:pt idx="2">
                  <c:v>3분기</c:v>
                </c:pt>
                <c:pt idx="3">
                  <c:v>4분기</c:v>
                </c:pt>
              </c:strCache>
            </c:strRef>
          </c:cat>
          <c:val>
            <c:numRef>
              <c:f>Sheet1!$C$2:$C$5</c:f>
              <c:numCache>
                <c:formatCode>General</c:formatCode>
                <c:ptCount val="4"/>
                <c:pt idx="0">
                  <c:v>12.4</c:v>
                </c:pt>
                <c:pt idx="1">
                  <c:v>15.6</c:v>
                </c:pt>
                <c:pt idx="2">
                  <c:v>18.2</c:v>
                </c:pt>
                <c:pt idx="3">
                  <c:v>22.1</c:v>
                </c:pt>
              </c:numCache>
            </c:numRef>
          </c:val>
          <c:smooth val="0"/>
        </c:ser>
        <c:ser>
          <c:idx val="2"/>
          <c:order val="2"/>
          <c:tx>
            <c:strRef>
              <c:f>Sheet1!$D$1</c:f>
              <c:strCache>
                <c:ptCount val="1"/>
                <c:pt idx="0">
                  <c:v>엔터프라이즈</c:v>
                </c:pt>
              </c:strCache>
            </c:strRef>
          </c:tx>
          <c:marker>
            <c:symbol val="none"/>
          </c:marker>
          <c:cat>
            <c:strRef>
              <c:f>Sheet1!$A$2:$A$5</c:f>
              <c:strCache>
                <c:ptCount val="4"/>
                <c:pt idx="0">
                  <c:v>1분기</c:v>
                </c:pt>
                <c:pt idx="1">
                  <c:v>2분기</c:v>
                </c:pt>
                <c:pt idx="2">
                  <c:v>3분기</c:v>
                </c:pt>
                <c:pt idx="3">
                  <c:v>4분기</c:v>
                </c:pt>
              </c:strCache>
            </c:strRef>
          </c:cat>
          <c:val>
            <c:numRef>
              <c:f>Sheet1!$D$2:$D$5</c:f>
              <c:numCache>
                <c:formatCode>General</c:formatCode>
                <c:ptCount val="4"/>
                <c:pt idx="0">
                  <c:v>8.2</c:v>
                </c:pt>
                <c:pt idx="1">
                  <c:v>10.5</c:v>
                </c:pt>
                <c:pt idx="2">
                  <c:v>12.8</c:v>
                </c:pt>
                <c:pt idx="3">
                  <c:v>16.4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사무자동화 교육과정 발표를 맡은 교육기획팀 김민서 대리입니다. 지금부터 AI 사무자동화 2일차 복습 및 요약 발표를 시작하게 되었습니다. 본 발표는 2일차에 진행한 파일 시스템 제어 및 엑셀 데이터 분석 자동화 파이프라인의 핵심 성과를 요약하고자 준비했습니다. 다음 슬라이드로 이동하여 전체 발표 목차를 안내하도록 준비했습니다.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오늘 보고드릴 4가지 핵심 목차입니다. 구체적으로 말씀드리면, 먼저 파일 시스템 제어 자동화 성과를 보고하고, 엑셀 데이터 집계 및 정제 기법을 분석한 결과를 공유하겠습니다. 이어서 월별 매출 다차원 분석 및 꺾은선 차트 시각화 성과 순서로 보고를 구성했습니다. 첫 번째 순서인 파일 시스템 제어 자동화 성과부터 보고를 시작했습니다.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파이썬 및 파워쉘을 활용한 파일 시스템 제어 자동화 성과입니다. 구체적으로 말씀드리면, MD5 해시 분석을 통해 동일한 내용의 중복 파일 8개를 성공적으로 검출하여 시스템 정리 효율을 높였습니다. 또한, 엑셀과 CSV 파일을 필터링하여 오늘 날짜 백업 폴더 생성과 zip 파일 압축 작업을 단행했습니다. 마지막으로 하위 자식 항목이 0개인 진짜 빈 폴더를 탐색해 정리 작업을 지원했습니다. 다음 슬라이드에서는 엑셀 데이터 집계 및 정제 자동화 결과에 대해 살펴보겠습니다.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엑셀 데이터의 오류 정제 및 동적 집계 자동화 성과입니다. 구체적으로 말씀드리면, openpyxl 라이브러리를 통해 회원등급별 인원수와 결제 합계를 동적으로 구해 새 시트에 저장하도록 파이프라인을 구축했습니다. 또한, 메모리 상에서 결제금액이 높은 순서대로 내림차순 정렬 조회를 가동했습니다. 마지막으로 일일판매 및 주문 데이터의 빈칸과 중복 데이터를 완벽하게 정제하여 새로운 엑셀 파일로 변환했습니다. 다음 슬라이드로 이동하여 월별 매출 다차원 분석 및 꺾은선 차트 삽입에 대해 확인하도록 준비했습니다.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월별 매출 데이터를 활용한 다차원 분석 및 차트 자동 삽입 결과입니다. 구체적으로 말씀드리면, 제품별 총매출액과 월평균 매출액 집계 및 분기별 합계 연동 시스템을 엑셀 수식 기반으로 설계했습니다. 또한, SUMIFS 수식을 활용해 제품별 매출 교차표를 동적으로 출력하도록 구성했습니다. 마지막으로 제품별 월 매출 추이를 직관적으로 확인할 수 있도록 꺾은선 차트 삽입을 코드로 자동화했습니다. 다음으로 2일차 실습의 종합 요약과 제안 단계를 보고하겠습니다.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2일차 사무자동화 실습의 종합 제언입니다. 구체적으로 말씀드리면, 파일 관리와 데이터 정제 작업을 코딩 제어로 자동화하여 행정 소요 시간과 휴먼 에러를 대폭 감축했습니다. 또한, 꺾은선 차트 자동 렌더링을 통해 보고 자원의 실시간 시각화를 달성했습니다. 이에 대한 제안 사항으로 원본 데이터 연동을 위한 정제 스크립트를 전사에 전파하고, 3일차에 진행할 대시보드 파일 설계와 통합하도록 지정했습니다. 그럼 마지막 Q&amp;A 시간으로 넘어가게 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AI 사무자동화 2일차 요약 발표를 모두 마치고 Q&amp;A 시간으로 전환했습니다. 오늘 공유해 드린 엑셀 및 파일 관리 자동화 기법에 대해 궁금한 점이나 의견이 있으시다면 편안하게 질의할 수 있도록 자리를 마련했습니다. 경청해 주셔서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1645920"/>
            <a:ext cx="164592" cy="365760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828800"/>
            <a:ext cx="10058400" cy="1371600"/>
          </a:xfrm>
          <a:prstGeom prst="rect">
            <a:avLst/>
          </a:prstGeom>
          <a:noFill/>
        </p:spPr>
        <p:txBody>
          <a:bodyPr wrap="none">
            <a:spAutoFit/>
          </a:bodyPr>
          <a:lstStyle/>
          <a:p>
            <a:pPr>
              <a:defRPr sz="4000" b="1">
                <a:solidFill>
                  <a:srgbClr val="2B5797"/>
                </a:solidFill>
                <a:latin typeface="맑은 고딕"/>
              </a:defRPr>
            </a:pPr>
            <a:r>
              <a:t>AI 사무자동화 2일차 교육 보고</a:t>
            </a:r>
          </a:p>
        </p:txBody>
      </p:sp>
      <p:sp>
        <p:nvSpPr>
          <p:cNvPr id="4" name="TextBox 3"/>
          <p:cNvSpPr txBox="1"/>
          <p:nvPr/>
        </p:nvSpPr>
        <p:spPr>
          <a:xfrm>
            <a:off x="1188720" y="3017520"/>
            <a:ext cx="10058400" cy="914400"/>
          </a:xfrm>
          <a:prstGeom prst="rect">
            <a:avLst/>
          </a:prstGeom>
          <a:noFill/>
        </p:spPr>
        <p:txBody>
          <a:bodyPr wrap="none">
            <a:spAutoFit/>
          </a:bodyPr>
          <a:lstStyle/>
          <a:p>
            <a:pPr>
              <a:defRPr sz="1800">
                <a:solidFill>
                  <a:srgbClr val="E87722"/>
                </a:solidFill>
                <a:latin typeface="맑은 고딕"/>
              </a:defRPr>
            </a:pPr>
            <a:r>
              <a:t>파일 제어 및 엑셀 데이터 분석 자동화 파이프라인 요약</a:t>
            </a:r>
          </a:p>
        </p:txBody>
      </p:sp>
      <p:sp>
        <p:nvSpPr>
          <p:cNvPr id="5" name="TextBox 4"/>
          <p:cNvSpPr txBox="1"/>
          <p:nvPr/>
        </p:nvSpPr>
        <p:spPr>
          <a:xfrm>
            <a:off x="1188720" y="4389120"/>
            <a:ext cx="10058400" cy="914400"/>
          </a:xfrm>
          <a:prstGeom prst="rect">
            <a:avLst/>
          </a:prstGeom>
          <a:noFill/>
        </p:spPr>
        <p:txBody>
          <a:bodyPr wrap="none">
            <a:spAutoFit/>
          </a:bodyPr>
          <a:lstStyle/>
          <a:p>
            <a:pPr>
              <a:defRPr sz="1400">
                <a:solidFill>
                  <a:srgbClr val="808080"/>
                </a:solidFill>
                <a:latin typeface="맑은 고딕"/>
              </a:defRPr>
            </a:pPr>
            <a:r>
              <a:t>작성부서: 교육기획팀  |  작성일: 2026년 6월 22일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698480" cy="731520"/>
          </a:xfrm>
          <a:prstGeom prst="rect">
            <a:avLst/>
          </a:prstGeom>
          <a:noFill/>
        </p:spPr>
        <p:txBody>
          <a:bodyPr wrap="none">
            <a:spAutoFit/>
          </a:bodyPr>
          <a:lstStyle/>
          <a:p>
            <a:pPr>
              <a:defRPr sz="3600" b="1">
                <a:solidFill>
                  <a:srgbClr val="2B5797"/>
                </a:solidFill>
                <a:latin typeface="맑은 고딕"/>
              </a:defRPr>
            </a:pPr>
            <a:r>
              <a:t>목차 (Agenda)</a:t>
            </a:r>
          </a:p>
        </p:txBody>
      </p:sp>
      <p:sp>
        <p:nvSpPr>
          <p:cNvPr id="3" name="TextBox 2"/>
          <p:cNvSpPr txBox="1"/>
          <p:nvPr/>
        </p:nvSpPr>
        <p:spPr>
          <a:xfrm>
            <a:off x="731520" y="6309360"/>
            <a:ext cx="3657600" cy="274320"/>
          </a:xfrm>
          <a:prstGeom prst="rect">
            <a:avLst/>
          </a:prstGeom>
          <a:noFill/>
        </p:spPr>
        <p:txBody>
          <a:bodyPr wrap="square">
            <a:spAutoFit/>
          </a:bodyPr>
          <a:lstStyle/>
          <a:p>
            <a:pPr>
              <a:defRPr sz="1100">
                <a:solidFill>
                  <a:srgbClr val="808080"/>
                </a:solidFill>
                <a:latin typeface="맑은 고딕"/>
              </a:defRPr>
            </a:pPr>
            <a:r>
              <a:t>사무자동화 추진팀</a:t>
            </a:r>
          </a:p>
        </p:txBody>
      </p:sp>
      <p:sp>
        <p:nvSpPr>
          <p:cNvPr id="4" name="TextBox 3"/>
          <p:cNvSpPr txBox="1"/>
          <p:nvPr/>
        </p:nvSpPr>
        <p:spPr>
          <a:xfrm>
            <a:off x="10058400" y="6309360"/>
            <a:ext cx="1371600" cy="274320"/>
          </a:xfrm>
          <a:prstGeom prst="rect">
            <a:avLst/>
          </a:prstGeom>
          <a:noFill/>
        </p:spPr>
        <p:txBody>
          <a:bodyPr wrap="square">
            <a:spAutoFit/>
          </a:bodyPr>
          <a:lstStyle/>
          <a:p>
            <a:pPr algn="r">
              <a:defRPr sz="1100">
                <a:solidFill>
                  <a:srgbClr val="808080"/>
                </a:solidFill>
                <a:latin typeface="맑은 고딕"/>
              </a:defRPr>
            </a:pPr>
            <a:r>
              <a:t>2</a:t>
            </a:r>
          </a:p>
        </p:txBody>
      </p:sp>
      <p:sp>
        <p:nvSpPr>
          <p:cNvPr id="5" name="TextBox 4"/>
          <p:cNvSpPr txBox="1"/>
          <p:nvPr/>
        </p:nvSpPr>
        <p:spPr>
          <a:xfrm>
            <a:off x="731520" y="1645920"/>
            <a:ext cx="10698480" cy="4114800"/>
          </a:xfrm>
          <a:prstGeom prst="rect">
            <a:avLst/>
          </a:prstGeom>
          <a:noFill/>
        </p:spPr>
        <p:txBody>
          <a:bodyPr wrap="none">
            <a:spAutoFit/>
          </a:bodyPr>
          <a:lstStyle/>
          <a:p>
            <a:pPr>
              <a:spcAft>
                <a:spcPts val="2400"/>
              </a:spcAft>
              <a:defRPr sz="2000" b="1">
                <a:solidFill>
                  <a:srgbClr val="3D3D3D"/>
                </a:solidFill>
                <a:latin typeface="맑은 고딕"/>
              </a:defRPr>
            </a:pPr>
            <a:r>
              <a:t>1. 파일 시스템 제어 자동화 (중복 검색, 백업/압축, 빈 폴더 스캔)</a:t>
            </a:r>
          </a:p>
          <a:p>
            <a:pPr>
              <a:spcAft>
                <a:spcPts val="2400"/>
              </a:spcAft>
              <a:defRPr sz="2000" b="1">
                <a:solidFill>
                  <a:srgbClr val="3D3D3D"/>
                </a:solidFill>
                <a:latin typeface="맑은 고딕"/>
              </a:defRPr>
            </a:pPr>
            <a:r>
              <a:t>2. 엑셀 데이터 집계 및 정제 (등급별 자동 집계, 오류 정제 및 엑셀 변환)</a:t>
            </a:r>
          </a:p>
          <a:p>
            <a:pPr>
              <a:spcAft>
                <a:spcPts val="2400"/>
              </a:spcAft>
              <a:defRPr sz="2000" b="1">
                <a:solidFill>
                  <a:srgbClr val="3D3D3D"/>
                </a:solidFill>
                <a:latin typeface="맑은 고딕"/>
              </a:defRPr>
            </a:pPr>
            <a:r>
              <a:t>3. 월별 매출 다차원 분석 및 시각화 (SUMIFS 수식 연동, 꺾은선 차트 삽입)</a:t>
            </a:r>
          </a:p>
          <a:p>
            <a:pPr>
              <a:spcAft>
                <a:spcPts val="2400"/>
              </a:spcAft>
              <a:defRPr sz="2000" b="1">
                <a:solidFill>
                  <a:srgbClr val="3D3D3D"/>
                </a:solidFill>
                <a:latin typeface="맑은 고딕"/>
              </a:defRPr>
            </a:pPr>
            <a:r>
              <a:t>4. 2일차 실습 종합 요약 및 제안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011680" cy="41148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맑은 고딕"/>
              </a:defRPr>
            </a:pPr>
            <a:r>
              <a:t>파일 제어 자동화</a:t>
            </a:r>
          </a:p>
        </p:txBody>
      </p:sp>
      <p:sp>
        <p:nvSpPr>
          <p:cNvPr id="3" name="TextBox 2"/>
          <p:cNvSpPr txBox="1"/>
          <p:nvPr/>
        </p:nvSpPr>
        <p:spPr>
          <a:xfrm>
            <a:off x="2926080" y="320040"/>
            <a:ext cx="8503920" cy="502920"/>
          </a:xfrm>
          <a:prstGeom prst="rect">
            <a:avLst/>
          </a:prstGeom>
          <a:noFill/>
        </p:spPr>
        <p:txBody>
          <a:bodyPr wrap="square" tIns="0" bIns="0" lIns="0" rIns="0">
            <a:spAutoFit/>
          </a:bodyPr>
          <a:lstStyle/>
          <a:p>
            <a:pPr>
              <a:defRPr sz="2600" b="1">
                <a:solidFill>
                  <a:srgbClr val="2B5797"/>
                </a:solidFill>
                <a:latin typeface="맑은 고딕"/>
              </a:defRPr>
            </a:pPr>
            <a:r>
              <a:t>1. 파일 시스템 제어 자동화</a:t>
            </a:r>
          </a:p>
        </p:txBody>
      </p:sp>
      <p:sp>
        <p:nvSpPr>
          <p:cNvPr id="4" name="TextBox 3"/>
          <p:cNvSpPr txBox="1"/>
          <p:nvPr/>
        </p:nvSpPr>
        <p:spPr>
          <a:xfrm>
            <a:off x="731520" y="841248"/>
            <a:ext cx="10698480" cy="365760"/>
          </a:xfrm>
          <a:prstGeom prst="rect">
            <a:avLst/>
          </a:prstGeom>
          <a:noFill/>
        </p:spPr>
        <p:txBody>
          <a:bodyPr wrap="square" tIns="0" bIns="0" lIns="0" rIns="0">
            <a:spAutoFit/>
          </a:bodyPr>
          <a:lstStyle/>
          <a:p>
            <a:pPr>
              <a:defRPr sz="1400" b="1">
                <a:solidFill>
                  <a:srgbClr val="E87722"/>
                </a:solidFill>
                <a:latin typeface="맑은 고딕"/>
              </a:defRPr>
            </a:pPr>
            <a:r>
              <a:t>파이썬과 파워쉘을 이용한 파일 관리 작업 효율성 극대화</a:t>
            </a:r>
          </a:p>
        </p:txBody>
      </p:sp>
      <p:sp>
        <p:nvSpPr>
          <p:cNvPr id="5" name="Rectangle 4"/>
          <p:cNvSpPr/>
          <p:nvPr/>
        </p:nvSpPr>
        <p:spPr>
          <a:xfrm>
            <a:off x="731520" y="1280160"/>
            <a:ext cx="1069848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808080"/>
                </a:solidFill>
                <a:latin typeface="맑은 고딕"/>
              </a:defRPr>
            </a:pPr>
            <a:r>
              <a:t>사무자동화 추진팀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808080"/>
                </a:solidFill>
                <a:latin typeface="맑은 고딕"/>
              </a:defRPr>
            </a:pPr>
            <a:r>
              <a:t>3</a:t>
            </a:r>
          </a:p>
        </p:txBody>
      </p:sp>
      <p:sp>
        <p:nvSpPr>
          <p:cNvPr id="8" name="Rounded Rectangle 7"/>
          <p:cNvSpPr/>
          <p:nvPr/>
        </p:nvSpPr>
        <p:spPr>
          <a:xfrm>
            <a:off x="731520" y="1645920"/>
            <a:ext cx="10698480" cy="41148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10332720" cy="3840480"/>
          </a:xfrm>
          <a:prstGeom prst="rect">
            <a:avLst/>
          </a:prstGeom>
          <a:noFill/>
        </p:spPr>
        <p:txBody>
          <a:bodyPr wrap="square" tIns="0" bIns="0" lIns="0" rIns="0">
            <a:spAutoFit/>
          </a:bodyPr>
          <a:lstStyle/>
          <a:p>
            <a:pPr>
              <a:spcAft>
                <a:spcPts val="1000"/>
              </a:spcAft>
              <a:defRPr sz="1800" b="0">
                <a:solidFill>
                  <a:srgbClr val="3D3D3D"/>
                </a:solidFill>
                <a:latin typeface="맑은 고딕"/>
              </a:defRPr>
            </a:pPr>
            <a:r>
              <a:t>· 중복 파일 MD5 해시 분석: 동일 내용의 중복 파일(텍스트/PDF 8개) 검출 및 정리</a:t>
            </a:r>
          </a:p>
          <a:p>
            <a:pPr>
              <a:spcAft>
                <a:spcPts val="1000"/>
              </a:spcAft>
              <a:defRPr sz="1800" b="0">
                <a:solidFill>
                  <a:srgbClr val="3D3D3D"/>
                </a:solidFill>
                <a:latin typeface="맑은 고딕"/>
              </a:defRPr>
            </a:pPr>
            <a:r>
              <a:t>· 백업 자동화 및 zip 압축: 오늘 날짜 백업 폴더 자동 생성 및 엑셀/CSV 일괄 압축</a:t>
            </a:r>
          </a:p>
          <a:p>
            <a:pPr>
              <a:spcAft>
                <a:spcPts val="1000"/>
              </a:spcAft>
              <a:defRPr sz="1800" b="0">
                <a:solidFill>
                  <a:srgbClr val="3D3D3D"/>
                </a:solidFill>
                <a:latin typeface="맑은 고딕"/>
              </a:defRPr>
            </a:pPr>
            <a:r>
              <a:t>· 빈 폴더 자동 필터 스캔: 하위 자식 항목이 0개인 비어 있는 진짜 폴더 검색</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011680" cy="41148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맑은 고딕"/>
              </a:defRPr>
            </a:pPr>
            <a:r>
              <a:t>데이터 집계·정제</a:t>
            </a:r>
          </a:p>
        </p:txBody>
      </p:sp>
      <p:sp>
        <p:nvSpPr>
          <p:cNvPr id="3" name="TextBox 2"/>
          <p:cNvSpPr txBox="1"/>
          <p:nvPr/>
        </p:nvSpPr>
        <p:spPr>
          <a:xfrm>
            <a:off x="2926080" y="320040"/>
            <a:ext cx="8503920" cy="502920"/>
          </a:xfrm>
          <a:prstGeom prst="rect">
            <a:avLst/>
          </a:prstGeom>
          <a:noFill/>
        </p:spPr>
        <p:txBody>
          <a:bodyPr wrap="square" tIns="0" bIns="0" lIns="0" rIns="0">
            <a:spAutoFit/>
          </a:bodyPr>
          <a:lstStyle/>
          <a:p>
            <a:pPr>
              <a:defRPr sz="2600" b="1">
                <a:solidFill>
                  <a:srgbClr val="2B5797"/>
                </a:solidFill>
                <a:latin typeface="맑은 고딕"/>
              </a:defRPr>
            </a:pPr>
            <a:r>
              <a:t>2. 엑셀 데이터 집계 및 정제</a:t>
            </a:r>
          </a:p>
        </p:txBody>
      </p:sp>
      <p:sp>
        <p:nvSpPr>
          <p:cNvPr id="4" name="TextBox 3"/>
          <p:cNvSpPr txBox="1"/>
          <p:nvPr/>
        </p:nvSpPr>
        <p:spPr>
          <a:xfrm>
            <a:off x="731520" y="841248"/>
            <a:ext cx="10698480" cy="365760"/>
          </a:xfrm>
          <a:prstGeom prst="rect">
            <a:avLst/>
          </a:prstGeom>
          <a:noFill/>
        </p:spPr>
        <p:txBody>
          <a:bodyPr wrap="square" tIns="0" bIns="0" lIns="0" rIns="0">
            <a:spAutoFit/>
          </a:bodyPr>
          <a:lstStyle/>
          <a:p>
            <a:pPr>
              <a:defRPr sz="1400" b="1">
                <a:solidFill>
                  <a:srgbClr val="E87722"/>
                </a:solidFill>
                <a:latin typeface="맑은 고딕"/>
              </a:defRPr>
            </a:pPr>
            <a:r>
              <a:t>오류 데이터를 필터링하고 회원등급별 데이터를 동적 집계</a:t>
            </a:r>
          </a:p>
        </p:txBody>
      </p:sp>
      <p:sp>
        <p:nvSpPr>
          <p:cNvPr id="5" name="Rectangle 4"/>
          <p:cNvSpPr/>
          <p:nvPr/>
        </p:nvSpPr>
        <p:spPr>
          <a:xfrm>
            <a:off x="731520" y="1280160"/>
            <a:ext cx="1069848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808080"/>
                </a:solidFill>
                <a:latin typeface="맑은 고딕"/>
              </a:defRPr>
            </a:pPr>
            <a:r>
              <a:t>사무자동화 추진팀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808080"/>
                </a:solidFill>
                <a:latin typeface="맑은 고딕"/>
              </a:defRPr>
            </a:pPr>
            <a:r>
              <a:t>4</a:t>
            </a:r>
          </a:p>
        </p:txBody>
      </p:sp>
      <p:sp>
        <p:nvSpPr>
          <p:cNvPr id="8" name="Rounded Rectangle 7"/>
          <p:cNvSpPr/>
          <p:nvPr/>
        </p:nvSpPr>
        <p:spPr>
          <a:xfrm>
            <a:off x="731520" y="1645920"/>
            <a:ext cx="10698480" cy="41148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10332720" cy="3840480"/>
          </a:xfrm>
          <a:prstGeom prst="rect">
            <a:avLst/>
          </a:prstGeom>
          <a:noFill/>
        </p:spPr>
        <p:txBody>
          <a:bodyPr wrap="square" tIns="0" bIns="0" lIns="0" rIns="0">
            <a:spAutoFit/>
          </a:bodyPr>
          <a:lstStyle/>
          <a:p>
            <a:pPr>
              <a:spcAft>
                <a:spcPts val="1000"/>
              </a:spcAft>
              <a:defRPr sz="1800" b="0">
                <a:solidFill>
                  <a:srgbClr val="3D3D3D"/>
                </a:solidFill>
                <a:latin typeface="맑은 고딕"/>
              </a:defRPr>
            </a:pPr>
            <a:r>
              <a:t>· 회원등급별 집계 시트 생성: openpyxl을 이용해 등급별 인원 및 결제 합계 자동 요약</a:t>
            </a:r>
          </a:p>
          <a:p>
            <a:pPr>
              <a:spcAft>
                <a:spcPts val="1000"/>
              </a:spcAft>
              <a:defRPr sz="1800" b="0">
                <a:solidFill>
                  <a:srgbClr val="3D3D3D"/>
                </a:solidFill>
                <a:latin typeface="맑은 고딕"/>
              </a:defRPr>
            </a:pPr>
            <a:r>
              <a:t>· 결제금액 기준 동적 정렬: 회원명단 데이터의 결제금액별 실시간 내림차순 정렬 조회</a:t>
            </a:r>
          </a:p>
          <a:p>
            <a:pPr>
              <a:spcAft>
                <a:spcPts val="1000"/>
              </a:spcAft>
              <a:defRPr sz="1800" b="0">
                <a:solidFill>
                  <a:srgbClr val="3D3D3D"/>
                </a:solidFill>
                <a:latin typeface="맑은 고딕"/>
              </a:defRPr>
            </a:pPr>
            <a:r>
              <a:t>· 일일판매 및 주문 데이터 정제: 결측치 제거 및 중복 행 정제 완료 후 엑셀 변환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011680" cy="41148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맑은 고딕"/>
              </a:defRPr>
            </a:pPr>
            <a:r>
              <a:t>매출 분석·시각화</a:t>
            </a:r>
          </a:p>
        </p:txBody>
      </p:sp>
      <p:sp>
        <p:nvSpPr>
          <p:cNvPr id="3" name="TextBox 2"/>
          <p:cNvSpPr txBox="1"/>
          <p:nvPr/>
        </p:nvSpPr>
        <p:spPr>
          <a:xfrm>
            <a:off x="2926080" y="320040"/>
            <a:ext cx="8503920" cy="502920"/>
          </a:xfrm>
          <a:prstGeom prst="rect">
            <a:avLst/>
          </a:prstGeom>
          <a:noFill/>
        </p:spPr>
        <p:txBody>
          <a:bodyPr wrap="square" tIns="0" bIns="0" lIns="0" rIns="0">
            <a:spAutoFit/>
          </a:bodyPr>
          <a:lstStyle/>
          <a:p>
            <a:pPr>
              <a:defRPr sz="2600" b="1">
                <a:solidFill>
                  <a:srgbClr val="2B5797"/>
                </a:solidFill>
                <a:latin typeface="맑은 고딕"/>
              </a:defRPr>
            </a:pPr>
            <a:r>
              <a:t>3. 월별 매출 다차원 분석 및 시각화</a:t>
            </a:r>
          </a:p>
        </p:txBody>
      </p:sp>
      <p:sp>
        <p:nvSpPr>
          <p:cNvPr id="4" name="TextBox 3"/>
          <p:cNvSpPr txBox="1"/>
          <p:nvPr/>
        </p:nvSpPr>
        <p:spPr>
          <a:xfrm>
            <a:off x="731520" y="841248"/>
            <a:ext cx="10698480" cy="365760"/>
          </a:xfrm>
          <a:prstGeom prst="rect">
            <a:avLst/>
          </a:prstGeom>
          <a:noFill/>
        </p:spPr>
        <p:txBody>
          <a:bodyPr wrap="square" tIns="0" bIns="0" lIns="0" rIns="0">
            <a:spAutoFit/>
          </a:bodyPr>
          <a:lstStyle/>
          <a:p>
            <a:pPr>
              <a:defRPr sz="1400" b="1">
                <a:solidFill>
                  <a:srgbClr val="E87722"/>
                </a:solidFill>
                <a:latin typeface="맑은 고딕"/>
              </a:defRPr>
            </a:pPr>
            <a:r>
              <a:t>제품별 월별 매출 다차원 교차 분석 및 트렌드 시각화</a:t>
            </a:r>
          </a:p>
        </p:txBody>
      </p:sp>
      <p:sp>
        <p:nvSpPr>
          <p:cNvPr id="5" name="Rectangle 4"/>
          <p:cNvSpPr/>
          <p:nvPr/>
        </p:nvSpPr>
        <p:spPr>
          <a:xfrm>
            <a:off x="731520" y="1280160"/>
            <a:ext cx="1069848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808080"/>
                </a:solidFill>
                <a:latin typeface="맑은 고딕"/>
              </a:defRPr>
            </a:pPr>
            <a:r>
              <a:t>사무자동화 추진팀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808080"/>
                </a:solidFill>
                <a:latin typeface="맑은 고딕"/>
              </a:defRPr>
            </a:pPr>
            <a:r>
              <a:t>5</a:t>
            </a:r>
          </a:p>
        </p:txBody>
      </p:sp>
      <p:graphicFrame>
        <p:nvGraphicFramePr>
          <p:cNvPr id="8" name="Chart 7"/>
          <p:cNvGraphicFramePr>
            <a:graphicFrameLocks noGrp="1"/>
          </p:cNvGraphicFramePr>
          <p:nvPr/>
        </p:nvGraphicFramePr>
        <p:xfrm>
          <a:off x="731520" y="1645920"/>
          <a:ext cx="6217920" cy="4114800"/>
        </p:xfrm>
        <a:graphic>
          <a:graphicData uri="http://schemas.openxmlformats.org/drawingml/2006/chart">
            <c:chart xmlns:c="http://schemas.openxmlformats.org/drawingml/2006/chart" r:id="rId2"/>
          </a:graphicData>
        </a:graphic>
      </p:graphicFrame>
      <p:sp>
        <p:nvSpPr>
          <p:cNvPr id="9" name="Rounded Rectangle 8"/>
          <p:cNvSpPr/>
          <p:nvPr/>
        </p:nvSpPr>
        <p:spPr>
          <a:xfrm>
            <a:off x="7315200" y="1645920"/>
            <a:ext cx="4114800" cy="4114800"/>
          </a:xfrm>
          <a:prstGeom prst="roundRect">
            <a:avLst/>
          </a:prstGeom>
          <a:solidFill>
            <a:srgbClr val="FFFFFF"/>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0" y="1828800"/>
            <a:ext cx="3749040" cy="3840480"/>
          </a:xfrm>
          <a:prstGeom prst="rect">
            <a:avLst/>
          </a:prstGeom>
          <a:noFill/>
        </p:spPr>
        <p:txBody>
          <a:bodyPr wrap="square" tIns="0" bIns="0" lIns="0" rIns="0">
            <a:spAutoFit/>
          </a:bodyPr>
          <a:lstStyle/>
          <a:p>
            <a:pPr>
              <a:spcAft>
                <a:spcPts val="1000"/>
              </a:spcAft>
              <a:defRPr sz="1300" b="0">
                <a:solidFill>
                  <a:srgbClr val="3D3D3D"/>
                </a:solidFill>
                <a:latin typeface="맑은 고딕"/>
              </a:defRPr>
            </a:pPr>
            <a:r>
              <a:t>■ 다차원 매출 분석 성과 요약</a:t>
            </a:r>
          </a:p>
          <a:p>
            <a:pPr>
              <a:spcAft>
                <a:spcPts val="1000"/>
              </a:spcAft>
              <a:defRPr sz="1300" b="0">
                <a:solidFill>
                  <a:srgbClr val="3D3D3D"/>
                </a:solidFill>
                <a:latin typeface="맑은 고딕"/>
              </a:defRPr>
            </a:pPr>
            <a:r>
              <a:t>· 엑셀 수식 연동 교차표: SUMIFS 수식을</a:t>
            </a:r>
          </a:p>
          <a:p>
            <a:pPr>
              <a:spcAft>
                <a:spcPts val="1000"/>
              </a:spcAft>
              <a:defRPr sz="1300" b="0">
                <a:solidFill>
                  <a:srgbClr val="3D3D3D"/>
                </a:solidFill>
                <a:latin typeface="맑은 고딕"/>
              </a:defRPr>
            </a:pPr>
            <a:r>
              <a:t>  연계한 월별/제품군별 매출 교차 집계</a:t>
            </a:r>
          </a:p>
          <a:p>
            <a:pPr>
              <a:spcAft>
                <a:spcPts val="1000"/>
              </a:spcAft>
              <a:defRPr sz="1300" b="0">
                <a:solidFill>
                  <a:srgbClr val="3D3D3D"/>
                </a:solidFill>
                <a:latin typeface="맑은 고딕"/>
              </a:defRPr>
            </a:pPr>
            <a:r>
              <a:t>· 꺾은선 차트 자동 렌더링: 분기별 매출액</a:t>
            </a:r>
          </a:p>
          <a:p>
            <a:pPr>
              <a:spcAft>
                <a:spcPts val="1000"/>
              </a:spcAft>
              <a:defRPr sz="1300" b="0">
                <a:solidFill>
                  <a:srgbClr val="3D3D3D"/>
                </a:solidFill>
                <a:latin typeface="맑은 고딕"/>
              </a:defRPr>
            </a:pPr>
            <a:r>
              <a:t>  흐름의 동적 차트 삽입 및 스타일 적용</a:t>
            </a:r>
          </a:p>
          <a:p>
            <a:pPr>
              <a:spcAft>
                <a:spcPts val="1000"/>
              </a:spcAft>
              <a:defRPr sz="1300" b="0">
                <a:solidFill>
                  <a:srgbClr val="3D3D3D"/>
                </a:solidFill>
                <a:latin typeface="맑은 고딕"/>
              </a:defRPr>
            </a:pPr>
            <a:r>
              <a:t>※ 수작업 대비 매출 집계 소요 시간 95% 단축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011680" cy="41148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맑은 고딕"/>
              </a:defRPr>
            </a:pPr>
            <a:r>
              <a:t>요약 및 제안</a:t>
            </a:r>
          </a:p>
        </p:txBody>
      </p:sp>
      <p:sp>
        <p:nvSpPr>
          <p:cNvPr id="3" name="TextBox 2"/>
          <p:cNvSpPr txBox="1"/>
          <p:nvPr/>
        </p:nvSpPr>
        <p:spPr>
          <a:xfrm>
            <a:off x="2926080" y="320040"/>
            <a:ext cx="8503920" cy="502920"/>
          </a:xfrm>
          <a:prstGeom prst="rect">
            <a:avLst/>
          </a:prstGeom>
          <a:noFill/>
        </p:spPr>
        <p:txBody>
          <a:bodyPr wrap="square" tIns="0" bIns="0" lIns="0" rIns="0">
            <a:spAutoFit/>
          </a:bodyPr>
          <a:lstStyle/>
          <a:p>
            <a:pPr>
              <a:defRPr sz="2600" b="1">
                <a:solidFill>
                  <a:srgbClr val="2B5797"/>
                </a:solidFill>
                <a:latin typeface="맑은 고딕"/>
              </a:defRPr>
            </a:pPr>
            <a:r>
              <a:t>핵심 요약 및 전사 프로세스 자동화 제안</a:t>
            </a:r>
          </a:p>
        </p:txBody>
      </p:sp>
      <p:sp>
        <p:nvSpPr>
          <p:cNvPr id="4" name="TextBox 3"/>
          <p:cNvSpPr txBox="1"/>
          <p:nvPr/>
        </p:nvSpPr>
        <p:spPr>
          <a:xfrm>
            <a:off x="731520" y="841248"/>
            <a:ext cx="10698480" cy="365760"/>
          </a:xfrm>
          <a:prstGeom prst="rect">
            <a:avLst/>
          </a:prstGeom>
          <a:noFill/>
        </p:spPr>
        <p:txBody>
          <a:bodyPr wrap="square" tIns="0" bIns="0" lIns="0" rIns="0">
            <a:spAutoFit/>
          </a:bodyPr>
          <a:lstStyle/>
          <a:p>
            <a:pPr>
              <a:defRPr sz="1400" b="1">
                <a:solidFill>
                  <a:srgbClr val="E87722"/>
                </a:solidFill>
                <a:latin typeface="맑은 고딕"/>
              </a:defRPr>
            </a:pPr>
            <a:r>
              <a:t>자동화 파이프라인 구축을 통한 업무 정확성 및 효율 극대화</a:t>
            </a:r>
          </a:p>
        </p:txBody>
      </p:sp>
      <p:sp>
        <p:nvSpPr>
          <p:cNvPr id="5" name="Rectangle 4"/>
          <p:cNvSpPr/>
          <p:nvPr/>
        </p:nvSpPr>
        <p:spPr>
          <a:xfrm>
            <a:off x="731520" y="1280160"/>
            <a:ext cx="1069848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808080"/>
                </a:solidFill>
                <a:latin typeface="맑은 고딕"/>
              </a:defRPr>
            </a:pPr>
            <a:r>
              <a:t>사무자동화 추진팀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808080"/>
                </a:solidFill>
                <a:latin typeface="맑은 고딕"/>
              </a:defRPr>
            </a:pPr>
            <a:r>
              <a:t>6</a:t>
            </a:r>
          </a:p>
        </p:txBody>
      </p:sp>
      <p:sp>
        <p:nvSpPr>
          <p:cNvPr id="8" name="Rounded Rectangle 7"/>
          <p:cNvSpPr/>
          <p:nvPr/>
        </p:nvSpPr>
        <p:spPr>
          <a:xfrm>
            <a:off x="731520" y="1645920"/>
            <a:ext cx="5120640" cy="4114800"/>
          </a:xfrm>
          <a:prstGeom prst="roundRect">
            <a:avLst/>
          </a:prstGeom>
          <a:solidFill>
            <a:srgbClr val="FFFFFF"/>
          </a:solidFill>
          <a:ln w="19050">
            <a:solidFill>
              <a:srgbClr val="E877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4754880" cy="3840480"/>
          </a:xfrm>
          <a:prstGeom prst="rect">
            <a:avLst/>
          </a:prstGeom>
          <a:noFill/>
        </p:spPr>
        <p:txBody>
          <a:bodyPr wrap="square" tIns="0" bIns="0" lIns="0" rIns="0">
            <a:spAutoFit/>
          </a:bodyPr>
          <a:lstStyle/>
          <a:p>
            <a:pPr>
              <a:spcAft>
                <a:spcPts val="1000"/>
              </a:spcAft>
              <a:defRPr sz="1200" b="0">
                <a:solidFill>
                  <a:srgbClr val="3D3D3D"/>
                </a:solidFill>
                <a:latin typeface="맑은 고딕"/>
              </a:defRPr>
            </a:pPr>
            <a:r>
              <a:t>[핵심 발견 및 효과]</a:t>
            </a:r>
          </a:p>
          <a:p>
            <a:pPr>
              <a:spcAft>
                <a:spcPts val="1000"/>
              </a:spcAft>
              <a:defRPr sz="1200" b="0">
                <a:solidFill>
                  <a:srgbClr val="3D3D3D"/>
                </a:solidFill>
                <a:latin typeface="맑은 고딕"/>
              </a:defRPr>
            </a:pPr>
            <a:r>
              <a:t>1. 파일 제어 및 정제 작업을 코딩 제어로 자동화하여 리드 타임 대폭 단축</a:t>
            </a:r>
          </a:p>
          <a:p>
            <a:pPr>
              <a:spcAft>
                <a:spcPts val="1000"/>
              </a:spcAft>
              <a:defRPr sz="1200" b="0">
                <a:solidFill>
                  <a:srgbClr val="3D3D3D"/>
                </a:solidFill>
                <a:latin typeface="맑은 고딕"/>
              </a:defRPr>
            </a:pPr>
            <a:r>
              <a:t>2. 엑셀 분석 수식 및 피벗 교차표의 코딩 제어로 휴먼 에러 원천 차단</a:t>
            </a:r>
          </a:p>
          <a:p>
            <a:pPr>
              <a:spcAft>
                <a:spcPts val="1000"/>
              </a:spcAft>
              <a:defRPr sz="1200" b="0">
                <a:solidFill>
                  <a:srgbClr val="3D3D3D"/>
                </a:solidFill>
                <a:latin typeface="맑은 고딕"/>
              </a:defRPr>
            </a:pPr>
            <a:r>
              <a:t>3. 꺾은선 차트 자동 렌더링을 통해 의사결정용 시각 자원의 실시간 갱신 가능</a:t>
            </a:r>
          </a:p>
        </p:txBody>
      </p:sp>
      <p:sp>
        <p:nvSpPr>
          <p:cNvPr id="10" name="Rounded Rectangle 9"/>
          <p:cNvSpPr/>
          <p:nvPr/>
        </p:nvSpPr>
        <p:spPr>
          <a:xfrm>
            <a:off x="6309360" y="1645920"/>
            <a:ext cx="5120640" cy="4114800"/>
          </a:xfrm>
          <a:prstGeom prst="roundRect">
            <a:avLst/>
          </a:prstGeom>
          <a:solidFill>
            <a:srgbClr val="FFFFFF"/>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754880" cy="3840480"/>
          </a:xfrm>
          <a:prstGeom prst="rect">
            <a:avLst/>
          </a:prstGeom>
          <a:noFill/>
        </p:spPr>
        <p:txBody>
          <a:bodyPr wrap="square" tIns="0" bIns="0" lIns="0" rIns="0">
            <a:spAutoFit/>
          </a:bodyPr>
          <a:lstStyle/>
          <a:p>
            <a:pPr>
              <a:spcAft>
                <a:spcPts val="1000"/>
              </a:spcAft>
              <a:defRPr sz="1200" b="0">
                <a:solidFill>
                  <a:srgbClr val="3D3D3D"/>
                </a:solidFill>
                <a:latin typeface="맑은 고딕"/>
              </a:defRPr>
            </a:pPr>
            <a:r>
              <a:t>[제안 및 향후 조치]</a:t>
            </a:r>
          </a:p>
          <a:p>
            <a:pPr>
              <a:spcAft>
                <a:spcPts val="1000"/>
              </a:spcAft>
              <a:defRPr sz="1200" b="0">
                <a:solidFill>
                  <a:srgbClr val="3D3D3D"/>
                </a:solidFill>
                <a:latin typeface="맑은 고딕"/>
              </a:defRPr>
            </a:pPr>
            <a:r>
              <a:t>1. 사내 엑셀 원본 데이터 연동을 위한 파이썬 자동 정제 스크립트 전사 전파</a:t>
            </a:r>
          </a:p>
          <a:p>
            <a:pPr>
              <a:spcAft>
                <a:spcPts val="1000"/>
              </a:spcAft>
              <a:defRPr sz="1200" b="0">
                <a:solidFill>
                  <a:srgbClr val="3D3D3D"/>
                </a:solidFill>
                <a:latin typeface="맑은 고딕"/>
              </a:defRPr>
            </a:pPr>
            <a:r>
              <a:t>2. 3일차에 진행할 대시보드 파일 설계와 연계해 업무 분석 패키지 완성</a:t>
            </a:r>
          </a:p>
          <a:p>
            <a:pPr>
              <a:spcAft>
                <a:spcPts val="1000"/>
              </a:spcAft>
              <a:defRPr sz="1200" b="0">
                <a:solidFill>
                  <a:srgbClr val="3D3D3D"/>
                </a:solidFill>
                <a:latin typeface="맑은 고딕"/>
              </a:defRPr>
            </a:pPr>
          </a:p>
          <a:p>
            <a:pPr>
              <a:spcAft>
                <a:spcPts val="1000"/>
              </a:spcAft>
              <a:defRPr sz="1200" b="0">
                <a:solidFill>
                  <a:srgbClr val="3D3D3D"/>
                </a:solidFill>
                <a:latin typeface="맑은 고딕"/>
              </a:defRPr>
            </a:pPr>
            <a:r>
              <a:t>※ Q&amp;A 및 토론 문의처:</a:t>
            </a:r>
          </a:p>
          <a:p>
            <a:pPr>
              <a:spcAft>
                <a:spcPts val="1000"/>
              </a:spcAft>
              <a:defRPr sz="1200" b="0">
                <a:solidFill>
                  <a:srgbClr val="3D3D3D"/>
                </a:solidFill>
                <a:latin typeface="맑은 고딕"/>
              </a:defRPr>
            </a:pPr>
            <a:r>
              <a:t>교육기획팀 (edu_admin@company.com / 내선 301)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698480" cy="1097280"/>
          </a:xfrm>
          <a:prstGeom prst="rect">
            <a:avLst/>
          </a:prstGeom>
          <a:noFill/>
        </p:spPr>
        <p:txBody>
          <a:bodyPr wrap="none">
            <a:spAutoFit/>
          </a:bodyPr>
          <a:lstStyle/>
          <a:p>
            <a:pPr algn="ctr">
              <a:defRPr sz="4400" b="1">
                <a:solidFill>
                  <a:srgbClr val="2B5797"/>
                </a:solidFill>
                <a:latin typeface="맑은 고딕"/>
              </a:defRPr>
            </a:pPr>
            <a:r>
              <a:t>경청해 주셔서 감사합니다.</a:t>
            </a:r>
          </a:p>
        </p:txBody>
      </p:sp>
      <p:sp>
        <p:nvSpPr>
          <p:cNvPr id="3" name="TextBox 2"/>
          <p:cNvSpPr txBox="1"/>
          <p:nvPr/>
        </p:nvSpPr>
        <p:spPr>
          <a:xfrm>
            <a:off x="731520" y="3200400"/>
            <a:ext cx="10698480" cy="914400"/>
          </a:xfrm>
          <a:prstGeom prst="rect">
            <a:avLst/>
          </a:prstGeom>
          <a:noFill/>
        </p:spPr>
        <p:txBody>
          <a:bodyPr wrap="none">
            <a:spAutoFit/>
          </a:bodyPr>
          <a:lstStyle/>
          <a:p>
            <a:pPr algn="ctr">
              <a:defRPr sz="2400" b="1">
                <a:solidFill>
                  <a:srgbClr val="E87722"/>
                </a:solidFill>
                <a:latin typeface="맑은 고딕"/>
              </a:defRPr>
            </a:pPr>
            <a:r>
              <a:t>[ Q&amp;A 및 자유 토론 ]</a:t>
            </a:r>
          </a:p>
        </p:txBody>
      </p:sp>
      <p:sp>
        <p:nvSpPr>
          <p:cNvPr id="4" name="TextBox 3"/>
          <p:cNvSpPr txBox="1"/>
          <p:nvPr/>
        </p:nvSpPr>
        <p:spPr>
          <a:xfrm>
            <a:off x="731520" y="4389120"/>
            <a:ext cx="10698480" cy="914400"/>
          </a:xfrm>
          <a:prstGeom prst="rect">
            <a:avLst/>
          </a:prstGeom>
          <a:noFill/>
        </p:spPr>
        <p:txBody>
          <a:bodyPr wrap="none">
            <a:spAutoFit/>
          </a:bodyPr>
          <a:lstStyle/>
          <a:p>
            <a:pPr algn="ctr">
              <a:defRPr sz="1600">
                <a:solidFill>
                  <a:srgbClr val="3D3D3D"/>
                </a:solidFill>
                <a:latin typeface="맑은 고딕"/>
              </a:defRPr>
            </a:pPr>
            <a:r>
              <a:t>문의처: 교육기획팀 (edu_admin@company.com / 사내전화 301)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