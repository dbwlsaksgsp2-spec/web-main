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도입 전</c:v>
                </c:pt>
              </c:strCache>
            </c:strRef>
          </c:tx>
          <c:cat>
            <c:strRef>
              <c:f>Sheet1!$A$2:$A$4</c:f>
              <c:strCache>
                <c:ptCount val="3"/>
                <c:pt idx="0">
                  <c:v>문서 작성 (시간)</c:v>
                </c:pt>
                <c:pt idx="1">
                  <c:v>자료 정리 (시간)</c:v>
                </c:pt>
                <c:pt idx="2">
                  <c:v>보고서 제작 (시간)</c:v>
                </c:pt>
              </c:strCache>
            </c:strRef>
          </c:cat>
          <c:val>
            <c:numRef>
              <c:f>Sheet1!$B$2:$B$4</c:f>
              <c:numCache>
                <c:formatCode>General</c:formatCode>
                <c:ptCount val="3"/>
                <c:pt idx="0">
                  <c:v>8.0</c:v>
                </c:pt>
                <c:pt idx="1">
                  <c:v>5.0</c:v>
                </c:pt>
                <c:pt idx="2">
                  <c:v>6.0</c:v>
                </c:pt>
              </c:numCache>
            </c:numRef>
          </c:val>
        </c:ser>
        <c:ser>
          <c:idx val="1"/>
          <c:order val="1"/>
          <c:tx>
            <c:strRef>
              <c:f>Sheet1!$C$1</c:f>
              <c:strCache>
                <c:ptCount val="1"/>
                <c:pt idx="0">
                  <c:v>도입 후</c:v>
                </c:pt>
              </c:strCache>
            </c:strRef>
          </c:tx>
          <c:cat>
            <c:strRef>
              <c:f>Sheet1!$A$2:$A$4</c:f>
              <c:strCache>
                <c:ptCount val="3"/>
                <c:pt idx="0">
                  <c:v>문서 작성 (시간)</c:v>
                </c:pt>
                <c:pt idx="1">
                  <c:v>자료 정리 (시간)</c:v>
                </c:pt>
                <c:pt idx="2">
                  <c:v>보고서 제작 (시간)</c:v>
                </c:pt>
              </c:strCache>
            </c:strRef>
          </c:cat>
          <c:val>
            <c:numRef>
              <c:f>Sheet1!$C$2:$C$4</c:f>
              <c:numCache>
                <c:formatCode>General</c:formatCode>
                <c:ptCount val="3"/>
                <c:pt idx="0">
                  <c:v>3.0</c:v>
                </c:pt>
                <c:pt idx="1">
                  <c:v>1.0</c:v>
                </c:pt>
                <c:pt idx="2">
                  <c:v>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사무자동화 추진팀 발표를 맡은 전략기획팀 김민서 대리입니다. 지금부터 사무 자동화 추진 사업 보고를 시작하겠습니다. 이번 보고는 단순 반복 작업의 비중을 낮춰 실질적인 업무 효율과 생산성을 높이기 위한 전략적 방안을 논의하고자 준비했습니다. 다음 슬라이드에서 먼저 추진 배경과 현황 분석을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사무 자동화 추진의 배경과 현황 분석입니다. 구체적으로 말씀드리면, 최근 1년간 온라인 사무 자동화 도구가 빠르게 확산되면서 생산성을 높이려는 시장의 요구가 커졌습니다. 자체 분석 결과, 전체 업무 중 단순 반복 작업이 약 35%를 차지하고 있으며, 이로 인해 시간적 영업 공백이 지속적으로 발생하는 것을 확인했습니다. 따라서 문서 작성과 자료 정리에 드는 시간을 획기적으로 낮추는 것을 핵심 과제로 설정했습니다. 다음 슬라이드에서는 이를 개선하기 위한 구체적인 세부 추진 방안을 설명해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구체적인 사무 자동화 3대 개선 방안입니다. 구체적으로 말씀드리면, 첫째, AI를 연동한 문서 초안 작성을 전면 도입해 초고 생성 시간을 단축하겠습니다. 둘째, 사람이 일일이 폴더를 뒤적이며 정리하던 작업과 확장자 변환 과정을 파이썬 스크립트 기반으로 자동화하겠습니다. 셋째, 사내 보고서와 발표 장표 템플릿 표준화를 선언해 쓸데없는 서식 꾸미기 시간을 없애겠습니다. 다음 슬라이드에서는 이 방안들을 적용했을 때 얻을 수 있는 구체적인 기대 효과 수치를 막대 그래프로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자동화 3대 방안의 도입 전후 대비 업무 시간 절감 수치입니다. 구체적으로 말씀드리면, 세로 막대 차트에서 볼 수 있듯이 기존에 평균 8시간 소요되던 문서 작성이 3시간으로 줄어 62%가 절감됩니다. 또한 5시간 걸리던 자료 정리는 1시간으로 단축되어 80%의 높은 효율을 냅니다. 마지막으로 6시간 걸리던 보고서 제작도 2시간으로 개선되어 67% 절감을 이루며, 결과적으로 연간 1,200시간 가량의 자원을 아끼는 성과를 거둘 것으로 보입니다. 그럼 마지막 장표로 넘어가 핵심 요약 및 마무리 안내를 해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하반기 비즈니스의 종합 제언입니다. 구체적으로 말씀드리면, 수작업 비중 35%를 개선해 연간 1,200시간의 여유 리소스를 확보하는 것을 기대하고 있으며, 이를 수행하기 위해 부서별 표준 보급 및 피드백 모니터링을 즉시 단행할 계획입니다. 이상으로 발표를 마치고 질의응답 세션을 시작하도록 하겠습니다. 질문이나 좋은 의견이 있으시면 편하게 개진해 주시기 바랍니다.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1645920"/>
            <a:ext cx="164592" cy="365760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828800"/>
            <a:ext cx="10058400" cy="1371600"/>
          </a:xfrm>
          <a:prstGeom prst="rect">
            <a:avLst/>
          </a:prstGeom>
          <a:noFill/>
        </p:spPr>
        <p:txBody>
          <a:bodyPr wrap="none">
            <a:spAutoFit/>
          </a:bodyPr>
          <a:lstStyle/>
          <a:p>
            <a:pPr>
              <a:defRPr sz="4000" b="1">
                <a:solidFill>
                  <a:srgbClr val="2B5797"/>
                </a:solidFill>
                <a:latin typeface="맑은 고딕"/>
              </a:defRPr>
            </a:pPr>
            <a:r>
              <a:t>사무 자동화 추진 사업 보고</a:t>
            </a:r>
          </a:p>
        </p:txBody>
      </p:sp>
      <p:sp>
        <p:nvSpPr>
          <p:cNvPr id="4" name="TextBox 3"/>
          <p:cNvSpPr txBox="1"/>
          <p:nvPr/>
        </p:nvSpPr>
        <p:spPr>
          <a:xfrm>
            <a:off x="1188720" y="3017520"/>
            <a:ext cx="10058400" cy="914400"/>
          </a:xfrm>
          <a:prstGeom prst="rect">
            <a:avLst/>
          </a:prstGeom>
          <a:noFill/>
        </p:spPr>
        <p:txBody>
          <a:bodyPr wrap="none">
            <a:spAutoFit/>
          </a:bodyPr>
          <a:lstStyle/>
          <a:p>
            <a:pPr>
              <a:defRPr sz="1800">
                <a:solidFill>
                  <a:srgbClr val="E87722"/>
                </a:solidFill>
                <a:latin typeface="맑은 고딕"/>
              </a:defRPr>
            </a:pPr>
            <a:r>
              <a:t>생산성 혁신을 위한 단순 반복 업무 자동화 및 기대 효과</a:t>
            </a:r>
          </a:p>
        </p:txBody>
      </p:sp>
      <p:sp>
        <p:nvSpPr>
          <p:cNvPr id="5" name="TextBox 4"/>
          <p:cNvSpPr txBox="1"/>
          <p:nvPr/>
        </p:nvSpPr>
        <p:spPr>
          <a:xfrm>
            <a:off x="1188720" y="4389120"/>
            <a:ext cx="10058400" cy="914400"/>
          </a:xfrm>
          <a:prstGeom prst="rect">
            <a:avLst/>
          </a:prstGeom>
          <a:noFill/>
        </p:spPr>
        <p:txBody>
          <a:bodyPr wrap="none">
            <a:spAutoFit/>
          </a:bodyPr>
          <a:lstStyle/>
          <a:p>
            <a:pPr>
              <a:defRPr sz="1400">
                <a:solidFill>
                  <a:srgbClr val="788291"/>
                </a:solidFill>
                <a:latin typeface="맑은 고딕"/>
              </a:defRPr>
            </a:pPr>
            <a:r>
              <a:t>작성부서: 사무자동화 추진팀  |  작성일: 2026년 6월 22일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1645920" cy="41148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맑은 고딕"/>
              </a:defRPr>
            </a:pPr>
            <a:r>
              <a:t>추진 배경</a:t>
            </a:r>
          </a:p>
        </p:txBody>
      </p:sp>
      <p:sp>
        <p:nvSpPr>
          <p:cNvPr id="3" name="TextBox 2"/>
          <p:cNvSpPr txBox="1"/>
          <p:nvPr/>
        </p:nvSpPr>
        <p:spPr>
          <a:xfrm>
            <a:off x="2560320" y="320040"/>
            <a:ext cx="8869680" cy="502920"/>
          </a:xfrm>
          <a:prstGeom prst="rect">
            <a:avLst/>
          </a:prstGeom>
          <a:noFill/>
        </p:spPr>
        <p:txBody>
          <a:bodyPr wrap="square" tIns="0" bIns="0" lIns="0" rIns="0">
            <a:spAutoFit/>
          </a:bodyPr>
          <a:lstStyle/>
          <a:p>
            <a:pPr>
              <a:defRPr sz="2600" b="1">
                <a:solidFill>
                  <a:srgbClr val="2B5797"/>
                </a:solidFill>
                <a:latin typeface="맑은 고딕"/>
              </a:defRPr>
            </a:pPr>
            <a:r>
              <a:t>1. 추진 배경 및 현황 분석</a:t>
            </a:r>
          </a:p>
        </p:txBody>
      </p:sp>
      <p:sp>
        <p:nvSpPr>
          <p:cNvPr id="4" name="TextBox 3"/>
          <p:cNvSpPr txBox="1"/>
          <p:nvPr/>
        </p:nvSpPr>
        <p:spPr>
          <a:xfrm>
            <a:off x="731520" y="841248"/>
            <a:ext cx="10698480" cy="365760"/>
          </a:xfrm>
          <a:prstGeom prst="rect">
            <a:avLst/>
          </a:prstGeom>
          <a:noFill/>
        </p:spPr>
        <p:txBody>
          <a:bodyPr wrap="square" tIns="0" bIns="0" lIns="0" rIns="0">
            <a:spAutoFit/>
          </a:bodyPr>
          <a:lstStyle/>
          <a:p>
            <a:pPr>
              <a:defRPr sz="1400" b="1">
                <a:solidFill>
                  <a:srgbClr val="E87722"/>
                </a:solidFill>
                <a:latin typeface="맑은 고딕"/>
              </a:defRPr>
            </a:pPr>
            <a:r>
              <a:t>단순 반복 업무 비중 35% 도달로 인한 비효율 개선 시급</a:t>
            </a:r>
          </a:p>
        </p:txBody>
      </p:sp>
      <p:sp>
        <p:nvSpPr>
          <p:cNvPr id="5" name="Rectangle 4"/>
          <p:cNvSpPr/>
          <p:nvPr/>
        </p:nvSpPr>
        <p:spPr>
          <a:xfrm>
            <a:off x="731520" y="1280160"/>
            <a:ext cx="1069848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사무자동화 추진팀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2</a:t>
            </a:r>
          </a:p>
        </p:txBody>
      </p:sp>
      <p:sp>
        <p:nvSpPr>
          <p:cNvPr id="8" name="Rounded Rectangle 7"/>
          <p:cNvSpPr/>
          <p:nvPr/>
        </p:nvSpPr>
        <p:spPr>
          <a:xfrm>
            <a:off x="731520" y="1645920"/>
            <a:ext cx="10698480" cy="41148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10332720" cy="3840480"/>
          </a:xfrm>
          <a:prstGeom prst="rect">
            <a:avLst/>
          </a:prstGeom>
          <a:noFill/>
        </p:spPr>
        <p:txBody>
          <a:bodyPr wrap="square">
            <a:spAutoFit/>
          </a:bodyPr>
          <a:lstStyle/>
          <a:p>
            <a:pPr>
              <a:spcAft>
                <a:spcPts val="1200"/>
              </a:spcAft>
              <a:defRPr sz="1800" b="0">
                <a:solidFill>
                  <a:srgbClr val="2B5797"/>
                </a:solidFill>
                <a:latin typeface="맑은 고딕"/>
              </a:defRPr>
            </a:pPr>
            <a:r>
              <a:t>· 비즈니스 환경: 최근 1년간 온라인 사무 자동화 도구 도입이 다양한 업계에서 급속하게 확산됨</a:t>
            </a:r>
          </a:p>
          <a:p>
            <a:pPr>
              <a:spcAft>
                <a:spcPts val="1200"/>
              </a:spcAft>
              <a:defRPr sz="1800" b="0">
                <a:solidFill>
                  <a:srgbClr val="2B5797"/>
                </a:solidFill>
                <a:latin typeface="맑은 고딕"/>
              </a:defRPr>
            </a:pPr>
            <a:r>
              <a:t>· 현황 분석 결과: 단순 반복성 행정/정리 업무가 전체 사무 처리 비중의 35%를 차지하여 비효율 초래</a:t>
            </a:r>
          </a:p>
          <a:p>
            <a:pPr>
              <a:spcAft>
                <a:spcPts val="1200"/>
              </a:spcAft>
              <a:defRPr sz="1800" b="0">
                <a:solidFill>
                  <a:srgbClr val="2B5797"/>
                </a:solidFill>
                <a:latin typeface="맑은 고딕"/>
              </a:defRPr>
            </a:pPr>
            <a:r>
              <a:t>· 핵심 개선 방향: 임직원의 문서 작성, 자료 정리 및 발표 보고서 제작 소요 시간을 낮추는 것이 핵심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1645920" cy="41148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맑은 고딕"/>
              </a:defRPr>
            </a:pPr>
            <a:r>
              <a:t>개선 방안</a:t>
            </a:r>
          </a:p>
        </p:txBody>
      </p:sp>
      <p:sp>
        <p:nvSpPr>
          <p:cNvPr id="3" name="TextBox 2"/>
          <p:cNvSpPr txBox="1"/>
          <p:nvPr/>
        </p:nvSpPr>
        <p:spPr>
          <a:xfrm>
            <a:off x="2560320" y="320040"/>
            <a:ext cx="8869680" cy="502920"/>
          </a:xfrm>
          <a:prstGeom prst="rect">
            <a:avLst/>
          </a:prstGeom>
          <a:noFill/>
        </p:spPr>
        <p:txBody>
          <a:bodyPr wrap="square" tIns="0" bIns="0" lIns="0" rIns="0">
            <a:spAutoFit/>
          </a:bodyPr>
          <a:lstStyle/>
          <a:p>
            <a:pPr>
              <a:defRPr sz="2600" b="1">
                <a:solidFill>
                  <a:srgbClr val="2B5797"/>
                </a:solidFill>
                <a:latin typeface="맑은 고딕"/>
              </a:defRPr>
            </a:pPr>
            <a:r>
              <a:t>2. 사무 자동화 개선 방안</a:t>
            </a:r>
          </a:p>
        </p:txBody>
      </p:sp>
      <p:sp>
        <p:nvSpPr>
          <p:cNvPr id="4" name="TextBox 3"/>
          <p:cNvSpPr txBox="1"/>
          <p:nvPr/>
        </p:nvSpPr>
        <p:spPr>
          <a:xfrm>
            <a:off x="731520" y="841248"/>
            <a:ext cx="10698480" cy="365760"/>
          </a:xfrm>
          <a:prstGeom prst="rect">
            <a:avLst/>
          </a:prstGeom>
          <a:noFill/>
        </p:spPr>
        <p:txBody>
          <a:bodyPr wrap="square" tIns="0" bIns="0" lIns="0" rIns="0">
            <a:spAutoFit/>
          </a:bodyPr>
          <a:lstStyle/>
          <a:p>
            <a:pPr>
              <a:defRPr sz="1400" b="1">
                <a:solidFill>
                  <a:srgbClr val="E87722"/>
                </a:solidFill>
                <a:latin typeface="맑은 고딕"/>
              </a:defRPr>
            </a:pPr>
            <a:r>
              <a:t>초안 자동 생성, 파일 정리 자동화 및 템플릿 표준화 도입</a:t>
            </a:r>
          </a:p>
        </p:txBody>
      </p:sp>
      <p:sp>
        <p:nvSpPr>
          <p:cNvPr id="5" name="Rectangle 4"/>
          <p:cNvSpPr/>
          <p:nvPr/>
        </p:nvSpPr>
        <p:spPr>
          <a:xfrm>
            <a:off x="731520" y="1280160"/>
            <a:ext cx="1069848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사무자동화 추진팀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3</a:t>
            </a:r>
          </a:p>
        </p:txBody>
      </p:sp>
      <p:sp>
        <p:nvSpPr>
          <p:cNvPr id="8" name="Rounded Rectangle 7"/>
          <p:cNvSpPr/>
          <p:nvPr/>
        </p:nvSpPr>
        <p:spPr>
          <a:xfrm>
            <a:off x="731520" y="1645920"/>
            <a:ext cx="3383280" cy="4114800"/>
          </a:xfrm>
          <a:prstGeom prst="roundRect">
            <a:avLst/>
          </a:prstGeom>
          <a:solidFill>
            <a:srgbClr val="FFFFFF"/>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3017520" cy="3840480"/>
          </a:xfrm>
          <a:prstGeom prst="rect">
            <a:avLst/>
          </a:prstGeom>
          <a:noFill/>
        </p:spPr>
        <p:txBody>
          <a:bodyPr wrap="square">
            <a:spAutoFit/>
          </a:bodyPr>
          <a:lstStyle/>
          <a:p>
            <a:pPr>
              <a:spcAft>
                <a:spcPts val="1200"/>
              </a:spcAft>
              <a:defRPr sz="1300" b="0">
                <a:solidFill>
                  <a:srgbClr val="2B5797"/>
                </a:solidFill>
                <a:latin typeface="맑은 고딕"/>
              </a:defRPr>
            </a:pPr>
            <a:r>
              <a:t>① AI 문서 초안 자동 생성</a:t>
            </a:r>
          </a:p>
          <a:p>
            <a:pPr>
              <a:spcAft>
                <a:spcPts val="1200"/>
              </a:spcAft>
              <a:defRPr sz="1300" b="0">
                <a:solidFill>
                  <a:srgbClr val="2B5797"/>
                </a:solidFill>
                <a:latin typeface="맑은 고딕"/>
              </a:defRPr>
            </a:pPr>
            <a:r>
              <a:t>· 생성형 AI 기반 문서 초안 신속 작성</a:t>
            </a:r>
          </a:p>
          <a:p>
            <a:pPr>
              <a:spcAft>
                <a:spcPts val="1200"/>
              </a:spcAft>
              <a:defRPr sz="1300" b="0">
                <a:solidFill>
                  <a:srgbClr val="2B5797"/>
                </a:solidFill>
                <a:latin typeface="맑은 고딕"/>
              </a:defRPr>
            </a:pPr>
            <a:r>
              <a:t>· 핵심 키워드 중심 자동 텍스트 렌더링</a:t>
            </a:r>
          </a:p>
          <a:p>
            <a:pPr>
              <a:spcAft>
                <a:spcPts val="1200"/>
              </a:spcAft>
              <a:defRPr sz="1300" b="0">
                <a:solidFill>
                  <a:srgbClr val="2B5797"/>
                </a:solidFill>
                <a:latin typeface="맑은 고딕"/>
              </a:defRPr>
            </a:pPr>
            <a:r>
              <a:t>· 문서 개발 소요 시간 평균 60% 이상 감축</a:t>
            </a:r>
          </a:p>
        </p:txBody>
      </p:sp>
      <p:sp>
        <p:nvSpPr>
          <p:cNvPr id="10" name="Rounded Rectangle 9"/>
          <p:cNvSpPr/>
          <p:nvPr/>
        </p:nvSpPr>
        <p:spPr>
          <a:xfrm>
            <a:off x="4389120" y="1645920"/>
            <a:ext cx="3383280" cy="4114800"/>
          </a:xfrm>
          <a:prstGeom prst="roundRect">
            <a:avLst/>
          </a:prstGeom>
          <a:solidFill>
            <a:srgbClr val="FFFFFF"/>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828800"/>
            <a:ext cx="3017520" cy="3840480"/>
          </a:xfrm>
          <a:prstGeom prst="rect">
            <a:avLst/>
          </a:prstGeom>
          <a:noFill/>
        </p:spPr>
        <p:txBody>
          <a:bodyPr wrap="square">
            <a:spAutoFit/>
          </a:bodyPr>
          <a:lstStyle/>
          <a:p>
            <a:pPr>
              <a:spcAft>
                <a:spcPts val="1200"/>
              </a:spcAft>
              <a:defRPr sz="1300" b="0">
                <a:solidFill>
                  <a:srgbClr val="2B5797"/>
                </a:solidFill>
                <a:latin typeface="맑은 고딕"/>
              </a:defRPr>
            </a:pPr>
            <a:r>
              <a:t>② 파일 정리·변환 자동화</a:t>
            </a:r>
          </a:p>
          <a:p>
            <a:pPr>
              <a:spcAft>
                <a:spcPts val="1200"/>
              </a:spcAft>
              <a:defRPr sz="1300" b="0">
                <a:solidFill>
                  <a:srgbClr val="2B5797"/>
                </a:solidFill>
                <a:latin typeface="맑은 고딕"/>
              </a:defRPr>
            </a:pPr>
            <a:r>
              <a:t>· 확장자(csv, pdf) 일괄 자동 재패키징</a:t>
            </a:r>
          </a:p>
          <a:p>
            <a:pPr>
              <a:spcAft>
                <a:spcPts val="1200"/>
              </a:spcAft>
              <a:defRPr sz="1300" b="0">
                <a:solidFill>
                  <a:srgbClr val="2B5797"/>
                </a:solidFill>
                <a:latin typeface="맑은 고딕"/>
              </a:defRPr>
            </a:pPr>
            <a:r>
              <a:t>· 부서별 수작업 수집 경로의 파이썬 이관</a:t>
            </a:r>
          </a:p>
          <a:p>
            <a:pPr>
              <a:spcAft>
                <a:spcPts val="1200"/>
              </a:spcAft>
              <a:defRPr sz="1300" b="0">
                <a:solidFill>
                  <a:srgbClr val="2B5797"/>
                </a:solidFill>
                <a:latin typeface="맑은 고딕"/>
              </a:defRPr>
            </a:pPr>
            <a:r>
              <a:t>· 폴더 분류 및 파일 분류 수작업 제거</a:t>
            </a:r>
          </a:p>
        </p:txBody>
      </p:sp>
      <p:sp>
        <p:nvSpPr>
          <p:cNvPr id="12" name="Rounded Rectangle 11"/>
          <p:cNvSpPr/>
          <p:nvPr/>
        </p:nvSpPr>
        <p:spPr>
          <a:xfrm>
            <a:off x="8046720" y="1645920"/>
            <a:ext cx="3383280" cy="4114800"/>
          </a:xfrm>
          <a:prstGeom prst="roundRect">
            <a:avLst/>
          </a:prstGeom>
          <a:solidFill>
            <a:srgbClr val="FFFFFF"/>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828800"/>
            <a:ext cx="3017520" cy="3840480"/>
          </a:xfrm>
          <a:prstGeom prst="rect">
            <a:avLst/>
          </a:prstGeom>
          <a:noFill/>
        </p:spPr>
        <p:txBody>
          <a:bodyPr wrap="square">
            <a:spAutoFit/>
          </a:bodyPr>
          <a:lstStyle/>
          <a:p>
            <a:pPr>
              <a:spcAft>
                <a:spcPts val="1200"/>
              </a:spcAft>
              <a:defRPr sz="1300" b="0">
                <a:solidFill>
                  <a:srgbClr val="2B5797"/>
                </a:solidFill>
                <a:latin typeface="맑은 고딕"/>
              </a:defRPr>
            </a:pPr>
            <a:r>
              <a:t>③ 템플릿 표준화</a:t>
            </a:r>
          </a:p>
          <a:p>
            <a:pPr>
              <a:spcAft>
                <a:spcPts val="1200"/>
              </a:spcAft>
              <a:defRPr sz="1300" b="0">
                <a:solidFill>
                  <a:srgbClr val="2B5797"/>
                </a:solidFill>
                <a:latin typeface="맑은 고딕"/>
              </a:defRPr>
            </a:pPr>
            <a:r>
              <a:t>· 사내 문서 양식 및 발표 템플릿 통일</a:t>
            </a:r>
          </a:p>
          <a:p>
            <a:pPr>
              <a:spcAft>
                <a:spcPts val="1200"/>
              </a:spcAft>
              <a:defRPr sz="1300" b="0">
                <a:solidFill>
                  <a:srgbClr val="2B5797"/>
                </a:solidFill>
                <a:latin typeface="맑은 고딕"/>
              </a:defRPr>
            </a:pPr>
            <a:r>
              <a:t>· 1장 1메시지 슬라이드 작성 규격화</a:t>
            </a:r>
          </a:p>
          <a:p>
            <a:pPr>
              <a:spcAft>
                <a:spcPts val="1200"/>
              </a:spcAft>
              <a:defRPr sz="1300" b="0">
                <a:solidFill>
                  <a:srgbClr val="2B5797"/>
                </a:solidFill>
                <a:latin typeface="맑은 고딕"/>
              </a:defRPr>
            </a:pPr>
            <a:r>
              <a:t>· 가이드라인을 통한 불필요 서식 설계 제거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1645920" cy="41148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맑은 고딕"/>
              </a:defRPr>
            </a:pPr>
            <a:r>
              <a:t>기대 효과</a:t>
            </a:r>
          </a:p>
        </p:txBody>
      </p:sp>
      <p:sp>
        <p:nvSpPr>
          <p:cNvPr id="3" name="TextBox 2"/>
          <p:cNvSpPr txBox="1"/>
          <p:nvPr/>
        </p:nvSpPr>
        <p:spPr>
          <a:xfrm>
            <a:off x="2560320" y="320040"/>
            <a:ext cx="8869680" cy="502920"/>
          </a:xfrm>
          <a:prstGeom prst="rect">
            <a:avLst/>
          </a:prstGeom>
          <a:noFill/>
        </p:spPr>
        <p:txBody>
          <a:bodyPr wrap="square" tIns="0" bIns="0" lIns="0" rIns="0">
            <a:spAutoFit/>
          </a:bodyPr>
          <a:lstStyle/>
          <a:p>
            <a:pPr>
              <a:defRPr sz="2600" b="1">
                <a:solidFill>
                  <a:srgbClr val="2B5797"/>
                </a:solidFill>
                <a:latin typeface="맑은 고딕"/>
              </a:defRPr>
            </a:pPr>
            <a:r>
              <a:t>3. 도입 기대 효과 및 시간 절감</a:t>
            </a:r>
          </a:p>
        </p:txBody>
      </p:sp>
      <p:sp>
        <p:nvSpPr>
          <p:cNvPr id="4" name="TextBox 3"/>
          <p:cNvSpPr txBox="1"/>
          <p:nvPr/>
        </p:nvSpPr>
        <p:spPr>
          <a:xfrm>
            <a:off x="731520" y="841248"/>
            <a:ext cx="10698480" cy="365760"/>
          </a:xfrm>
          <a:prstGeom prst="rect">
            <a:avLst/>
          </a:prstGeom>
          <a:noFill/>
        </p:spPr>
        <p:txBody>
          <a:bodyPr wrap="square" tIns="0" bIns="0" lIns="0" rIns="0">
            <a:spAutoFit/>
          </a:bodyPr>
          <a:lstStyle/>
          <a:p>
            <a:pPr>
              <a:defRPr sz="1400" b="1">
                <a:solidFill>
                  <a:srgbClr val="E87722"/>
                </a:solidFill>
                <a:latin typeface="맑은 고딕"/>
              </a:defRPr>
            </a:pPr>
            <a:r>
              <a:t>사무 자동화 도입 전/후 대비 연간 약 1,200시간 업무 효율 향상</a:t>
            </a:r>
          </a:p>
        </p:txBody>
      </p:sp>
      <p:sp>
        <p:nvSpPr>
          <p:cNvPr id="5" name="Rectangle 4"/>
          <p:cNvSpPr/>
          <p:nvPr/>
        </p:nvSpPr>
        <p:spPr>
          <a:xfrm>
            <a:off x="731520" y="1280160"/>
            <a:ext cx="1069848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사무자동화 추진팀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4</a:t>
            </a:r>
          </a:p>
        </p:txBody>
      </p:sp>
      <p:graphicFrame>
        <p:nvGraphicFramePr>
          <p:cNvPr id="8" name="Chart 7"/>
          <p:cNvGraphicFramePr>
            <a:graphicFrameLocks noGrp="1"/>
          </p:cNvGraphicFramePr>
          <p:nvPr/>
        </p:nvGraphicFramePr>
        <p:xfrm>
          <a:off x="731520" y="1645920"/>
          <a:ext cx="6217920" cy="4114800"/>
        </p:xfrm>
        <a:graphic>
          <a:graphicData uri="http://schemas.openxmlformats.org/drawingml/2006/chart">
            <c:chart xmlns:c="http://schemas.openxmlformats.org/drawingml/2006/chart" r:id="rId2"/>
          </a:graphicData>
        </a:graphic>
      </p:graphicFrame>
      <p:sp>
        <p:nvSpPr>
          <p:cNvPr id="9" name="Rounded Rectangle 8"/>
          <p:cNvSpPr/>
          <p:nvPr/>
        </p:nvSpPr>
        <p:spPr>
          <a:xfrm>
            <a:off x="7315200" y="1645920"/>
            <a:ext cx="4114800" cy="4114800"/>
          </a:xfrm>
          <a:prstGeom prst="roundRect">
            <a:avLst/>
          </a:prstGeom>
          <a:solidFill>
            <a:srgbClr val="FFFFFF"/>
          </a:solidFill>
          <a:ln w="19050">
            <a:solidFill>
              <a:srgbClr val="E877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0" y="1828800"/>
            <a:ext cx="3749040" cy="3840480"/>
          </a:xfrm>
          <a:prstGeom prst="rect">
            <a:avLst/>
          </a:prstGeom>
          <a:noFill/>
        </p:spPr>
        <p:txBody>
          <a:bodyPr wrap="square">
            <a:spAutoFit/>
          </a:bodyPr>
          <a:lstStyle/>
          <a:p>
            <a:pPr>
              <a:spcAft>
                <a:spcPts val="1200"/>
              </a:spcAft>
              <a:defRPr sz="1300" b="0">
                <a:solidFill>
                  <a:srgbClr val="2B5797"/>
                </a:solidFill>
                <a:latin typeface="맑은 고딕"/>
              </a:defRPr>
            </a:pPr>
            <a:r>
              <a:t>■ 도입 전/후 대비 절감률</a:t>
            </a:r>
          </a:p>
          <a:p>
            <a:pPr>
              <a:spcAft>
                <a:spcPts val="1200"/>
              </a:spcAft>
              <a:defRPr sz="1300" b="0">
                <a:solidFill>
                  <a:srgbClr val="2B5797"/>
                </a:solidFill>
                <a:latin typeface="맑은 고딕"/>
              </a:defRPr>
            </a:pPr>
            <a:r>
              <a:t>· 문서 작성 시간: 8h → 3h (62% 절감)</a:t>
            </a:r>
          </a:p>
          <a:p>
            <a:pPr>
              <a:spcAft>
                <a:spcPts val="1200"/>
              </a:spcAft>
              <a:defRPr sz="1300" b="0">
                <a:solidFill>
                  <a:srgbClr val="2B5797"/>
                </a:solidFill>
                <a:latin typeface="맑은 고딕"/>
              </a:defRPr>
            </a:pPr>
            <a:r>
              <a:t>· 자료 정리 시간: 5h → 1h (80% 절감)</a:t>
            </a:r>
          </a:p>
          <a:p>
            <a:pPr>
              <a:spcAft>
                <a:spcPts val="1200"/>
              </a:spcAft>
              <a:defRPr sz="1300" b="0">
                <a:solidFill>
                  <a:srgbClr val="2B5797"/>
                </a:solidFill>
                <a:latin typeface="맑은 고딕"/>
              </a:defRPr>
            </a:pPr>
            <a:r>
              <a:t>· 보고서 제작 시간: 6h → 2h (67% 절감)</a:t>
            </a:r>
          </a:p>
          <a:p>
            <a:pPr>
              <a:spcAft>
                <a:spcPts val="1200"/>
              </a:spcAft>
              <a:defRPr sz="1300" b="0">
                <a:solidFill>
                  <a:srgbClr val="2B5797"/>
                </a:solidFill>
                <a:latin typeface="맑은 고딕"/>
              </a:defRPr>
            </a:pPr>
            <a:r>
              <a:t>※ 연간 약 1,200시간 사무 비용 축소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1645920" cy="41148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맑은 고딕"/>
              </a:defRPr>
            </a:pPr>
            <a:r>
              <a:t>요약/마무리</a:t>
            </a:r>
          </a:p>
        </p:txBody>
      </p:sp>
      <p:sp>
        <p:nvSpPr>
          <p:cNvPr id="3" name="TextBox 2"/>
          <p:cNvSpPr txBox="1"/>
          <p:nvPr/>
        </p:nvSpPr>
        <p:spPr>
          <a:xfrm>
            <a:off x="2560320" y="320040"/>
            <a:ext cx="8869680" cy="502920"/>
          </a:xfrm>
          <a:prstGeom prst="rect">
            <a:avLst/>
          </a:prstGeom>
          <a:noFill/>
        </p:spPr>
        <p:txBody>
          <a:bodyPr wrap="square" tIns="0" bIns="0" lIns="0" rIns="0">
            <a:spAutoFit/>
          </a:bodyPr>
          <a:lstStyle/>
          <a:p>
            <a:pPr>
              <a:defRPr sz="2600" b="1">
                <a:solidFill>
                  <a:srgbClr val="2B5797"/>
                </a:solidFill>
                <a:latin typeface="맑은 고딕"/>
              </a:defRPr>
            </a:pPr>
            <a:r>
              <a:t>핵심 요약 및 차기 프로세스 실행 계획 제안</a:t>
            </a:r>
          </a:p>
        </p:txBody>
      </p:sp>
      <p:sp>
        <p:nvSpPr>
          <p:cNvPr id="4" name="TextBox 3"/>
          <p:cNvSpPr txBox="1"/>
          <p:nvPr/>
        </p:nvSpPr>
        <p:spPr>
          <a:xfrm>
            <a:off x="731520" y="841248"/>
            <a:ext cx="10698480" cy="365760"/>
          </a:xfrm>
          <a:prstGeom prst="rect">
            <a:avLst/>
          </a:prstGeom>
          <a:noFill/>
        </p:spPr>
        <p:txBody>
          <a:bodyPr wrap="square" tIns="0" bIns="0" lIns="0" rIns="0">
            <a:spAutoFit/>
          </a:bodyPr>
          <a:lstStyle/>
          <a:p>
            <a:pPr>
              <a:defRPr sz="1400" b="1">
                <a:solidFill>
                  <a:srgbClr val="E87722"/>
                </a:solidFill>
                <a:latin typeface="맑은 고딕"/>
              </a:defRPr>
            </a:pPr>
            <a:r>
              <a:t>연간 1,200시간 생산성 증진 및 프로세스 표준 가동</a:t>
            </a:r>
          </a:p>
        </p:txBody>
      </p:sp>
      <p:sp>
        <p:nvSpPr>
          <p:cNvPr id="5" name="Rectangle 4"/>
          <p:cNvSpPr/>
          <p:nvPr/>
        </p:nvSpPr>
        <p:spPr>
          <a:xfrm>
            <a:off x="731520" y="1280160"/>
            <a:ext cx="10698480" cy="9144"/>
          </a:xfrm>
          <a:prstGeom prst="rect">
            <a:avLst/>
          </a:prstGeom>
          <a:solidFill>
            <a:srgbClr val="DC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사무자동화 추진팀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5</a:t>
            </a:r>
          </a:p>
        </p:txBody>
      </p:sp>
      <p:sp>
        <p:nvSpPr>
          <p:cNvPr id="8" name="Rounded Rectangle 7"/>
          <p:cNvSpPr/>
          <p:nvPr/>
        </p:nvSpPr>
        <p:spPr>
          <a:xfrm>
            <a:off x="731520" y="1645920"/>
            <a:ext cx="5120640" cy="4114800"/>
          </a:xfrm>
          <a:prstGeom prst="roundRect">
            <a:avLst/>
          </a:prstGeom>
          <a:solidFill>
            <a:srgbClr val="FFFFFF"/>
          </a:solidFill>
          <a:ln w="19050">
            <a:solidFill>
              <a:srgbClr val="E877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4754880" cy="3840480"/>
          </a:xfrm>
          <a:prstGeom prst="rect">
            <a:avLst/>
          </a:prstGeom>
          <a:noFill/>
        </p:spPr>
        <p:txBody>
          <a:bodyPr wrap="square">
            <a:spAutoFit/>
          </a:bodyPr>
          <a:lstStyle/>
          <a:p>
            <a:pPr>
              <a:spcAft>
                <a:spcPts val="1200"/>
              </a:spcAft>
              <a:defRPr sz="1200" b="0">
                <a:solidFill>
                  <a:srgbClr val="2B5797"/>
                </a:solidFill>
                <a:latin typeface="맑은 고딕"/>
              </a:defRPr>
            </a:pPr>
            <a:r>
              <a:t>[핵심 발견 및 효과]</a:t>
            </a:r>
          </a:p>
          <a:p>
            <a:pPr>
              <a:spcAft>
                <a:spcPts val="1200"/>
              </a:spcAft>
              <a:defRPr sz="1200" b="0">
                <a:solidFill>
                  <a:srgbClr val="2B5797"/>
                </a:solidFill>
                <a:latin typeface="맑은 고딕"/>
              </a:defRPr>
            </a:pPr>
            <a:r>
              <a:t>1. 단순 행정 반복 업무 35%에 대한 자동화 적용으로 부서별 효율성 확보</a:t>
            </a:r>
          </a:p>
          <a:p>
            <a:pPr>
              <a:spcAft>
                <a:spcPts val="1200"/>
              </a:spcAft>
              <a:defRPr sz="1200" b="0">
                <a:solidFill>
                  <a:srgbClr val="2B5797"/>
                </a:solidFill>
                <a:latin typeface="맑은 고딕"/>
              </a:defRPr>
            </a:pPr>
            <a:r>
              <a:t>2. AI 문서 초안 작성 도입을 통해 문서 작성 소요 시간 최대 62% 단축</a:t>
            </a:r>
          </a:p>
          <a:p>
            <a:pPr>
              <a:spcAft>
                <a:spcPts val="1200"/>
              </a:spcAft>
              <a:defRPr sz="1200" b="0">
                <a:solidFill>
                  <a:srgbClr val="2B5797"/>
                </a:solidFill>
                <a:latin typeface="맑은 고딕"/>
              </a:defRPr>
            </a:pPr>
            <a:r>
              <a:t>3. 파일 자동 변환 및 양식 규격화 도입으로 연간 총 1,200시간 리소스 확보</a:t>
            </a:r>
          </a:p>
        </p:txBody>
      </p:sp>
      <p:sp>
        <p:nvSpPr>
          <p:cNvPr id="10" name="Rounded Rectangle 9"/>
          <p:cNvSpPr/>
          <p:nvPr/>
        </p:nvSpPr>
        <p:spPr>
          <a:xfrm>
            <a:off x="6309360" y="1645920"/>
            <a:ext cx="5120640" cy="4114800"/>
          </a:xfrm>
          <a:prstGeom prst="roundRect">
            <a:avLst/>
          </a:prstGeom>
          <a:solidFill>
            <a:srgbClr val="FFFFFF"/>
          </a:solidFill>
          <a:ln w="19050">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754880" cy="3840480"/>
          </a:xfrm>
          <a:prstGeom prst="rect">
            <a:avLst/>
          </a:prstGeom>
          <a:noFill/>
        </p:spPr>
        <p:txBody>
          <a:bodyPr wrap="square">
            <a:spAutoFit/>
          </a:bodyPr>
          <a:lstStyle/>
          <a:p>
            <a:pPr>
              <a:spcAft>
                <a:spcPts val="1200"/>
              </a:spcAft>
              <a:defRPr sz="1200" b="0">
                <a:solidFill>
                  <a:srgbClr val="2B5797"/>
                </a:solidFill>
                <a:latin typeface="맑은 고딕"/>
              </a:defRPr>
            </a:pPr>
            <a:r>
              <a:t>[제안 및 향후 조치]</a:t>
            </a:r>
          </a:p>
          <a:p>
            <a:pPr>
              <a:spcAft>
                <a:spcPts val="1200"/>
              </a:spcAft>
              <a:defRPr sz="1200" b="0">
                <a:solidFill>
                  <a:srgbClr val="2B5797"/>
                </a:solidFill>
                <a:latin typeface="맑은 고딕"/>
              </a:defRPr>
            </a:pPr>
            <a:r>
              <a:t>1. 7월 2째주까지 부서별 자동화 템플릿 표준 보급 및 파일 변환 가이드라인 배포</a:t>
            </a:r>
          </a:p>
          <a:p>
            <a:pPr>
              <a:spcAft>
                <a:spcPts val="1200"/>
              </a:spcAft>
              <a:defRPr sz="1200" b="0">
                <a:solidFill>
                  <a:srgbClr val="2B5797"/>
                </a:solidFill>
                <a:latin typeface="맑은 고딕"/>
              </a:defRPr>
            </a:pPr>
            <a:r>
              <a:t>2. 추진 단계별 현업 피드백 수집을 위한 분기별 사용자 모니터링 체계 가동</a:t>
            </a:r>
          </a:p>
          <a:p>
            <a:pPr>
              <a:spcAft>
                <a:spcPts val="1200"/>
              </a:spcAft>
              <a:defRPr sz="1200" b="0">
                <a:solidFill>
                  <a:srgbClr val="2B5797"/>
                </a:solidFill>
                <a:latin typeface="맑은 고딕"/>
              </a:defRPr>
            </a:pPr>
          </a:p>
          <a:p>
            <a:pPr>
              <a:spcAft>
                <a:spcPts val="1200"/>
              </a:spcAft>
              <a:defRPr sz="1200" b="0">
                <a:solidFill>
                  <a:srgbClr val="2B5797"/>
                </a:solidFill>
                <a:latin typeface="맑은 고딕"/>
              </a:defRPr>
            </a:pPr>
            <a:r>
              <a:t>※ Q&amp;A 및 토론 문의처:</a:t>
            </a:r>
          </a:p>
          <a:p>
            <a:pPr>
              <a:spcAft>
                <a:spcPts val="1200"/>
              </a:spcAft>
              <a:defRPr sz="1200" b="0">
                <a:solidFill>
                  <a:srgbClr val="2B5797"/>
                </a:solidFill>
                <a:latin typeface="맑은 고딕"/>
              </a:defRPr>
            </a:pPr>
            <a:r>
              <a:t>사무자동화 추진팀 (oa_team@company.com / 내선 200)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