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0.svg" ContentType="image/svg+xml"/>
  <Override PartName="/ppt/media/image32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9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1" r:id="rId11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DTD달밤의추억" charset="1" panose="02000303000000000000"/>
      <p:regular r:id="rId16"/>
    </p:embeddedFont>
    <p:embeddedFont>
      <p:font typeface="JASO Sans" charset="1" panose="020E0002060000000900"/>
      <p:regular r:id="rId17"/>
    </p:embeddedFont>
    <p:embeddedFont>
      <p:font typeface="JASO Sans Bold" charset="1" panose="020E0002060000000900"/>
      <p:regular r:id="rId18"/>
    </p:embeddedFont>
    <p:embeddedFont>
      <p:font typeface="Poppins Semi-Bold" charset="1" panose="000007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image" Target="../media/image10.png"/><Relationship Id="rId13" Type="http://schemas.openxmlformats.org/officeDocument/2006/relationships/image" Target="../media/image11.svg"/><Relationship Id="rId14" Type="http://schemas.openxmlformats.org/officeDocument/2006/relationships/image" Target="../media/image14.png"/><Relationship Id="rId15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Relationship Id="rId8" Type="http://schemas.openxmlformats.org/officeDocument/2006/relationships/image" Target="../media/image37.png"/><Relationship Id="rId9" Type="http://schemas.openxmlformats.org/officeDocument/2006/relationships/image" Target="../media/image38.svg"/><Relationship Id="rId10" Type="http://schemas.openxmlformats.org/officeDocument/2006/relationships/image" Target="../media/image39.png"/><Relationship Id="rId11" Type="http://schemas.openxmlformats.org/officeDocument/2006/relationships/image" Target="../media/image40.svg"/><Relationship Id="rId12" Type="http://schemas.openxmlformats.org/officeDocument/2006/relationships/image" Target="../media/image3.png"/><Relationship Id="rId13" Type="http://schemas.openxmlformats.org/officeDocument/2006/relationships/image" Target="../media/image4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10.png"/><Relationship Id="rId17" Type="http://schemas.openxmlformats.org/officeDocument/2006/relationships/image" Target="../media/image11.svg"/><Relationship Id="rId18" Type="http://schemas.openxmlformats.org/officeDocument/2006/relationships/image" Target="../media/image14.png"/><Relationship Id="rId19" Type="http://schemas.openxmlformats.org/officeDocument/2006/relationships/image" Target="../media/image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Relationship Id="rId8" Type="http://schemas.openxmlformats.org/officeDocument/2006/relationships/image" Target="../media/image31.png"/><Relationship Id="rId9" Type="http://schemas.openxmlformats.org/officeDocument/2006/relationships/image" Target="../media/image32.svg"/><Relationship Id="rId10" Type="http://schemas.openxmlformats.org/officeDocument/2006/relationships/image" Target="../media/image50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29.png"/><Relationship Id="rId14" Type="http://schemas.openxmlformats.org/officeDocument/2006/relationships/image" Target="../media/image3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871258" y="7332341"/>
            <a:ext cx="4250391" cy="3851917"/>
          </a:xfrm>
          <a:custGeom>
            <a:avLst/>
            <a:gdLst/>
            <a:ahLst/>
            <a:cxnLst/>
            <a:rect r="r" b="b" t="t" l="l"/>
            <a:pathLst>
              <a:path h="3851917" w="4250391">
                <a:moveTo>
                  <a:pt x="0" y="0"/>
                </a:moveTo>
                <a:lnTo>
                  <a:pt x="4250391" y="0"/>
                </a:lnTo>
                <a:lnTo>
                  <a:pt x="4250391" y="3851918"/>
                </a:lnTo>
                <a:lnTo>
                  <a:pt x="0" y="3851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1146767" y="7212907"/>
            <a:ext cx="4679956" cy="4715321"/>
          </a:xfrm>
          <a:custGeom>
            <a:avLst/>
            <a:gdLst/>
            <a:ahLst/>
            <a:cxnLst/>
            <a:rect r="r" b="b" t="t" l="l"/>
            <a:pathLst>
              <a:path h="4715321" w="4679956">
                <a:moveTo>
                  <a:pt x="0" y="0"/>
                </a:moveTo>
                <a:lnTo>
                  <a:pt x="4679956" y="0"/>
                </a:lnTo>
                <a:lnTo>
                  <a:pt x="4679956" y="4715321"/>
                </a:lnTo>
                <a:lnTo>
                  <a:pt x="0" y="4715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7121649" y="7046627"/>
            <a:ext cx="3856615" cy="4783398"/>
          </a:xfrm>
          <a:custGeom>
            <a:avLst/>
            <a:gdLst/>
            <a:ahLst/>
            <a:cxnLst/>
            <a:rect r="r" b="b" t="t" l="l"/>
            <a:pathLst>
              <a:path h="4783398" w="3856615">
                <a:moveTo>
                  <a:pt x="0" y="0"/>
                </a:moveTo>
                <a:lnTo>
                  <a:pt x="3856615" y="0"/>
                </a:lnTo>
                <a:lnTo>
                  <a:pt x="3856615" y="4783398"/>
                </a:lnTo>
                <a:lnTo>
                  <a:pt x="0" y="4783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282759" y="1596366"/>
            <a:ext cx="7722482" cy="22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1"/>
              </a:lnSpc>
            </a:pPr>
            <a:r>
              <a:rPr lang="en-US" sz="12986" spc="-129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사무 자동화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8447" y="3328484"/>
            <a:ext cx="10971106" cy="22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1"/>
              </a:lnSpc>
            </a:pPr>
            <a:r>
              <a:rPr lang="en-US" sz="12986" spc="-129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추진 사업 보고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873" y="5561595"/>
            <a:ext cx="7314254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89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생산성 혁신을 위한 단순 반복 업무 자동화 및 기대 효과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3037" y="6212773"/>
            <a:ext cx="9341927" cy="33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1938" spc="-32">
                <a:solidFill>
                  <a:srgbClr val="222222">
                    <a:alpha val="4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작성부서: 사무자동화 추진팀  |  작성일: 2026년 6월 22일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932551">
            <a:off x="12854886" y="3446898"/>
            <a:ext cx="338810" cy="618832"/>
          </a:xfrm>
          <a:custGeom>
            <a:avLst/>
            <a:gdLst/>
            <a:ahLst/>
            <a:cxnLst/>
            <a:rect r="r" b="b" t="t" l="l"/>
            <a:pathLst>
              <a:path h="618832" w="338810">
                <a:moveTo>
                  <a:pt x="0" y="0"/>
                </a:moveTo>
                <a:lnTo>
                  <a:pt x="338810" y="0"/>
                </a:lnTo>
                <a:lnTo>
                  <a:pt x="338810" y="618832"/>
                </a:lnTo>
                <a:lnTo>
                  <a:pt x="0" y="618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494583">
            <a:off x="10968878" y="7937726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8" y="0"/>
                </a:lnTo>
                <a:lnTo>
                  <a:pt x="355778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2399852">
            <a:off x="2953319" y="7902737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8"/>
                </a:lnTo>
                <a:lnTo>
                  <a:pt x="0" y="434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528063">
            <a:off x="15596431" y="8468936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7493080" y="3614456"/>
            <a:ext cx="8623979" cy="0"/>
          </a:xfrm>
          <a:prstGeom prst="line">
            <a:avLst/>
          </a:prstGeom>
          <a:ln cap="rnd" w="19050">
            <a:solidFill>
              <a:srgbClr val="222222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7493080" y="4740182"/>
            <a:ext cx="8623979" cy="0"/>
          </a:xfrm>
          <a:prstGeom prst="line">
            <a:avLst/>
          </a:prstGeom>
          <a:ln cap="rnd" w="19050">
            <a:solidFill>
              <a:srgbClr val="222222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>
            <a:off x="7493080" y="5865908"/>
            <a:ext cx="8623979" cy="0"/>
          </a:xfrm>
          <a:prstGeom prst="line">
            <a:avLst/>
          </a:prstGeom>
          <a:ln cap="rnd" w="19050">
            <a:solidFill>
              <a:srgbClr val="222222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" id="9"/>
          <p:cNvSpPr/>
          <p:nvPr/>
        </p:nvSpPr>
        <p:spPr>
          <a:xfrm>
            <a:off x="7493080" y="6991634"/>
            <a:ext cx="8623979" cy="0"/>
          </a:xfrm>
          <a:prstGeom prst="line">
            <a:avLst/>
          </a:prstGeom>
          <a:ln cap="rnd" w="19050">
            <a:solidFill>
              <a:srgbClr val="222222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7914188" y="2774012"/>
            <a:ext cx="547523" cy="54752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E1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14188" y="3891611"/>
            <a:ext cx="547523" cy="54752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B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14188" y="5025932"/>
            <a:ext cx="547523" cy="54752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E0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14188" y="6151658"/>
            <a:ext cx="547523" cy="54752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E18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14188" y="7286909"/>
            <a:ext cx="547523" cy="54752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B3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152063" y="6151658"/>
            <a:ext cx="4157037" cy="4324616"/>
          </a:xfrm>
          <a:custGeom>
            <a:avLst/>
            <a:gdLst/>
            <a:ahLst/>
            <a:cxnLst/>
            <a:rect r="r" b="b" t="t" l="l"/>
            <a:pathLst>
              <a:path h="4324616" w="4157037">
                <a:moveTo>
                  <a:pt x="0" y="0"/>
                </a:moveTo>
                <a:lnTo>
                  <a:pt x="4157037" y="0"/>
                </a:lnTo>
                <a:lnTo>
                  <a:pt x="4157037" y="4324616"/>
                </a:lnTo>
                <a:lnTo>
                  <a:pt x="0" y="43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8641880" y="2670167"/>
            <a:ext cx="4876672" cy="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1. 추진 배경 및 현황 분석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41880" y="3814943"/>
            <a:ext cx="6782215" cy="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2. 사무 자동화 개선 방안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2595" y="2814169"/>
            <a:ext cx="869760" cy="40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29" spc="-124">
                <a:solidFill>
                  <a:srgbClr val="FDFDF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53070" y="3929529"/>
            <a:ext cx="869760" cy="40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29" spc="-124">
                <a:solidFill>
                  <a:srgbClr val="FDFDF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41880" y="4940669"/>
            <a:ext cx="4876672" cy="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나만의 사무 자동화 친구들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53070" y="5066089"/>
            <a:ext cx="869760" cy="40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29" spc="-124">
                <a:solidFill>
                  <a:srgbClr val="FDFDF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41880" y="6069217"/>
            <a:ext cx="7276245" cy="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4. 핵심 요약 및 제언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34020" y="6189758"/>
            <a:ext cx="869760" cy="40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29" spc="-124">
                <a:solidFill>
                  <a:srgbClr val="FDFDF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41880" y="7220234"/>
            <a:ext cx="6699877" cy="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5. 마무리 및 Q&amp;A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53070" y="7325009"/>
            <a:ext cx="869760" cy="40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29" spc="-124">
                <a:solidFill>
                  <a:srgbClr val="FDFDF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11174" y="5214154"/>
            <a:ext cx="3697926" cy="23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"/>
              </a:lnSpc>
            </a:pPr>
            <a:r>
              <a:rPr lang="en-US" sz="1555" spc="-31">
                <a:solidFill>
                  <a:srgbClr val="493D3D">
                    <a:alpha val="5176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사무 자동화 프레젠테이션 추진 목차입니다.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11174" y="2689217"/>
            <a:ext cx="2651240" cy="25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true" sz="1449" spc="243">
                <a:solidFill>
                  <a:srgbClr val="85695B">
                    <a:alpha val="3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name="TextBox 38" id="38"/>
          <p:cNvSpPr txBox="true"/>
          <p:nvPr/>
        </p:nvSpPr>
        <p:spPr>
          <a:xfrm rot="-18144">
            <a:off x="2540822" y="3069099"/>
            <a:ext cx="4747003" cy="211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1"/>
              </a:lnSpc>
            </a:pPr>
            <a:r>
              <a:rPr lang="en-US" sz="7456" spc="-342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사무 자동화</a:t>
            </a:r>
          </a:p>
          <a:p>
            <a:pPr algn="l" marL="0" indent="0" lvl="0">
              <a:lnSpc>
                <a:spcPts val="8201"/>
              </a:lnSpc>
            </a:pPr>
            <a:r>
              <a:rPr lang="en-US" sz="7456" spc="-342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추진 목차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494583">
            <a:off x="5777188" y="6986763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8" y="0"/>
                </a:lnTo>
                <a:lnTo>
                  <a:pt x="355778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0" id="40"/>
          <p:cNvSpPr/>
          <p:nvPr/>
        </p:nvSpPr>
        <p:spPr>
          <a:xfrm flipH="false" flipV="false" rot="2399852">
            <a:off x="1940821" y="7759937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675158" y="2878296"/>
            <a:ext cx="14937684" cy="0"/>
          </a:xfrm>
          <a:prstGeom prst="line">
            <a:avLst/>
          </a:prstGeom>
          <a:ln cap="flat" w="28575">
            <a:solidFill>
              <a:srgbClr val="F5E3E3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8046385" y="4263676"/>
            <a:ext cx="343503" cy="343503"/>
          </a:xfrm>
          <a:custGeom>
            <a:avLst/>
            <a:gdLst/>
            <a:ahLst/>
            <a:cxnLst/>
            <a:rect r="r" b="b" t="t" l="l"/>
            <a:pathLst>
              <a:path h="343503" w="343503">
                <a:moveTo>
                  <a:pt x="0" y="0"/>
                </a:moveTo>
                <a:lnTo>
                  <a:pt x="343503" y="0"/>
                </a:lnTo>
                <a:lnTo>
                  <a:pt x="343503" y="343503"/>
                </a:lnTo>
                <a:lnTo>
                  <a:pt x="0" y="34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2659715" y="3740739"/>
            <a:ext cx="3489665" cy="4652886"/>
          </a:xfrm>
          <a:custGeom>
            <a:avLst/>
            <a:gdLst/>
            <a:ahLst/>
            <a:cxnLst/>
            <a:rect r="r" b="b" t="t" l="l"/>
            <a:pathLst>
              <a:path h="4652886" w="3489665">
                <a:moveTo>
                  <a:pt x="0" y="0"/>
                </a:moveTo>
                <a:lnTo>
                  <a:pt x="3489665" y="0"/>
                </a:lnTo>
                <a:lnTo>
                  <a:pt x="3489665" y="4652886"/>
                </a:lnTo>
                <a:lnTo>
                  <a:pt x="0" y="4652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4404548" y="6067182"/>
            <a:ext cx="2997028" cy="2326443"/>
          </a:xfrm>
          <a:custGeom>
            <a:avLst/>
            <a:gdLst/>
            <a:ahLst/>
            <a:cxnLst/>
            <a:rect r="r" b="b" t="t" l="l"/>
            <a:pathLst>
              <a:path h="2326443" w="2997028">
                <a:moveTo>
                  <a:pt x="0" y="0"/>
                </a:moveTo>
                <a:lnTo>
                  <a:pt x="2997028" y="0"/>
                </a:lnTo>
                <a:lnTo>
                  <a:pt x="2997028" y="2326443"/>
                </a:lnTo>
                <a:lnTo>
                  <a:pt x="0" y="23264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752018" y="1305363"/>
            <a:ext cx="12793490" cy="117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9"/>
              </a:lnSpc>
            </a:pPr>
            <a:r>
              <a:rPr lang="en-US" sz="6778" spc="-135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1. 추진 배경 및 현황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15340" y="3964224"/>
            <a:ext cx="6737303" cy="76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4475" spc="-89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단순 반복 업무 비중 35% 도달로 인한 비효율 개선 시급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46385" y="5089122"/>
            <a:ext cx="8566457" cy="260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7"/>
              </a:lnSpc>
            </a:pPr>
            <a:r>
              <a:rPr sz="1400">
                <a:solidFill>
                  <a:srgbClr val="505050"/>
                </a:solidFill>
                <a:latin typeface="맑은 고딕"/>
              </a:rPr>
              <a:t>· 비즈니스 환경: 최근 1년간 온라인 사무 자동화 도구 도입의 급격한 확산</a:t>
            </a:r>
          </a:p>
          <a:p>
            <a:pPr algn="l">
              <a:lnSpc>
                <a:spcPts val="3477"/>
              </a:lnSpc>
            </a:pPr>
            <a:r>
              <a:rPr sz="1400">
                <a:solidFill>
                  <a:srgbClr val="505050"/>
                </a:solidFill>
                <a:latin typeface="맑은 고딕"/>
              </a:rPr>
              <a:t>· 현황 분석 결과: 단순 반복성 업무가 전체의 35%를 차지하여 효율성 저하</a:t>
            </a:r>
          </a:p>
          <a:p>
            <a:pPr algn="l">
              <a:lnSpc>
                <a:spcPts val="3477"/>
              </a:lnSpc>
            </a:pPr>
            <a:r>
              <a:rPr sz="1400">
                <a:solidFill>
                  <a:srgbClr val="505050"/>
                </a:solidFill>
                <a:latin typeface="맑은 고딕"/>
              </a:rPr>
              <a:t>· 핵심 개선 방향: 문서 작성, 자료 정리 및 보고서 제작 시간 절감이 핵심 과제</a:t>
            </a:r>
          </a:p>
          <a:p>
            <a:pPr algn="l">
              <a:lnSpc>
                <a:spcPts val="3477"/>
              </a:lnSpc>
            </a:pPr>
          </a:p>
          <a:p>
            <a:pPr algn="l">
              <a:lnSpc>
                <a:spcPts val="3477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494583">
            <a:off x="6636314" y="5694816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8" y="0"/>
                </a:lnTo>
                <a:lnTo>
                  <a:pt x="355778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2399852">
            <a:off x="2222534" y="6054580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675158" y="2878296"/>
            <a:ext cx="14937684" cy="0"/>
          </a:xfrm>
          <a:prstGeom prst="line">
            <a:avLst/>
          </a:prstGeom>
          <a:ln cap="flat" w="28575">
            <a:solidFill>
              <a:srgbClr val="F5E3E3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2707876" y="3392495"/>
            <a:ext cx="4175852" cy="3987931"/>
          </a:xfrm>
          <a:custGeom>
            <a:avLst/>
            <a:gdLst/>
            <a:ahLst/>
            <a:cxnLst/>
            <a:rect r="r" b="b" t="t" l="l"/>
            <a:pathLst>
              <a:path h="3987931" w="4175852">
                <a:moveTo>
                  <a:pt x="0" y="0"/>
                </a:moveTo>
                <a:lnTo>
                  <a:pt x="4175853" y="0"/>
                </a:lnTo>
                <a:lnTo>
                  <a:pt x="4175853" y="3987931"/>
                </a:lnTo>
                <a:lnTo>
                  <a:pt x="0" y="3987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-5400000">
            <a:off x="7227248" y="3392495"/>
            <a:ext cx="3828414" cy="3987931"/>
          </a:xfrm>
          <a:custGeom>
            <a:avLst/>
            <a:gdLst/>
            <a:ahLst/>
            <a:cxnLst/>
            <a:rect r="r" b="b" t="t" l="l"/>
            <a:pathLst>
              <a:path h="3987931" w="3828414">
                <a:moveTo>
                  <a:pt x="0" y="0"/>
                </a:moveTo>
                <a:lnTo>
                  <a:pt x="3828414" y="0"/>
                </a:lnTo>
                <a:lnTo>
                  <a:pt x="3828414" y="3987931"/>
                </a:lnTo>
                <a:lnTo>
                  <a:pt x="0" y="3987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1490973" y="3599207"/>
            <a:ext cx="3924046" cy="3757274"/>
          </a:xfrm>
          <a:custGeom>
            <a:avLst/>
            <a:gdLst/>
            <a:ahLst/>
            <a:cxnLst/>
            <a:rect r="r" b="b" t="t" l="l"/>
            <a:pathLst>
              <a:path h="3757274" w="3924046">
                <a:moveTo>
                  <a:pt x="0" y="0"/>
                </a:moveTo>
                <a:lnTo>
                  <a:pt x="3924046" y="0"/>
                </a:lnTo>
                <a:lnTo>
                  <a:pt x="3924046" y="3757273"/>
                </a:lnTo>
                <a:lnTo>
                  <a:pt x="0" y="3757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4370023" y="5524014"/>
            <a:ext cx="2191873" cy="1986385"/>
          </a:xfrm>
          <a:custGeom>
            <a:avLst/>
            <a:gdLst/>
            <a:ahLst/>
            <a:cxnLst/>
            <a:rect r="r" b="b" t="t" l="l"/>
            <a:pathLst>
              <a:path h="1986385" w="2191873">
                <a:moveTo>
                  <a:pt x="0" y="0"/>
                </a:moveTo>
                <a:lnTo>
                  <a:pt x="2191873" y="0"/>
                </a:lnTo>
                <a:lnTo>
                  <a:pt x="2191873" y="1986384"/>
                </a:lnTo>
                <a:lnTo>
                  <a:pt x="0" y="19863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675158" y="5522965"/>
            <a:ext cx="2208860" cy="1714628"/>
          </a:xfrm>
          <a:custGeom>
            <a:avLst/>
            <a:gdLst/>
            <a:ahLst/>
            <a:cxnLst/>
            <a:rect r="r" b="b" t="t" l="l"/>
            <a:pathLst>
              <a:path h="1714628" w="2208860">
                <a:moveTo>
                  <a:pt x="0" y="0"/>
                </a:moveTo>
                <a:lnTo>
                  <a:pt x="2208860" y="0"/>
                </a:lnTo>
                <a:lnTo>
                  <a:pt x="2208860" y="1714628"/>
                </a:lnTo>
                <a:lnTo>
                  <a:pt x="0" y="17146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2752018" y="1305363"/>
            <a:ext cx="12793490" cy="117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9"/>
              </a:lnSpc>
            </a:pPr>
            <a:r>
              <a:rPr lang="en-US" sz="6778" spc="-135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2. 사무 자동화 개선 방안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63070" y="4569297"/>
            <a:ext cx="2428122" cy="23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b="true" sz="1327" spc="49">
                <a:solidFill>
                  <a:srgbClr val="FDFDFB"/>
                </a:solidFill>
                <a:latin typeface="Poppins Bold"/>
                <a:ea typeface="Poppins Bold"/>
                <a:cs typeface="Poppins Bold"/>
                <a:sym typeface="Poppins Bold"/>
              </a:rPr>
              <a:t>서식 표준화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63070" y="5001528"/>
            <a:ext cx="2428122" cy="205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재미있는</a:t>
            </a:r>
          </a:p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요소!</a:t>
            </a:r>
          </a:p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591718" y="4569297"/>
            <a:ext cx="2428122" cy="23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b="true" sz="1327" spc="49">
                <a:solidFill>
                  <a:srgbClr val="FDFDFB"/>
                </a:solidFill>
                <a:latin typeface="Poppins Bold"/>
                <a:ea typeface="Poppins Bold"/>
                <a:cs typeface="Poppins Bold"/>
                <a:sym typeface="Poppins Bold"/>
              </a:rPr>
              <a:t>초안 자동화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33904" y="4569297"/>
            <a:ext cx="2428122" cy="23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b="true" sz="1327" spc="49">
                <a:solidFill>
                  <a:srgbClr val="FDFDFB"/>
                </a:solidFill>
                <a:latin typeface="Poppins Bold"/>
                <a:ea typeface="Poppins Bold"/>
                <a:cs typeface="Poppins Bold"/>
                <a:sym typeface="Poppins Bold"/>
              </a:rPr>
              <a:t>파일 자동화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91718" y="5001528"/>
            <a:ext cx="2428122" cy="137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중요한</a:t>
            </a:r>
          </a:p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정보!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33904" y="5001528"/>
            <a:ext cx="2428122" cy="205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핵심적인</a:t>
            </a:r>
          </a:p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4800" spc="-33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힌트!</a:t>
            </a:r>
          </a:p>
          <a:p>
            <a:pPr algn="ctr" marL="0" indent="0" lvl="0">
              <a:lnSpc>
                <a:spcPts val="5328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528412" y="7713801"/>
            <a:ext cx="13231175" cy="84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77"/>
              </a:lnSpc>
              <a:spcBef>
                <a:spcPct val="0"/>
              </a:spcBef>
            </a:pPr>
            <a:r>
              <a:rPr sz="1200">
                <a:solidFill>
                  <a:srgbClr val="505050"/>
                </a:solidFill>
                <a:latin typeface="맑은 고딕"/>
              </a:rPr>
              <a:t>· AI 초안: 생성형 AI 기반 문서 초안 신속 작성 및 시간 감축
· 파일 자동화: csv/pdf 확장자 일괄 자동 재패키징 및 수작업 이관
· 양식 표준화: 사내 문서 및 발표 템플릿 규격화를 통한 커뮤니케이션 제고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494583">
            <a:off x="1976516" y="5167203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9" y="0"/>
                </a:lnTo>
                <a:lnTo>
                  <a:pt x="355779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-528063">
            <a:off x="16273873" y="5459436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675158" y="2878296"/>
            <a:ext cx="14937684" cy="0"/>
          </a:xfrm>
          <a:prstGeom prst="line">
            <a:avLst/>
          </a:prstGeom>
          <a:ln cap="flat" w="28575">
            <a:solidFill>
              <a:srgbClr val="F5E3E3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752018" y="1305363"/>
            <a:ext cx="12793490" cy="117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9"/>
              </a:lnSpc>
            </a:pPr>
            <a:r>
              <a:rPr lang="en-US" sz="6778" spc="-135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3. 도입 기대 효과 및 시간 절감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65670" y="3523859"/>
          <a:ext cx="13951389" cy="4862899"/>
        </p:xfrm>
        <a:graphic>
          <a:graphicData uri="http://schemas.openxmlformats.org/drawingml/2006/table">
            <a:tbl>
              <a:tblPr/>
              <a:tblGrid>
                <a:gridCol w="3071634"/>
                <a:gridCol w="3443502"/>
                <a:gridCol w="7436253"/>
              </a:tblGrid>
              <a:tr h="972580">
                <a:tc>
                  <a:txBody>
                    <a:bodyPr anchor="t" rtlCol="fals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도입 전 소요시간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07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도입 후 소요시간 (절감률)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D2"/>
                    </a:solidFill>
                  </a:tcPr>
                </a:tc>
              </a:tr>
              <a:tr h="972580">
                <a:tc>
                  <a:txBody>
                    <a:bodyPr anchor="t" rtlCol="false"/>
                    <a:lstStyle/>
                    <a:p>
                      <a:pPr algn="ctr">
                        <a:defRPr sz="1200" b="1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문서 작성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8시간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3시간 (62% 절감)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972580">
                <a:tc>
                  <a:txBody>
                    <a:bodyPr anchor="t" rtlCol="false"/>
                    <a:lstStyle/>
                    <a:p>
                      <a:pPr algn="ctr">
                        <a:defRPr sz="1200" b="1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자료 정리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5시간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1시간 (80% 절감)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972580">
                <a:tc>
                  <a:txBody>
                    <a:bodyPr anchor="t" rtlCol="false"/>
                    <a:lstStyle/>
                    <a:p>
                      <a:pPr algn="ctr">
                        <a:defRPr sz="1200" b="1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보고서 제작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6시간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200" b="0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2시간 (67% 절감)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972580">
                <a:tc>
                  <a:txBody>
                    <a:bodyPr anchor="t" rtlCol="false"/>
                    <a:lstStyle/>
                    <a:p>
                      <a:pPr algn="ctr">
                        <a:defRPr sz="1200" b="1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합계 및 절감 효과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defRPr sz="1200" b="1">
                          <a:solidFill>
                            <a:srgbClr val="505050"/>
                          </a:solidFill>
                          <a:latin typeface="맑은 고딕"/>
                        </a:defRPr>
                      </a:pPr>
                      <a:r>
                        <a:t>연간 약 1,200시간의 업무 시간 절감 예상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 hMerge="1">
                  <a:txBody>
                    <a:bodyPr anchor="t" rtlCol="false"/>
                    <a:lstStyle/>
                    <a:p/>
                  </a:txBody>
                  <a:tcPr marL="0" marR="0" marT="0" marB="0" anchor="ctr">
                    <a:lnL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675158" y="2878296"/>
            <a:ext cx="14937684" cy="0"/>
          </a:xfrm>
          <a:prstGeom prst="line">
            <a:avLst/>
          </a:prstGeom>
          <a:ln cap="flat" w="28575">
            <a:solidFill>
              <a:srgbClr val="F5E3E3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3037057" y="4497795"/>
            <a:ext cx="12213885" cy="1148484"/>
            <a:chOff x="0" y="0"/>
            <a:chExt cx="3216826" cy="302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16826" cy="302481"/>
            </a:xfrm>
            <a:custGeom>
              <a:avLst/>
              <a:gdLst/>
              <a:ahLst/>
              <a:cxnLst/>
              <a:rect r="r" b="b" t="t" l="l"/>
              <a:pathLst>
                <a:path h="302481" w="3216826">
                  <a:moveTo>
                    <a:pt x="12677" y="0"/>
                  </a:moveTo>
                  <a:lnTo>
                    <a:pt x="3204148" y="0"/>
                  </a:lnTo>
                  <a:cubicBezTo>
                    <a:pt x="3211150" y="0"/>
                    <a:pt x="3216826" y="5676"/>
                    <a:pt x="3216826" y="12677"/>
                  </a:cubicBezTo>
                  <a:lnTo>
                    <a:pt x="3216826" y="289804"/>
                  </a:lnTo>
                  <a:cubicBezTo>
                    <a:pt x="3216826" y="296806"/>
                    <a:pt x="3211150" y="302481"/>
                    <a:pt x="3204148" y="302481"/>
                  </a:cubicBezTo>
                  <a:lnTo>
                    <a:pt x="12677" y="302481"/>
                  </a:lnTo>
                  <a:cubicBezTo>
                    <a:pt x="5676" y="302481"/>
                    <a:pt x="0" y="296806"/>
                    <a:pt x="0" y="289804"/>
                  </a:cubicBezTo>
                  <a:lnTo>
                    <a:pt x="0" y="12677"/>
                  </a:lnTo>
                  <a:cubicBezTo>
                    <a:pt x="0" y="5676"/>
                    <a:pt x="5676" y="0"/>
                    <a:pt x="12677" y="0"/>
                  </a:cubicBezTo>
                  <a:close/>
                </a:path>
              </a:pathLst>
            </a:custGeom>
            <a:solidFill>
              <a:srgbClr val="EAEAEA">
                <a:alpha val="6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216826" cy="359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37057" y="5784601"/>
            <a:ext cx="12213885" cy="1148484"/>
            <a:chOff x="0" y="0"/>
            <a:chExt cx="3216826" cy="302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16826" cy="302481"/>
            </a:xfrm>
            <a:custGeom>
              <a:avLst/>
              <a:gdLst/>
              <a:ahLst/>
              <a:cxnLst/>
              <a:rect r="r" b="b" t="t" l="l"/>
              <a:pathLst>
                <a:path h="302481" w="3216826">
                  <a:moveTo>
                    <a:pt x="12677" y="0"/>
                  </a:moveTo>
                  <a:lnTo>
                    <a:pt x="3204148" y="0"/>
                  </a:lnTo>
                  <a:cubicBezTo>
                    <a:pt x="3211150" y="0"/>
                    <a:pt x="3216826" y="5676"/>
                    <a:pt x="3216826" y="12677"/>
                  </a:cubicBezTo>
                  <a:lnTo>
                    <a:pt x="3216826" y="289804"/>
                  </a:lnTo>
                  <a:cubicBezTo>
                    <a:pt x="3216826" y="296806"/>
                    <a:pt x="3211150" y="302481"/>
                    <a:pt x="3204148" y="302481"/>
                  </a:cubicBezTo>
                  <a:lnTo>
                    <a:pt x="12677" y="302481"/>
                  </a:lnTo>
                  <a:cubicBezTo>
                    <a:pt x="5676" y="302481"/>
                    <a:pt x="0" y="296806"/>
                    <a:pt x="0" y="289804"/>
                  </a:cubicBezTo>
                  <a:lnTo>
                    <a:pt x="0" y="12677"/>
                  </a:lnTo>
                  <a:cubicBezTo>
                    <a:pt x="0" y="5676"/>
                    <a:pt x="5676" y="0"/>
                    <a:pt x="12677" y="0"/>
                  </a:cubicBezTo>
                  <a:close/>
                </a:path>
              </a:pathLst>
            </a:custGeom>
            <a:solidFill>
              <a:srgbClr val="EAEAEA">
                <a:alpha val="6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216826" cy="359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37057" y="7075960"/>
            <a:ext cx="12213885" cy="1148484"/>
            <a:chOff x="0" y="0"/>
            <a:chExt cx="3216826" cy="3024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16826" cy="302481"/>
            </a:xfrm>
            <a:custGeom>
              <a:avLst/>
              <a:gdLst/>
              <a:ahLst/>
              <a:cxnLst/>
              <a:rect r="r" b="b" t="t" l="l"/>
              <a:pathLst>
                <a:path h="302481" w="3216826">
                  <a:moveTo>
                    <a:pt x="12677" y="0"/>
                  </a:moveTo>
                  <a:lnTo>
                    <a:pt x="3204148" y="0"/>
                  </a:lnTo>
                  <a:cubicBezTo>
                    <a:pt x="3211150" y="0"/>
                    <a:pt x="3216826" y="5676"/>
                    <a:pt x="3216826" y="12677"/>
                  </a:cubicBezTo>
                  <a:lnTo>
                    <a:pt x="3216826" y="289804"/>
                  </a:lnTo>
                  <a:cubicBezTo>
                    <a:pt x="3216826" y="296806"/>
                    <a:pt x="3211150" y="302481"/>
                    <a:pt x="3204148" y="302481"/>
                  </a:cubicBezTo>
                  <a:lnTo>
                    <a:pt x="12677" y="302481"/>
                  </a:lnTo>
                  <a:cubicBezTo>
                    <a:pt x="5676" y="302481"/>
                    <a:pt x="0" y="296806"/>
                    <a:pt x="0" y="289804"/>
                  </a:cubicBezTo>
                  <a:lnTo>
                    <a:pt x="0" y="12677"/>
                  </a:lnTo>
                  <a:cubicBezTo>
                    <a:pt x="0" y="5676"/>
                    <a:pt x="5676" y="0"/>
                    <a:pt x="12677" y="0"/>
                  </a:cubicBezTo>
                  <a:close/>
                </a:path>
              </a:pathLst>
            </a:custGeom>
            <a:solidFill>
              <a:srgbClr val="EAEAEA">
                <a:alpha val="6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216826" cy="359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82027" y="4783274"/>
            <a:ext cx="532740" cy="53274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E1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82027" y="6070080"/>
            <a:ext cx="532740" cy="5327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E07C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82027" y="7361439"/>
            <a:ext cx="532740" cy="53274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D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69057">
            <a:off x="13392125" y="6036805"/>
            <a:ext cx="3353912" cy="4782762"/>
          </a:xfrm>
          <a:custGeom>
            <a:avLst/>
            <a:gdLst/>
            <a:ahLst/>
            <a:cxnLst/>
            <a:rect r="r" b="b" t="t" l="l"/>
            <a:pathLst>
              <a:path h="4782762" w="3353912">
                <a:moveTo>
                  <a:pt x="0" y="0"/>
                </a:moveTo>
                <a:lnTo>
                  <a:pt x="3353912" y="0"/>
                </a:lnTo>
                <a:lnTo>
                  <a:pt x="3353912" y="4782761"/>
                </a:lnTo>
                <a:lnTo>
                  <a:pt x="0" y="4782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6" id="26"/>
          <p:cNvSpPr/>
          <p:nvPr/>
        </p:nvSpPr>
        <p:spPr>
          <a:xfrm flipH="false" flipV="false" rot="0">
            <a:off x="16137871" y="4519036"/>
            <a:ext cx="1833764" cy="1338648"/>
          </a:xfrm>
          <a:custGeom>
            <a:avLst/>
            <a:gdLst/>
            <a:ahLst/>
            <a:cxnLst/>
            <a:rect r="r" b="b" t="t" l="l"/>
            <a:pathLst>
              <a:path h="1338648" w="1833764">
                <a:moveTo>
                  <a:pt x="0" y="0"/>
                </a:moveTo>
                <a:lnTo>
                  <a:pt x="1833764" y="0"/>
                </a:lnTo>
                <a:lnTo>
                  <a:pt x="1833764" y="1338648"/>
                </a:lnTo>
                <a:lnTo>
                  <a:pt x="0" y="1338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7" id="27"/>
          <p:cNvSpPr/>
          <p:nvPr/>
        </p:nvSpPr>
        <p:spPr>
          <a:xfrm flipH="false" flipV="false" rot="0">
            <a:off x="12073279" y="8935258"/>
            <a:ext cx="1271149" cy="1917510"/>
          </a:xfrm>
          <a:custGeom>
            <a:avLst/>
            <a:gdLst/>
            <a:ahLst/>
            <a:cxnLst/>
            <a:rect r="r" b="b" t="t" l="l"/>
            <a:pathLst>
              <a:path h="1917510" w="1271149">
                <a:moveTo>
                  <a:pt x="0" y="0"/>
                </a:moveTo>
                <a:lnTo>
                  <a:pt x="1271150" y="0"/>
                </a:lnTo>
                <a:lnTo>
                  <a:pt x="1271150" y="1917510"/>
                </a:lnTo>
                <a:lnTo>
                  <a:pt x="0" y="1917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2752018" y="1305363"/>
            <a:ext cx="12793490" cy="117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9"/>
              </a:lnSpc>
            </a:pPr>
            <a:r>
              <a:rPr lang="en-US" sz="6778" spc="-135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4. 핵심 요약 및 제안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36390" y="3647684"/>
            <a:ext cx="13624746" cy="41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</a:pPr>
            <a:r>
              <a:rPr lang="en-US" sz="2349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■ 제안: 7월 내 자동화 템플릿 배포 및 교육  |  분기별 모니터링 체계 가동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08663" y="4767453"/>
            <a:ext cx="9639800" cy="4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749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단순 행정 반복 업무 35%에 대한 자동화 적용으로 부서별 효율성 확보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08663" y="6054258"/>
            <a:ext cx="9639800" cy="4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749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AI 문서 초안 작성 도입을 통해 문서 작성 소요 시간 최대 62% 단축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08663" y="7345618"/>
            <a:ext cx="9639800" cy="4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749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파일 자동 변환 및 양식 규격화 도입으로 연간 총 1,200시간 리소스 확보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13517" y="4863303"/>
            <a:ext cx="869760" cy="32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b="true" sz="1829" spc="-102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13517" y="6150109"/>
            <a:ext cx="869760" cy="32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b="true" sz="1829" spc="-102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213517" y="7441468"/>
            <a:ext cx="869760" cy="32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b="true" sz="1829" spc="-102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494583">
            <a:off x="11694344" y="8562150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9" y="0"/>
                </a:lnTo>
                <a:lnTo>
                  <a:pt x="355779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7" id="37"/>
          <p:cNvSpPr/>
          <p:nvPr/>
        </p:nvSpPr>
        <p:spPr>
          <a:xfrm flipH="false" flipV="false" rot="2399852">
            <a:off x="16833986" y="8211006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37" y="696335"/>
            <a:ext cx="16759325" cy="8894330"/>
            <a:chOff x="0" y="0"/>
            <a:chExt cx="22345767" cy="1185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6038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18856038">
                  <a:moveTo>
                    <a:pt x="0" y="0"/>
                  </a:moveTo>
                  <a:lnTo>
                    <a:pt x="18856038" y="0"/>
                  </a:lnTo>
                  <a:lnTo>
                    <a:pt x="18856038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281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843338" y="0"/>
              <a:ext cx="3502429" cy="11859106"/>
            </a:xfrm>
            <a:custGeom>
              <a:avLst/>
              <a:gdLst/>
              <a:ahLst/>
              <a:cxnLst/>
              <a:rect r="r" b="b" t="t" l="l"/>
              <a:pathLst>
                <a:path h="11859106" w="3502429">
                  <a:moveTo>
                    <a:pt x="0" y="0"/>
                  </a:moveTo>
                  <a:lnTo>
                    <a:pt x="3502429" y="0"/>
                  </a:lnTo>
                  <a:lnTo>
                    <a:pt x="3502429" y="11859106"/>
                  </a:lnTo>
                  <a:lnTo>
                    <a:pt x="0" y="1185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07348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871258" y="7332341"/>
            <a:ext cx="4250391" cy="3851917"/>
          </a:xfrm>
          <a:custGeom>
            <a:avLst/>
            <a:gdLst/>
            <a:ahLst/>
            <a:cxnLst/>
            <a:rect r="r" b="b" t="t" l="l"/>
            <a:pathLst>
              <a:path h="3851917" w="4250391">
                <a:moveTo>
                  <a:pt x="0" y="0"/>
                </a:moveTo>
                <a:lnTo>
                  <a:pt x="4250391" y="0"/>
                </a:lnTo>
                <a:lnTo>
                  <a:pt x="4250391" y="3851918"/>
                </a:lnTo>
                <a:lnTo>
                  <a:pt x="0" y="3851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1146767" y="7212907"/>
            <a:ext cx="4679956" cy="4715321"/>
          </a:xfrm>
          <a:custGeom>
            <a:avLst/>
            <a:gdLst/>
            <a:ahLst/>
            <a:cxnLst/>
            <a:rect r="r" b="b" t="t" l="l"/>
            <a:pathLst>
              <a:path h="4715321" w="4679956">
                <a:moveTo>
                  <a:pt x="0" y="0"/>
                </a:moveTo>
                <a:lnTo>
                  <a:pt x="4679956" y="0"/>
                </a:lnTo>
                <a:lnTo>
                  <a:pt x="4679956" y="4715321"/>
                </a:lnTo>
                <a:lnTo>
                  <a:pt x="0" y="4715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7121649" y="7046627"/>
            <a:ext cx="3856615" cy="4783398"/>
          </a:xfrm>
          <a:custGeom>
            <a:avLst/>
            <a:gdLst/>
            <a:ahLst/>
            <a:cxnLst/>
            <a:rect r="r" b="b" t="t" l="l"/>
            <a:pathLst>
              <a:path h="4783398" w="3856615">
                <a:moveTo>
                  <a:pt x="0" y="0"/>
                </a:moveTo>
                <a:lnTo>
                  <a:pt x="3856615" y="0"/>
                </a:lnTo>
                <a:lnTo>
                  <a:pt x="3856615" y="4783398"/>
                </a:lnTo>
                <a:lnTo>
                  <a:pt x="0" y="4783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282759" y="1596366"/>
            <a:ext cx="7722482" cy="22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1"/>
              </a:lnSpc>
            </a:pPr>
            <a:r>
              <a:rPr lang="en-US" sz="12986" spc="-129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경청해 주셔서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8447" y="3328484"/>
            <a:ext cx="10971106" cy="22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1"/>
              </a:lnSpc>
            </a:pPr>
            <a:r>
              <a:rPr lang="en-US" sz="12986" spc="-129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감사합니다!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873" y="5561595"/>
            <a:ext cx="7314254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89" strike="noStrike" u="none">
                <a:solidFill>
                  <a:srgbClr val="222222"/>
                </a:solidFill>
                <a:latin typeface="TDTD달밤의추억"/>
                <a:ea typeface="TDTD달밤의추억"/>
                <a:cs typeface="TDTD달밤의추억"/>
                <a:sym typeface="TDTD달밤의추억"/>
              </a:rPr>
              <a:t>사무 자동화 추진 사업 보고 - Q&amp;A 및 토론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3037" y="6212773"/>
            <a:ext cx="9341927" cy="33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1938" spc="-32">
                <a:solidFill>
                  <a:srgbClr val="222222">
                    <a:alpha val="4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문의처: 사무자동화 추진팀 (help_oa@company.com / 내선 200)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932551">
            <a:off x="11900510" y="3401452"/>
            <a:ext cx="338810" cy="618832"/>
          </a:xfrm>
          <a:custGeom>
            <a:avLst/>
            <a:gdLst/>
            <a:ahLst/>
            <a:cxnLst/>
            <a:rect r="r" b="b" t="t" l="l"/>
            <a:pathLst>
              <a:path h="618832" w="338810">
                <a:moveTo>
                  <a:pt x="0" y="0"/>
                </a:moveTo>
                <a:lnTo>
                  <a:pt x="338810" y="0"/>
                </a:lnTo>
                <a:lnTo>
                  <a:pt x="338810" y="618831"/>
                </a:lnTo>
                <a:lnTo>
                  <a:pt x="0" y="618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494583">
            <a:off x="10968878" y="7937726"/>
            <a:ext cx="355779" cy="348663"/>
          </a:xfrm>
          <a:custGeom>
            <a:avLst/>
            <a:gdLst/>
            <a:ahLst/>
            <a:cxnLst/>
            <a:rect r="r" b="b" t="t" l="l"/>
            <a:pathLst>
              <a:path h="348663" w="355779">
                <a:moveTo>
                  <a:pt x="0" y="0"/>
                </a:moveTo>
                <a:lnTo>
                  <a:pt x="355778" y="0"/>
                </a:lnTo>
                <a:lnTo>
                  <a:pt x="355778" y="348663"/>
                </a:lnTo>
                <a:lnTo>
                  <a:pt x="0" y="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2399852">
            <a:off x="2953319" y="7902737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8"/>
                </a:lnTo>
                <a:lnTo>
                  <a:pt x="0" y="434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528063">
            <a:off x="15596431" y="8468936"/>
            <a:ext cx="441534" cy="434359"/>
          </a:xfrm>
          <a:custGeom>
            <a:avLst/>
            <a:gdLst/>
            <a:ahLst/>
            <a:cxnLst/>
            <a:rect r="r" b="b" t="t" l="l"/>
            <a:pathLst>
              <a:path h="434359" w="441534">
                <a:moveTo>
                  <a:pt x="0" y="0"/>
                </a:moveTo>
                <a:lnTo>
                  <a:pt x="441534" y="0"/>
                </a:lnTo>
                <a:lnTo>
                  <a:pt x="441534" y="434359"/>
                </a:lnTo>
                <a:lnTo>
                  <a:pt x="0" y="4343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16704605" y="1150281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2"/>
                </a:lnTo>
                <a:lnTo>
                  <a:pt x="0" y="3682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DAHNQYrVBBI</dc:identifier>
  <dcterms:modified xsi:type="dcterms:W3CDTF">2011-08-01T06:04:30Z</dcterms:modified>
  <cp:revision>1</cp:revision>
  <dc:title>핑크색과 노란색 연두색 파스텔톤 귀여운 어린이 컨텐츠 프레젠테이션</dc:title>
</cp:coreProperties>
</file>