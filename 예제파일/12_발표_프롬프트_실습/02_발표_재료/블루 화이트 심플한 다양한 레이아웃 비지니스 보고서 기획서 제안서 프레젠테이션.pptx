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9" r:id="rId9"/>
    <p:sldId id="260" r:id="rId10"/>
    <p:sldId id="261" r:id="rId11"/>
    <p:sldId id="262" r:id="rId12"/>
    <p:sldId id="258" r:id="rId8"/>
    <p:sldId id="263" r:id="rId13"/>
    <p:sldId id="266" r:id="rId16"/>
  </p:sldIdLst>
  <p:sldSz cx="18288000" cy="10287000"/>
  <p:notesSz cx="6858000" cy="9144000"/>
  <p:embeddedFontLst>
    <p:embeddedFont>
      <p:font typeface="Tlab 모던라이프 Medium" charset="1" panose="020B0603000000000000"/>
      <p:regular r:id="rId17"/>
    </p:embeddedFont>
    <p:embeddedFont>
      <p:font typeface="JASO Sans" charset="1" panose="020E0002060000000900"/>
      <p:regular r:id="rId18"/>
    </p:embeddedFont>
    <p:embeddedFont>
      <p:font typeface="Inter" charset="1" panose="02000503000000020004"/>
      <p:regular r:id="rId19"/>
    </p:embeddedFont>
    <p:embeddedFont>
      <p:font typeface="네모고딕" charset="1" panose="020B0500000000000000"/>
      <p:regular r:id="rId20"/>
    </p:embeddedFont>
    <p:embeddedFont>
      <p:font typeface="TT Fors" charset="1" panose="020B000303000102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11.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전략기획팀 보고를 맡은 김민서 대리입니다. 지금부터 2025년 하반기 사업 계획 발표를 시작하게 되었습니다. 본 계획서는 상반기 실적을 토대로 하반기 매출 32억 원 목표를 성공적으로 달성하기 위한 구체적인 4대 전략과 세부 일정을 제시하고자 수립했습니다. 다음 슬라이드로 이동하여 발표 목차에 대해 안내를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오늘 보고드릴 5가지 핵심 목차입니다. 구체적으로 말씀드리면, 먼저 당사의 하반기 도약 비전과 지표 목표를 공유하고, 이를 수행할 핵심 4대 사업 전략을 예산과 연계하여 정리했습니다. 이어서 월별 상세 실행안 및 예상 손익, 그리고 발생 가능한 리스크 대응책 순으로 구성했습니다. 첫 번째 순서인 비전 및 목표부터 보고를 시작하도록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당사의 하반기 지향 비전과 정량적 목표 요약입니다. 구체적으로 말씀드리면, 당사는 '디지털 전환의 동반자, 고객 성공의 파트너'라는 새로운 비전 아래, 하반기 매출 목표 32억 원을 수립했습니다. 이는 상반기 성과 대비 12.6% 증가한 수치로 분석되었습니다. 또한 신규 고객 350건 유치와 품질 강화를 통한 NPS 78점 이상 확보를 핵심 지표로 설정했습니다. 다음 슬라이드에서는 이러한 성과를 만들기 위한 핵심 4대 전략과 예산 비중을 살펴보도록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4대 핵심 전략과 사업 예산 비중입니다. 구체적으로 말씀드리면, 전체 예산 6억 5,000만 원 중 프리미엄 라인 고도화에 2억 3,000만 원, 엔터프라이즈 B2B 영업망 확장에 1억 8,000만 원을 책정하여 상반기 핵심 수익 모델에 리소스를 집중 투자했습니다. 아울러 지방 시장 개척에 1억 5,000만 원, 고객 경험 혁신에 9,000만 원을 안배하여 균형 있는 성장을 도모했습니다. 다음 슬라이드로 이동하여 월별 추진 일정을 로드맵으로 확인하도록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추진 월별 로드맵입니다. 구체적으로 말씀드리면, 7월에 프리미엄 V2.0 출시를 마친 뒤, 8월 B2B 금융 및 공공팀 조직 신설을 단행했습니다. 9월에는 부산과 대구에 지역 파트너 센터를 개소하여 전국 커버리지를 늘렸습니다. 이후 10월 교육기관 특화 패키지 런칭과 24시간 CS 인프라를 가동하고, 11월 지자체 디지털 교육을 활성화하여 12월 최종 결산하도록 계획했습니다. 이러한 로드맵 실행을 통한 예상 재무 손익을 이어서 보고하도록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예상 손익 전망입니다. 구체적으로 말씀드리면, 매출 32억 원 달성 대비 예상 비용은 총 22억 4,000만 원으로 전망했습니다. 비용 상세 항목은 R&amp;D 인건비 14억 2,000만 원, 마케팅비 4억 6,000만 원, 그리고 운영비 3억 6,000만 원으로 계획했습니다. 이를 통해 영업이익 9억 6,000만 원을 달성하고 30.0%의 우수한 영업이익률을 확보할 것으로 보입니다. 다음 슬라이드에서 극복할 잠재 리스크와 그 대응책을 보고하도록 준비했습니다.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예상되는 위협 리스크 및 이에 대한 예방 조치입니다. 구체적으로 말씀드리면, 첫째, 거시 경기 둔화 우려에 대처하기 위해 장기 분할 납부 제도를 도입했습니다. 둘째, 타사 견제를 위해 핵심 AI 기능 탑재 일정을 9월에서 8월로 한 달 당겨 조기 출시하기로 결정했습니다. 셋째, 업무 병목 방지를 위해 8월까지 핵심 인원 3명을 충원했습니다. 이어서 하반기 사업 계획의 종합 요약과 제안 단계를 보고하도록 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비즈니스의 종합 제언입니다. 구체적으로 말씀드리면, 하반기 매출 32억 원 달성을 위해 프리미엄 업셀링과 B2B 전담 영업팀 조직 가동을 결합했습니다. 아울러 지방 시장 활성화와 AI 출시 일정 준수를 선행 과제로 지정했습니다. 이에 대한 건의 사항으로 승인 통과 즉시 킥오프 워크숍을 가동하고 7월 R&amp;D 일정을 정밀 진단할 계획입니다. 다음으로 마지막 Q&amp;A 시간으로 넘어가도록 구성했습니다.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2025년 하반기 사업 계획 발표를 모두 마치고 Q&amp;A 시간으로 전환했습니다. 오늘 공유드린 전략 과제와 손익 전망에 대해 질의나 건의사항이 있으시다면 편안하게 개진할 수 있도록 질의응답 자리를 마련했습니다. 경청해 주셔서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notesSlide" Target="../notesSlides/notes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13.png"/><Relationship Id="rId7" Type="http://schemas.openxmlformats.org/officeDocument/2006/relationships/image" Target="../media/image14.svg"/><Relationship Id="rId8" Type="http://schemas.openxmlformats.org/officeDocument/2006/relationships/image" Target="../media/image15.png"/><Relationship Id="rId9" Type="http://schemas.openxmlformats.org/officeDocument/2006/relationships/image" Target="../media/image16.svg"/><Relationship Id="rId10" Type="http://schemas.openxmlformats.org/officeDocument/2006/relationships/image" Target="../media/image17.png"/><Relationship Id="rId11" Type="http://schemas.openxmlformats.org/officeDocument/2006/relationships/image" Target="../media/image18.svg"/><Relationship Id="rId1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9.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sp>
        <p:nvSpPr>
          <p:cNvPr name="AutoShape 15" id="15"/>
          <p:cNvSpPr/>
          <p:nvPr/>
        </p:nvSpPr>
        <p:spPr>
          <a:xfrm>
            <a:off x="785004" y="8962268"/>
            <a:ext cx="16717992" cy="0"/>
          </a:xfrm>
          <a:prstGeom prst="line">
            <a:avLst/>
          </a:prstGeom>
          <a:ln cap="flat" w="19050">
            <a:solidFill>
              <a:srgbClr val="DADADA"/>
            </a:solidFill>
            <a:prstDash val="solid"/>
            <a:headEnd type="none" len="sm" w="sm"/>
            <a:tailEnd type="none" len="sm" w="sm"/>
          </a:ln>
        </p:spPr>
        <p:txBody>
          <a:bodyPr/>
          <a:p/>
        </p:txBody>
      </p:sp>
      <p:grpSp>
        <p:nvGrpSpPr>
          <p:cNvPr name="Group 16" id="16"/>
          <p:cNvGrpSpPr/>
          <p:nvPr/>
        </p:nvGrpSpPr>
        <p:grpSpPr>
          <a:xfrm rot="0">
            <a:off x="1343348" y="167925"/>
            <a:ext cx="733205" cy="1399054"/>
            <a:chOff x="0" y="0"/>
            <a:chExt cx="977606" cy="1865406"/>
          </a:xfrm>
        </p:grpSpPr>
        <p:sp>
          <p:nvSpPr>
            <p:cNvPr name="Freeform 17" id="17"/>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0" y="326140"/>
              <a:ext cx="707705" cy="275585"/>
              <a:chOff x="0" y="0"/>
              <a:chExt cx="139794" cy="54437"/>
            </a:xfrm>
          </p:grpSpPr>
          <p:sp>
            <p:nvSpPr>
              <p:cNvPr name="Freeform 19" id="19"/>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20" id="20"/>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sp>
        <p:nvSpPr>
          <p:cNvPr name="TextBox 21" id="21"/>
          <p:cNvSpPr txBox="true"/>
          <p:nvPr/>
        </p:nvSpPr>
        <p:spPr>
          <a:xfrm rot="0">
            <a:off x="5542107" y="2744184"/>
            <a:ext cx="7203786" cy="1263285"/>
          </a:xfrm>
          <a:prstGeom prst="rect">
            <a:avLst/>
          </a:prstGeom>
        </p:spPr>
        <p:txBody>
          <a:bodyPr anchor="t" rtlCol="false" tIns="0" lIns="0" bIns="0" rIns="0">
            <a:spAutoFit/>
          </a:bodyPr>
          <a:lstStyle/>
          <a:p>
            <a:pPr algn="l">
              <a:lnSpc>
                <a:spcPts val="10249"/>
              </a:lnSpc>
              <a:spcBef>
                <a:spcPct val="0"/>
              </a:spcBef>
              <a:spcAft>
                <a:spcPts val="1000"/>
              </a:spcAft>
            </a:pPr>
            <a:r>
              <a:rPr sz="7320" b="1">
                <a:solidFill>
                  <a:srgbClr val="3665CE"/>
                </a:solidFill>
                <a:latin typeface="Tlab 모던라이프 Medium"/>
              </a:rPr>
              <a:t>2025년 하반기 사업 계획</a:t>
            </a:r>
          </a:p>
        </p:txBody>
      </p:sp>
      <p:sp>
        <p:nvSpPr>
          <p:cNvPr name="TextBox 22" id="22"/>
          <p:cNvSpPr txBox="true"/>
          <p:nvPr/>
        </p:nvSpPr>
        <p:spPr>
          <a:xfrm rot="0">
            <a:off x="5621734" y="6514314"/>
            <a:ext cx="7044532" cy="481330"/>
          </a:xfrm>
          <a:prstGeom prst="rect">
            <a:avLst/>
          </a:prstGeom>
        </p:spPr>
        <p:txBody>
          <a:bodyPr anchor="t" rtlCol="false" tIns="0" lIns="0" bIns="0" rIns="0">
            <a:spAutoFit/>
          </a:bodyPr>
          <a:lstStyle/>
          <a:p>
            <a:pPr algn="l">
              <a:lnSpc>
                <a:spcPts val="3919"/>
              </a:lnSpc>
              <a:spcBef>
                <a:spcPct val="0"/>
              </a:spcBef>
              <a:spcAft>
                <a:spcPts val="1000"/>
              </a:spcAft>
            </a:pPr>
            <a:r>
              <a:rPr sz="2799">
                <a:solidFill>
                  <a:srgbClr val="3D3D3D"/>
                </a:solidFill>
                <a:latin typeface="JASO Sans"/>
              </a:rPr>
              <a:t>전략 기획 및 하반기 매출 32억 원 목표 달성안</a:t>
            </a:r>
          </a:p>
        </p:txBody>
      </p:sp>
      <p:sp>
        <p:nvSpPr>
          <p:cNvPr name="TextBox 23" id="23"/>
          <p:cNvSpPr txBox="true"/>
          <p:nvPr/>
        </p:nvSpPr>
        <p:spPr>
          <a:xfrm rot="0">
            <a:off x="16094407" y="9201150"/>
            <a:ext cx="1408589"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JASO Sans"/>
              </a:rPr>
              <a:t>보고대상 : 대표이사  |  작성부서 : 전략기획팀  |  작성일 : 2025년 7월 10일</a:t>
            </a:r>
          </a:p>
        </p:txBody>
      </p:sp>
      <p:sp>
        <p:nvSpPr>
          <p:cNvPr name="TextBox 24" id="24"/>
          <p:cNvSpPr txBox="true"/>
          <p:nvPr/>
        </p:nvSpPr>
        <p:spPr>
          <a:xfrm rot="0">
            <a:off x="785004" y="9201150"/>
            <a:ext cx="1083469"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Inter"/>
              </a:rPr>
              <a:t>전략기획팀</a:t>
            </a:r>
          </a:p>
        </p:txBody>
      </p:sp>
      <p:sp>
        <p:nvSpPr>
          <p:cNvPr name="TextBox 25" id="25"/>
          <p:cNvSpPr txBox="true"/>
          <p:nvPr/>
        </p:nvSpPr>
        <p:spPr>
          <a:xfrm rot="0">
            <a:off x="3457632" y="3965043"/>
            <a:ext cx="11372737" cy="2105185"/>
          </a:xfrm>
          <a:prstGeom prst="rect">
            <a:avLst/>
          </a:prstGeom>
        </p:spPr>
        <p:txBody>
          <a:bodyPr anchor="t" rtlCol="false" tIns="0" lIns="0" bIns="0" rIns="0">
            <a:spAutoFit/>
          </a:bodyPr>
          <a:lstStyle/>
          <a:p>
            <a:pPr algn="l">
              <a:lnSpc>
                <a:spcPts val="17141"/>
              </a:lnSpc>
              <a:spcBef>
                <a:spcPct val="0"/>
              </a:spcBef>
              <a:spcAft>
                <a:spcPts val="1000"/>
              </a:spcAft>
            </a:pPr>
            <a:r>
              <a:rPr sz="12243">
                <a:solidFill>
                  <a:srgbClr val="3D3D3D"/>
                </a:solidFill>
                <a:latin typeface="네모고딕"/>
              </a:rPr>
              <a:t>2025 하반기 계획</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41443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343348" y="167925"/>
            <a:ext cx="733205" cy="1399054"/>
            <a:chOff x="0" y="0"/>
            <a:chExt cx="977606" cy="1865406"/>
          </a:xfrm>
        </p:grpSpPr>
        <p:sp>
          <p:nvSpPr>
            <p:cNvPr name="Freeform 16" id="16"/>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0" y="326140"/>
              <a:ext cx="707705" cy="275585"/>
              <a:chOff x="0" y="0"/>
              <a:chExt cx="139794" cy="54437"/>
            </a:xfrm>
          </p:grpSpPr>
          <p:sp>
            <p:nvSpPr>
              <p:cNvPr name="Freeform 18" id="18"/>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19" id="19"/>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sp>
        <p:nvSpPr>
          <p:cNvPr name="TextBox 20" id="20"/>
          <p:cNvSpPr txBox="true"/>
          <p:nvPr/>
        </p:nvSpPr>
        <p:spPr>
          <a:xfrm rot="0">
            <a:off x="8436927" y="935647"/>
            <a:ext cx="1414145" cy="995680"/>
          </a:xfrm>
          <a:prstGeom prst="rect">
            <a:avLst/>
          </a:prstGeom>
        </p:spPr>
        <p:txBody>
          <a:bodyPr anchor="t" rtlCol="false" tIns="0" lIns="0" bIns="0" rIns="0">
            <a:spAutoFit/>
          </a:bodyPr>
          <a:lstStyle/>
          <a:p>
            <a:pPr algn="ctr">
              <a:lnSpc>
                <a:spcPts val="8119"/>
              </a:lnSpc>
              <a:spcBef>
                <a:spcPct val="0"/>
              </a:spcBef>
            </a:pPr>
            <a:r>
              <a:rPr lang="en-US" sz="5799">
                <a:solidFill>
                  <a:srgbClr val="3D3D3D"/>
                </a:solidFill>
                <a:latin typeface="네모고딕"/>
                <a:ea typeface="네모고딕"/>
                <a:cs typeface="네모고딕"/>
                <a:sym typeface="네모고딕"/>
              </a:rPr>
              <a:t>목차</a:t>
            </a:r>
          </a:p>
        </p:txBody>
      </p:sp>
      <p:sp>
        <p:nvSpPr>
          <p:cNvPr name="TextBox 21" id="21"/>
          <p:cNvSpPr txBox="true"/>
          <p:nvPr/>
        </p:nvSpPr>
        <p:spPr>
          <a:xfrm rot="0">
            <a:off x="8597265" y="1940757"/>
            <a:ext cx="1093470" cy="405765"/>
          </a:xfrm>
          <a:prstGeom prst="rect">
            <a:avLst/>
          </a:prstGeom>
        </p:spPr>
        <p:txBody>
          <a:bodyPr anchor="t" rtlCol="false" tIns="0" lIns="0" bIns="0" rIns="0">
            <a:spAutoFit/>
          </a:bodyPr>
          <a:lstStyle/>
          <a:p>
            <a:pPr algn="ctr">
              <a:lnSpc>
                <a:spcPts val="3359"/>
              </a:lnSpc>
              <a:spcBef>
                <a:spcPct val="0"/>
              </a:spcBef>
            </a:pPr>
            <a:r>
              <a:rPr lang="en-US" sz="2400">
                <a:solidFill>
                  <a:srgbClr val="3D3D3D">
                    <a:alpha val="65882"/>
                  </a:srgbClr>
                </a:solidFill>
                <a:latin typeface="Inter"/>
                <a:ea typeface="Inter"/>
                <a:cs typeface="Inter"/>
                <a:sym typeface="Inter"/>
              </a:rPr>
              <a:t>Agenda</a:t>
            </a:r>
          </a:p>
        </p:txBody>
      </p:sp>
      <p:sp>
        <p:nvSpPr>
          <p:cNvPr name="TextBox 22" id="22"/>
          <p:cNvSpPr txBox="true"/>
          <p:nvPr/>
        </p:nvSpPr>
        <p:spPr>
          <a:xfrm rot="0">
            <a:off x="4067969" y="3731133"/>
            <a:ext cx="2971006"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1. 비전 및 하반기 목표</a:t>
            </a:r>
          </a:p>
        </p:txBody>
      </p:sp>
      <p:sp>
        <p:nvSpPr>
          <p:cNvPr name="TextBox 23" id="23"/>
          <p:cNvSpPr txBox="true"/>
          <p:nvPr/>
        </p:nvSpPr>
        <p:spPr>
          <a:xfrm rot="0">
            <a:off x="3358912" y="3740658"/>
            <a:ext cx="448962" cy="495300"/>
          </a:xfrm>
          <a:prstGeom prst="rect">
            <a:avLst/>
          </a:prstGeom>
        </p:spPr>
        <p:txBody>
          <a:bodyPr anchor="t" rtlCol="false" tIns="0" lIns="0" bIns="0" rIns="0">
            <a:spAutoFit/>
          </a:bodyPr>
          <a:lstStyle/>
          <a:p>
            <a:pPr algn="l">
              <a:lnSpc>
                <a:spcPts val="4199"/>
              </a:lnSpc>
              <a:spcBef>
                <a:spcPct val="0"/>
              </a:spcBef>
            </a:pPr>
            <a:r>
              <a:rPr lang="en-US" sz="2999">
                <a:solidFill>
                  <a:srgbClr val="8BA9BD"/>
                </a:solidFill>
                <a:latin typeface="TT Fors"/>
                <a:ea typeface="TT Fors"/>
                <a:cs typeface="TT Fors"/>
                <a:sym typeface="TT Fors"/>
              </a:rPr>
              <a:t>1.</a:t>
            </a:r>
          </a:p>
        </p:txBody>
      </p:sp>
      <p:sp>
        <p:nvSpPr>
          <p:cNvPr name="TextBox 24" id="24"/>
          <p:cNvSpPr txBox="true"/>
          <p:nvPr/>
        </p:nvSpPr>
        <p:spPr>
          <a:xfrm rot="0">
            <a:off x="11055203" y="3740658"/>
            <a:ext cx="448962" cy="495300"/>
          </a:xfrm>
          <a:prstGeom prst="rect">
            <a:avLst/>
          </a:prstGeom>
        </p:spPr>
        <p:txBody>
          <a:bodyPr anchor="t" rtlCol="false" tIns="0" lIns="0" bIns="0" rIns="0">
            <a:spAutoFit/>
          </a:bodyPr>
          <a:lstStyle/>
          <a:p>
            <a:pPr algn="l">
              <a:lnSpc>
                <a:spcPts val="4199"/>
              </a:lnSpc>
              <a:spcBef>
                <a:spcPct val="0"/>
              </a:spcBef>
            </a:pPr>
            <a:r>
              <a:rPr lang="en-US" sz="2999">
                <a:solidFill>
                  <a:srgbClr val="8BA9BD"/>
                </a:solidFill>
                <a:latin typeface="TT Fors"/>
                <a:ea typeface="TT Fors"/>
                <a:cs typeface="TT Fors"/>
                <a:sym typeface="TT Fors"/>
              </a:rPr>
              <a:t>5.</a:t>
            </a:r>
          </a:p>
        </p:txBody>
      </p:sp>
      <p:sp>
        <p:nvSpPr>
          <p:cNvPr name="TextBox 25" id="25"/>
          <p:cNvSpPr txBox="true"/>
          <p:nvPr/>
        </p:nvSpPr>
        <p:spPr>
          <a:xfrm rot="0">
            <a:off x="3358912" y="5027372"/>
            <a:ext cx="448962" cy="495300"/>
          </a:xfrm>
          <a:prstGeom prst="rect">
            <a:avLst/>
          </a:prstGeom>
        </p:spPr>
        <p:txBody>
          <a:bodyPr anchor="t" rtlCol="false" tIns="0" lIns="0" bIns="0" rIns="0">
            <a:spAutoFit/>
          </a:bodyPr>
          <a:lstStyle/>
          <a:p>
            <a:pPr algn="l">
              <a:lnSpc>
                <a:spcPts val="4199"/>
              </a:lnSpc>
              <a:spcBef>
                <a:spcPct val="0"/>
              </a:spcBef>
            </a:pPr>
            <a:r>
              <a:rPr lang="en-US" sz="2999">
                <a:solidFill>
                  <a:srgbClr val="8BA9BD"/>
                </a:solidFill>
                <a:latin typeface="TT Fors"/>
                <a:ea typeface="TT Fors"/>
                <a:cs typeface="TT Fors"/>
                <a:sym typeface="TT Fors"/>
              </a:rPr>
              <a:t>2.</a:t>
            </a:r>
          </a:p>
        </p:txBody>
      </p:sp>
      <p:sp>
        <p:nvSpPr>
          <p:cNvPr name="TextBox 26" id="26"/>
          <p:cNvSpPr txBox="true"/>
          <p:nvPr/>
        </p:nvSpPr>
        <p:spPr>
          <a:xfrm rot="0">
            <a:off x="11055203" y="5027372"/>
            <a:ext cx="448962" cy="495300"/>
          </a:xfrm>
          <a:prstGeom prst="rect">
            <a:avLst/>
          </a:prstGeom>
        </p:spPr>
        <p:txBody>
          <a:bodyPr anchor="t" rtlCol="false" tIns="0" lIns="0" bIns="0" rIns="0">
            <a:spAutoFit/>
          </a:bodyPr>
          <a:lstStyle/>
          <a:p>
            <a:pPr algn="l">
              <a:lnSpc>
                <a:spcPts val="4199"/>
              </a:lnSpc>
              <a:spcBef>
                <a:spcPct val="0"/>
              </a:spcBef>
              <a:spcAft>
                <a:spcPts val="1000"/>
              </a:spcAft>
            </a:pPr>
            <a:r>
              <a:rPr sz="2999">
                <a:solidFill>
                  <a:srgbClr val="8BA9BD"/>
                </a:solidFill>
                <a:latin typeface="TT Fors"/>
              </a:rPr>
              <a:t/>
            </a:r>
          </a:p>
        </p:txBody>
      </p:sp>
      <p:sp>
        <p:nvSpPr>
          <p:cNvPr name="TextBox 27" id="27"/>
          <p:cNvSpPr txBox="true"/>
          <p:nvPr/>
        </p:nvSpPr>
        <p:spPr>
          <a:xfrm rot="0">
            <a:off x="3358912" y="6314086"/>
            <a:ext cx="448962" cy="495300"/>
          </a:xfrm>
          <a:prstGeom prst="rect">
            <a:avLst/>
          </a:prstGeom>
        </p:spPr>
        <p:txBody>
          <a:bodyPr anchor="t" rtlCol="false" tIns="0" lIns="0" bIns="0" rIns="0">
            <a:spAutoFit/>
          </a:bodyPr>
          <a:lstStyle/>
          <a:p>
            <a:pPr algn="l">
              <a:lnSpc>
                <a:spcPts val="4199"/>
              </a:lnSpc>
              <a:spcBef>
                <a:spcPct val="0"/>
              </a:spcBef>
            </a:pPr>
            <a:r>
              <a:rPr lang="en-US" sz="2999">
                <a:solidFill>
                  <a:srgbClr val="8BA9BD"/>
                </a:solidFill>
                <a:latin typeface="TT Fors"/>
                <a:ea typeface="TT Fors"/>
                <a:cs typeface="TT Fors"/>
                <a:sym typeface="TT Fors"/>
              </a:rPr>
              <a:t>3.</a:t>
            </a:r>
          </a:p>
        </p:txBody>
      </p:sp>
      <p:sp>
        <p:nvSpPr>
          <p:cNvPr name="TextBox 28" id="28"/>
          <p:cNvSpPr txBox="true"/>
          <p:nvPr/>
        </p:nvSpPr>
        <p:spPr>
          <a:xfrm rot="0">
            <a:off x="11055203" y="6314086"/>
            <a:ext cx="448962" cy="495300"/>
          </a:xfrm>
          <a:prstGeom prst="rect">
            <a:avLst/>
          </a:prstGeom>
        </p:spPr>
        <p:txBody>
          <a:bodyPr anchor="t" rtlCol="false" tIns="0" lIns="0" bIns="0" rIns="0">
            <a:spAutoFit/>
          </a:bodyPr>
          <a:lstStyle/>
          <a:p>
            <a:pPr algn="l">
              <a:lnSpc>
                <a:spcPts val="4199"/>
              </a:lnSpc>
              <a:spcBef>
                <a:spcPct val="0"/>
              </a:spcBef>
              <a:spcAft>
                <a:spcPts val="1000"/>
              </a:spcAft>
            </a:pPr>
            <a:r>
              <a:rPr sz="2999">
                <a:solidFill>
                  <a:srgbClr val="8BA9BD"/>
                </a:solidFill>
                <a:latin typeface="TT Fors"/>
              </a:rPr>
              <a:t/>
            </a:r>
          </a:p>
        </p:txBody>
      </p:sp>
      <p:sp>
        <p:nvSpPr>
          <p:cNvPr name="TextBox 29" id="29"/>
          <p:cNvSpPr txBox="true"/>
          <p:nvPr/>
        </p:nvSpPr>
        <p:spPr>
          <a:xfrm rot="0">
            <a:off x="3358912" y="7599326"/>
            <a:ext cx="448962" cy="495300"/>
          </a:xfrm>
          <a:prstGeom prst="rect">
            <a:avLst/>
          </a:prstGeom>
        </p:spPr>
        <p:txBody>
          <a:bodyPr anchor="t" rtlCol="false" tIns="0" lIns="0" bIns="0" rIns="0">
            <a:spAutoFit/>
          </a:bodyPr>
          <a:lstStyle/>
          <a:p>
            <a:pPr algn="l">
              <a:lnSpc>
                <a:spcPts val="4199"/>
              </a:lnSpc>
              <a:spcBef>
                <a:spcPct val="0"/>
              </a:spcBef>
            </a:pPr>
            <a:r>
              <a:rPr lang="en-US" sz="2999">
                <a:solidFill>
                  <a:srgbClr val="8BA9BD"/>
                </a:solidFill>
                <a:latin typeface="TT Fors"/>
                <a:ea typeface="TT Fors"/>
                <a:cs typeface="TT Fors"/>
                <a:sym typeface="TT Fors"/>
              </a:rPr>
              <a:t>4.</a:t>
            </a:r>
          </a:p>
        </p:txBody>
      </p:sp>
      <p:sp>
        <p:nvSpPr>
          <p:cNvPr name="TextBox 30" id="30"/>
          <p:cNvSpPr txBox="true"/>
          <p:nvPr/>
        </p:nvSpPr>
        <p:spPr>
          <a:xfrm rot="0">
            <a:off x="11055203" y="7599326"/>
            <a:ext cx="448962" cy="495300"/>
          </a:xfrm>
          <a:prstGeom prst="rect">
            <a:avLst/>
          </a:prstGeom>
        </p:spPr>
        <p:txBody>
          <a:bodyPr anchor="t" rtlCol="false" tIns="0" lIns="0" bIns="0" rIns="0">
            <a:spAutoFit/>
          </a:bodyPr>
          <a:lstStyle/>
          <a:p>
            <a:pPr algn="l">
              <a:lnSpc>
                <a:spcPts val="4199"/>
              </a:lnSpc>
              <a:spcBef>
                <a:spcPct val="0"/>
              </a:spcBef>
              <a:spcAft>
                <a:spcPts val="1000"/>
              </a:spcAft>
            </a:pPr>
            <a:r>
              <a:rPr sz="2999">
                <a:solidFill>
                  <a:srgbClr val="8BA9BD"/>
                </a:solidFill>
                <a:latin typeface="TT Fors"/>
              </a:rPr>
              <a:t/>
            </a:r>
          </a:p>
        </p:txBody>
      </p:sp>
      <p:sp>
        <p:nvSpPr>
          <p:cNvPr name="TextBox 31" id="31"/>
          <p:cNvSpPr txBox="true"/>
          <p:nvPr/>
        </p:nvSpPr>
        <p:spPr>
          <a:xfrm rot="0">
            <a:off x="4067969" y="5017847"/>
            <a:ext cx="828993"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2. 핵심 전략 4대 축</a:t>
            </a:r>
          </a:p>
        </p:txBody>
      </p:sp>
      <p:sp>
        <p:nvSpPr>
          <p:cNvPr name="TextBox 32" id="32"/>
          <p:cNvSpPr txBox="true"/>
          <p:nvPr/>
        </p:nvSpPr>
        <p:spPr>
          <a:xfrm rot="0">
            <a:off x="4067969" y="6304561"/>
            <a:ext cx="1787366"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3. 월별 추진 로드맵</a:t>
            </a:r>
          </a:p>
        </p:txBody>
      </p:sp>
      <p:sp>
        <p:nvSpPr>
          <p:cNvPr name="TextBox 33" id="33"/>
          <p:cNvSpPr txBox="true"/>
          <p:nvPr/>
        </p:nvSpPr>
        <p:spPr>
          <a:xfrm rot="0">
            <a:off x="4067969" y="7591275"/>
            <a:ext cx="1787366"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4. 하반기 예상 손익</a:t>
            </a:r>
          </a:p>
        </p:txBody>
      </p:sp>
      <p:sp>
        <p:nvSpPr>
          <p:cNvPr name="TextBox 34" id="34"/>
          <p:cNvSpPr txBox="true"/>
          <p:nvPr/>
        </p:nvSpPr>
        <p:spPr>
          <a:xfrm rot="0">
            <a:off x="11761232" y="3731133"/>
            <a:ext cx="1787366"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5. 리스크 및 대응 방안</a:t>
            </a:r>
          </a:p>
        </p:txBody>
      </p:sp>
      <p:sp>
        <p:nvSpPr>
          <p:cNvPr name="TextBox 35" id="35"/>
          <p:cNvSpPr txBox="true"/>
          <p:nvPr/>
        </p:nvSpPr>
        <p:spPr>
          <a:xfrm rot="0">
            <a:off x="11761232" y="5017847"/>
            <a:ext cx="1787366"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
            </a:r>
          </a:p>
        </p:txBody>
      </p:sp>
      <p:sp>
        <p:nvSpPr>
          <p:cNvPr name="TextBox 36" id="36"/>
          <p:cNvSpPr txBox="true"/>
          <p:nvPr/>
        </p:nvSpPr>
        <p:spPr>
          <a:xfrm rot="0">
            <a:off x="11761232" y="6304561"/>
            <a:ext cx="828993"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
            </a:r>
          </a:p>
        </p:txBody>
      </p:sp>
      <p:sp>
        <p:nvSpPr>
          <p:cNvPr name="TextBox 37" id="37"/>
          <p:cNvSpPr txBox="true"/>
          <p:nvPr/>
        </p:nvSpPr>
        <p:spPr>
          <a:xfrm rot="0">
            <a:off x="11761232" y="7591275"/>
            <a:ext cx="1787366" cy="580390"/>
          </a:xfrm>
          <a:prstGeom prst="rect">
            <a:avLst/>
          </a:prstGeom>
        </p:spPr>
        <p:txBody>
          <a:bodyPr anchor="t" rtlCol="false" tIns="0" lIns="0" bIns="0" rIns="0">
            <a:spAutoFit/>
          </a:bodyPr>
          <a:lstStyle/>
          <a:p>
            <a:pPr algn="l">
              <a:lnSpc>
                <a:spcPts val="4759"/>
              </a:lnSpc>
              <a:spcBef>
                <a:spcPct val="0"/>
              </a:spcBef>
              <a:spcAft>
                <a:spcPts val="1000"/>
              </a:spcAft>
            </a:pPr>
            <a:r>
              <a:rPr sz="3399">
                <a:solidFill>
                  <a:srgbClr val="3D3D3D"/>
                </a:solidFill>
                <a:latin typeface="네모고딕"/>
              </a:rPr>
              <a:t/>
            </a:r>
          </a:p>
        </p:txBody>
      </p:sp>
      <p:sp>
        <p:nvSpPr>
          <p:cNvPr name="AutoShape 38" id="38"/>
          <p:cNvSpPr/>
          <p:nvPr/>
        </p:nvSpPr>
        <p:spPr>
          <a:xfrm flipV="true">
            <a:off x="9144000" y="3797808"/>
            <a:ext cx="0" cy="4373857"/>
          </a:xfrm>
          <a:prstGeom prst="line">
            <a:avLst/>
          </a:prstGeom>
          <a:ln cap="flat" w="19050">
            <a:solidFill>
              <a:srgbClr val="DADADA"/>
            </a:solidFill>
            <a:prstDash val="sysDash"/>
            <a:headEnd type="none" len="sm" w="sm"/>
            <a:tailEnd type="none" len="sm" w="sm"/>
          </a:ln>
        </p:spPr>
      </p:sp>
      <p:sp>
        <p:nvSpPr>
          <p:cNvPr id="39" name="TextBox 38"/>
          <p:cNvSpPr txBox="1"/>
          <p:nvPr/>
        </p:nvSpPr>
        <p:spPr>
          <a:xfrm>
            <a:off x="914400" y="9418320"/>
            <a:ext cx="4572000" cy="457200"/>
          </a:xfrm>
          <a:prstGeom prst="rect">
            <a:avLst/>
          </a:prstGeom>
          <a:noFill/>
        </p:spPr>
        <p:txBody>
          <a:bodyPr wrap="none">
            <a:spAutoFit/>
          </a:bodyPr>
          <a:lstStyle/>
          <a:p>
            <a:pPr>
              <a:defRPr sz="1100">
                <a:solidFill>
                  <a:srgbClr val="808080"/>
                </a:solidFill>
                <a:latin typeface="Inter"/>
              </a:defRPr>
            </a:pPr>
            <a:r>
              <a:t>전략기획팀</a:t>
            </a:r>
          </a:p>
        </p:txBody>
      </p:sp>
      <p:sp>
        <p:nvSpPr>
          <p:cNvPr id="40" name="TextBox 39"/>
          <p:cNvSpPr txBox="1"/>
          <p:nvPr/>
        </p:nvSpPr>
        <p:spPr>
          <a:xfrm>
            <a:off x="16459200" y="9418320"/>
            <a:ext cx="914400" cy="457200"/>
          </a:xfrm>
          <a:prstGeom prst="rect">
            <a:avLst/>
          </a:prstGeom>
          <a:noFill/>
        </p:spPr>
        <p:txBody>
          <a:bodyPr wrap="none">
            <a:spAutoFit/>
          </a:bodyPr>
          <a:lstStyle/>
          <a:p>
            <a:pPr algn="ctr">
              <a:defRPr sz="1100">
                <a:solidFill>
                  <a:srgbClr val="808080"/>
                </a:solidFill>
                <a:latin typeface="Inter"/>
              </a:defRPr>
            </a:pPr>
            <a: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343348" y="167925"/>
            <a:ext cx="733205" cy="1399054"/>
            <a:chOff x="0" y="0"/>
            <a:chExt cx="977606" cy="1865406"/>
          </a:xfrm>
        </p:grpSpPr>
        <p:sp>
          <p:nvSpPr>
            <p:cNvPr name="Freeform 16" id="16"/>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0" y="326140"/>
              <a:ext cx="707705" cy="275585"/>
              <a:chOff x="0" y="0"/>
              <a:chExt cx="139794" cy="54437"/>
            </a:xfrm>
          </p:grpSpPr>
          <p:sp>
            <p:nvSpPr>
              <p:cNvPr name="Freeform 18" id="18"/>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19" id="19"/>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grpSp>
        <p:nvGrpSpPr>
          <p:cNvPr name="Group 20" id="20"/>
          <p:cNvGrpSpPr/>
          <p:nvPr/>
        </p:nvGrpSpPr>
        <p:grpSpPr>
          <a:xfrm rot="0">
            <a:off x="1486994" y="3585291"/>
            <a:ext cx="15314083" cy="1515894"/>
            <a:chOff x="0" y="0"/>
            <a:chExt cx="4033339" cy="399248"/>
          </a:xfrm>
        </p:grpSpPr>
        <p:sp>
          <p:nvSpPr>
            <p:cNvPr name="Freeform 21" id="21"/>
            <p:cNvSpPr/>
            <p:nvPr/>
          </p:nvSpPr>
          <p:spPr>
            <a:xfrm flipH="false" flipV="false" rot="0">
              <a:off x="0" y="0"/>
              <a:ext cx="4033339" cy="399248"/>
            </a:xfrm>
            <a:custGeom>
              <a:avLst/>
              <a:gdLst/>
              <a:ahLst/>
              <a:cxnLst/>
              <a:rect r="r" b="b" t="t" l="l"/>
              <a:pathLst>
                <a:path h="399248" w="4033339">
                  <a:moveTo>
                    <a:pt x="0" y="0"/>
                  </a:moveTo>
                  <a:lnTo>
                    <a:pt x="4033339" y="0"/>
                  </a:lnTo>
                  <a:lnTo>
                    <a:pt x="4033339" y="399248"/>
                  </a:lnTo>
                  <a:lnTo>
                    <a:pt x="0" y="399248"/>
                  </a:lnTo>
                  <a:close/>
                </a:path>
              </a:pathLst>
            </a:custGeom>
            <a:solidFill>
              <a:srgbClr val="F4F4F4"/>
            </a:solidFill>
          </p:spPr>
        </p:sp>
        <p:sp>
          <p:nvSpPr>
            <p:cNvPr name="TextBox 22" id="22"/>
            <p:cNvSpPr txBox="true"/>
            <p:nvPr/>
          </p:nvSpPr>
          <p:spPr>
            <a:xfrm>
              <a:off x="0" y="-38100"/>
              <a:ext cx="4033339" cy="43734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486994" y="5331490"/>
            <a:ext cx="15314083" cy="1515894"/>
            <a:chOff x="0" y="0"/>
            <a:chExt cx="4033339" cy="399248"/>
          </a:xfrm>
        </p:grpSpPr>
        <p:sp>
          <p:nvSpPr>
            <p:cNvPr name="Freeform 24" id="24"/>
            <p:cNvSpPr/>
            <p:nvPr/>
          </p:nvSpPr>
          <p:spPr>
            <a:xfrm flipH="false" flipV="false" rot="0">
              <a:off x="0" y="0"/>
              <a:ext cx="4033339" cy="399248"/>
            </a:xfrm>
            <a:custGeom>
              <a:avLst/>
              <a:gdLst/>
              <a:ahLst/>
              <a:cxnLst/>
              <a:rect r="r" b="b" t="t" l="l"/>
              <a:pathLst>
                <a:path h="399248" w="4033339">
                  <a:moveTo>
                    <a:pt x="0" y="0"/>
                  </a:moveTo>
                  <a:lnTo>
                    <a:pt x="4033339" y="0"/>
                  </a:lnTo>
                  <a:lnTo>
                    <a:pt x="4033339" y="399248"/>
                  </a:lnTo>
                  <a:lnTo>
                    <a:pt x="0" y="399248"/>
                  </a:lnTo>
                  <a:close/>
                </a:path>
              </a:pathLst>
            </a:custGeom>
            <a:solidFill>
              <a:srgbClr val="F4F4F4"/>
            </a:solidFill>
          </p:spPr>
        </p:sp>
        <p:sp>
          <p:nvSpPr>
            <p:cNvPr name="TextBox 25" id="25"/>
            <p:cNvSpPr txBox="true"/>
            <p:nvPr/>
          </p:nvSpPr>
          <p:spPr>
            <a:xfrm>
              <a:off x="0" y="-38100"/>
              <a:ext cx="4033339" cy="437348"/>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486994" y="7075984"/>
            <a:ext cx="15314083" cy="1515894"/>
            <a:chOff x="0" y="0"/>
            <a:chExt cx="4033339" cy="399248"/>
          </a:xfrm>
        </p:grpSpPr>
        <p:sp>
          <p:nvSpPr>
            <p:cNvPr name="Freeform 27" id="27"/>
            <p:cNvSpPr/>
            <p:nvPr/>
          </p:nvSpPr>
          <p:spPr>
            <a:xfrm flipH="false" flipV="false" rot="0">
              <a:off x="0" y="0"/>
              <a:ext cx="4033339" cy="399248"/>
            </a:xfrm>
            <a:custGeom>
              <a:avLst/>
              <a:gdLst/>
              <a:ahLst/>
              <a:cxnLst/>
              <a:rect r="r" b="b" t="t" l="l"/>
              <a:pathLst>
                <a:path h="399248" w="4033339">
                  <a:moveTo>
                    <a:pt x="0" y="0"/>
                  </a:moveTo>
                  <a:lnTo>
                    <a:pt x="4033339" y="0"/>
                  </a:lnTo>
                  <a:lnTo>
                    <a:pt x="4033339" y="399248"/>
                  </a:lnTo>
                  <a:lnTo>
                    <a:pt x="0" y="399248"/>
                  </a:lnTo>
                  <a:close/>
                </a:path>
              </a:pathLst>
            </a:custGeom>
            <a:solidFill>
              <a:srgbClr val="F4F4F4"/>
            </a:solidFill>
          </p:spPr>
        </p:sp>
        <p:sp>
          <p:nvSpPr>
            <p:cNvPr name="TextBox 28" id="28"/>
            <p:cNvSpPr txBox="true"/>
            <p:nvPr/>
          </p:nvSpPr>
          <p:spPr>
            <a:xfrm>
              <a:off x="0" y="-38100"/>
              <a:ext cx="4033339" cy="437348"/>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2166484" y="4071565"/>
            <a:ext cx="591649" cy="591649"/>
          </a:xfrm>
          <a:custGeom>
            <a:avLst/>
            <a:gdLst/>
            <a:ahLst/>
            <a:cxnLst/>
            <a:rect r="r" b="b" t="t" l="l"/>
            <a:pathLst>
              <a:path h="591649" w="591649">
                <a:moveTo>
                  <a:pt x="0" y="0"/>
                </a:moveTo>
                <a:lnTo>
                  <a:pt x="591649" y="0"/>
                </a:lnTo>
                <a:lnTo>
                  <a:pt x="591649" y="591649"/>
                </a:lnTo>
                <a:lnTo>
                  <a:pt x="0" y="591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30" id="30"/>
          <p:cNvSpPr/>
          <p:nvPr/>
        </p:nvSpPr>
        <p:spPr>
          <a:xfrm flipH="false" flipV="false" rot="0">
            <a:off x="2166484" y="5817764"/>
            <a:ext cx="591649" cy="591649"/>
          </a:xfrm>
          <a:custGeom>
            <a:avLst/>
            <a:gdLst/>
            <a:ahLst/>
            <a:cxnLst/>
            <a:rect r="r" b="b" t="t" l="l"/>
            <a:pathLst>
              <a:path h="591649" w="591649">
                <a:moveTo>
                  <a:pt x="0" y="0"/>
                </a:moveTo>
                <a:lnTo>
                  <a:pt x="591649" y="0"/>
                </a:lnTo>
                <a:lnTo>
                  <a:pt x="591649" y="591649"/>
                </a:lnTo>
                <a:lnTo>
                  <a:pt x="0" y="591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31" id="31"/>
          <p:cNvSpPr/>
          <p:nvPr/>
        </p:nvSpPr>
        <p:spPr>
          <a:xfrm flipH="false" flipV="false" rot="0">
            <a:off x="2166484" y="7562258"/>
            <a:ext cx="591649" cy="591649"/>
          </a:xfrm>
          <a:custGeom>
            <a:avLst/>
            <a:gdLst/>
            <a:ahLst/>
            <a:cxnLst/>
            <a:rect r="r" b="b" t="t" l="l"/>
            <a:pathLst>
              <a:path h="591649" w="591649">
                <a:moveTo>
                  <a:pt x="0" y="0"/>
                </a:moveTo>
                <a:lnTo>
                  <a:pt x="591649" y="0"/>
                </a:lnTo>
                <a:lnTo>
                  <a:pt x="591649" y="591649"/>
                </a:lnTo>
                <a:lnTo>
                  <a:pt x="0" y="591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TextBox 32" id="32"/>
          <p:cNvSpPr txBox="true"/>
          <p:nvPr/>
        </p:nvSpPr>
        <p:spPr>
          <a:xfrm rot="0">
            <a:off x="6609636" y="935647"/>
            <a:ext cx="5068729" cy="995680"/>
          </a:xfrm>
          <a:prstGeom prst="rect">
            <a:avLst/>
          </a:prstGeom>
        </p:spPr>
        <p:txBody>
          <a:bodyPr anchor="t" rtlCol="false" tIns="0" lIns="0" bIns="0" rIns="0">
            <a:spAutoFit/>
          </a:bodyPr>
          <a:lstStyle/>
          <a:p>
            <a:pPr algn="l">
              <a:lnSpc>
                <a:spcPts val="8119"/>
              </a:lnSpc>
              <a:spcBef>
                <a:spcPct val="0"/>
              </a:spcBef>
              <a:spcAft>
                <a:spcPts val="1000"/>
              </a:spcAft>
            </a:pPr>
            <a:r>
              <a:rPr sz="5799">
                <a:solidFill>
                  <a:srgbClr val="3D3D3D"/>
                </a:solidFill>
                <a:latin typeface="네모고딕"/>
              </a:rPr>
              <a:t>5. 리스크 및 대응 방안</a:t>
            </a:r>
          </a:p>
        </p:txBody>
      </p:sp>
      <p:sp>
        <p:nvSpPr>
          <p:cNvPr name="TextBox 33" id="33"/>
          <p:cNvSpPr txBox="true"/>
          <p:nvPr/>
        </p:nvSpPr>
        <p:spPr>
          <a:xfrm rot="0">
            <a:off x="8292782" y="1940757"/>
            <a:ext cx="1702435"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Inter"/>
              </a:rPr>
              <a:t>Risks &amp; Mitigations</a:t>
            </a:r>
          </a:p>
        </p:txBody>
      </p:sp>
      <p:sp>
        <p:nvSpPr>
          <p:cNvPr name="TextBox 34" id="34"/>
          <p:cNvSpPr txBox="true"/>
          <p:nvPr/>
        </p:nvSpPr>
        <p:spPr>
          <a:xfrm rot="0">
            <a:off x="3010726" y="4081701"/>
            <a:ext cx="12966860" cy="523752"/>
          </a:xfrm>
          <a:prstGeom prst="rect">
            <a:avLst/>
          </a:prstGeom>
        </p:spPr>
        <p:txBody>
          <a:bodyPr anchor="t" rtlCol="false" tIns="0" lIns="0" bIns="0" rIns="0">
            <a:spAutoFit/>
          </a:bodyPr>
          <a:lstStyle/>
          <a:p>
            <a:pPr algn="l">
              <a:lnSpc>
                <a:spcPts val="4206"/>
              </a:lnSpc>
              <a:spcBef>
                <a:spcPct val="0"/>
              </a:spcBef>
              <a:spcAft>
                <a:spcPts val="1000"/>
              </a:spcAft>
            </a:pPr>
            <a:r>
              <a:rPr sz="3004" b="1">
                <a:solidFill>
                  <a:srgbClr val="3D3D3D"/>
                </a:solidFill>
                <a:latin typeface="Tlab 모던라이프 Medium"/>
              </a:rPr>
              <a:t>· 경기 둔화 리스크</a:t>
            </a:r>
          </a:p>
          <a:p>
            <a:pPr algn="l">
              <a:spcAft>
                <a:spcPts val="1000"/>
              </a:spcAft>
            </a:pPr>
            <a:r>
              <a:rPr sz="3004" b="1">
                <a:solidFill>
                  <a:srgbClr val="3D3D3D"/>
                </a:solidFill>
                <a:latin typeface="Tlab 모던라이프 Medium"/>
              </a:rPr>
              <a:t>  솔루션 분할 결제 등 유연 요금제</a:t>
            </a:r>
          </a:p>
          <a:p>
            <a:pPr algn="l">
              <a:spcAft>
                <a:spcPts val="1000"/>
              </a:spcAft>
            </a:pPr>
            <a:r>
              <a:rPr sz="3004" b="1">
                <a:solidFill>
                  <a:srgbClr val="3D3D3D"/>
                </a:solidFill>
                <a:latin typeface="Tlab 모던라이프 Medium"/>
              </a:rPr>
              <a:t>  선제적 도입으로 진입 장벽 완화</a:t>
            </a:r>
          </a:p>
        </p:txBody>
      </p:sp>
      <p:sp>
        <p:nvSpPr>
          <p:cNvPr name="TextBox 35" id="35"/>
          <p:cNvSpPr txBox="true"/>
          <p:nvPr/>
        </p:nvSpPr>
        <p:spPr>
          <a:xfrm rot="0">
            <a:off x="3010726" y="5827900"/>
            <a:ext cx="11810524" cy="523752"/>
          </a:xfrm>
          <a:prstGeom prst="rect">
            <a:avLst/>
          </a:prstGeom>
        </p:spPr>
        <p:txBody>
          <a:bodyPr anchor="t" rtlCol="false" tIns="0" lIns="0" bIns="0" rIns="0">
            <a:spAutoFit/>
          </a:bodyPr>
          <a:lstStyle/>
          <a:p>
            <a:pPr algn="l">
              <a:lnSpc>
                <a:spcPts val="4206"/>
              </a:lnSpc>
              <a:spcBef>
                <a:spcPct val="0"/>
              </a:spcBef>
              <a:spcAft>
                <a:spcPts val="1000"/>
              </a:spcAft>
            </a:pPr>
            <a:r>
              <a:rPr sz="3004" b="1">
                <a:solidFill>
                  <a:srgbClr val="3D3D3D"/>
                </a:solidFill>
                <a:latin typeface="Tlab 모던라이프 Medium"/>
              </a:rPr>
              <a:t>· 경쟁사 신제품 출현</a:t>
            </a:r>
          </a:p>
          <a:p>
            <a:pPr algn="l">
              <a:spcAft>
                <a:spcPts val="1000"/>
              </a:spcAft>
            </a:pPr>
            <a:r>
              <a:rPr sz="3004" b="1">
                <a:solidFill>
                  <a:srgbClr val="3D3D3D"/>
                </a:solidFill>
                <a:latin typeface="Tlab 모던라이프 Medium"/>
              </a:rPr>
              <a:t>  AI 핵심 기능 탑재 프리미엄 V2.0</a:t>
            </a:r>
          </a:p>
          <a:p>
            <a:pPr algn="l">
              <a:spcAft>
                <a:spcPts val="1000"/>
              </a:spcAft>
            </a:pPr>
            <a:r>
              <a:rPr sz="3004" b="1">
                <a:solidFill>
                  <a:srgbClr val="3D3D3D"/>
                </a:solidFill>
                <a:latin typeface="Tlab 모던라이프 Medium"/>
              </a:rPr>
              <a:t>  출시 시점 앞당김 (9월 → 8월)</a:t>
            </a:r>
          </a:p>
        </p:txBody>
      </p:sp>
      <p:sp>
        <p:nvSpPr>
          <p:cNvPr name="TextBox 36" id="36"/>
          <p:cNvSpPr txBox="true"/>
          <p:nvPr/>
        </p:nvSpPr>
        <p:spPr>
          <a:xfrm rot="0">
            <a:off x="3010726" y="7572394"/>
            <a:ext cx="8792052" cy="523752"/>
          </a:xfrm>
          <a:prstGeom prst="rect">
            <a:avLst/>
          </a:prstGeom>
        </p:spPr>
        <p:txBody>
          <a:bodyPr anchor="t" rtlCol="false" tIns="0" lIns="0" bIns="0" rIns="0">
            <a:spAutoFit/>
          </a:bodyPr>
          <a:lstStyle/>
          <a:p>
            <a:pPr algn="l">
              <a:lnSpc>
                <a:spcPts val="4206"/>
              </a:lnSpc>
              <a:spcBef>
                <a:spcPct val="0"/>
              </a:spcBef>
              <a:spcAft>
                <a:spcPts val="1000"/>
              </a:spcAft>
            </a:pPr>
            <a:r>
              <a:rPr sz="3004" b="1">
                <a:solidFill>
                  <a:srgbClr val="3D3D3D"/>
                </a:solidFill>
                <a:latin typeface="Tlab 모던라이프 Medium"/>
              </a:rPr>
              <a:t>· 인력 이탈 및 공백</a:t>
            </a:r>
          </a:p>
          <a:p>
            <a:pPr algn="l">
              <a:spcAft>
                <a:spcPts val="1000"/>
              </a:spcAft>
            </a:pPr>
            <a:r>
              <a:rPr sz="3004" b="1">
                <a:solidFill>
                  <a:srgbClr val="3D3D3D"/>
                </a:solidFill>
                <a:latin typeface="Tlab 모던라이프 Medium"/>
              </a:rPr>
              <a:t>  7~8월 내 마케팅 및 개발 핵심 부문</a:t>
            </a:r>
          </a:p>
          <a:p>
            <a:pPr algn="l">
              <a:spcAft>
                <a:spcPts val="1000"/>
              </a:spcAft>
            </a:pPr>
            <a:r>
              <a:rPr sz="3004" b="1">
                <a:solidFill>
                  <a:srgbClr val="3D3D3D"/>
                </a:solidFill>
                <a:latin typeface="Tlab 모던라이프 Medium"/>
              </a:rPr>
              <a:t>  3명 특별 전담 채용 완료 예정</a:t>
            </a:r>
          </a:p>
        </p:txBody>
      </p:sp>
      <p:sp>
        <p:nvSpPr>
          <p:cNvPr id="37" name="TextBox 36"/>
          <p:cNvSpPr txBox="1"/>
          <p:nvPr/>
        </p:nvSpPr>
        <p:spPr>
          <a:xfrm>
            <a:off x="914400" y="9418320"/>
            <a:ext cx="4572000" cy="457200"/>
          </a:xfrm>
          <a:prstGeom prst="rect">
            <a:avLst/>
          </a:prstGeom>
          <a:noFill/>
        </p:spPr>
        <p:txBody>
          <a:bodyPr wrap="none">
            <a:spAutoFit/>
          </a:bodyPr>
          <a:lstStyle/>
          <a:p>
            <a:pPr>
              <a:defRPr sz="1100">
                <a:solidFill>
                  <a:srgbClr val="808080"/>
                </a:solidFill>
                <a:latin typeface="Inter"/>
              </a:defRPr>
            </a:pPr>
            <a:r>
              <a:t>전략기획팀</a:t>
            </a:r>
          </a:p>
        </p:txBody>
      </p:sp>
      <p:sp>
        <p:nvSpPr>
          <p:cNvPr id="38" name="TextBox 37"/>
          <p:cNvSpPr txBox="1"/>
          <p:nvPr/>
        </p:nvSpPr>
        <p:spPr>
          <a:xfrm>
            <a:off x="16459200" y="9418320"/>
            <a:ext cx="914400" cy="457200"/>
          </a:xfrm>
          <a:prstGeom prst="rect">
            <a:avLst/>
          </a:prstGeom>
          <a:noFill/>
        </p:spPr>
        <p:txBody>
          <a:bodyPr wrap="none">
            <a:spAutoFit/>
          </a:bodyPr>
          <a:lstStyle/>
          <a:p>
            <a:pPr algn="ctr">
              <a:defRPr sz="1100">
                <a:solidFill>
                  <a:srgbClr val="808080"/>
                </a:solidFill>
                <a:latin typeface="Inter"/>
              </a:defRPr>
            </a:pPr>
            <a:r>
              <a:t>7</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343348" y="167925"/>
            <a:ext cx="733205" cy="1399054"/>
            <a:chOff x="0" y="0"/>
            <a:chExt cx="977606" cy="1865406"/>
          </a:xfrm>
        </p:grpSpPr>
        <p:sp>
          <p:nvSpPr>
            <p:cNvPr name="Freeform 16" id="16"/>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0" y="326140"/>
              <a:ext cx="707705" cy="275585"/>
              <a:chOff x="0" y="0"/>
              <a:chExt cx="139794" cy="54437"/>
            </a:xfrm>
          </p:grpSpPr>
          <p:sp>
            <p:nvSpPr>
              <p:cNvPr name="Freeform 18" id="18"/>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19" id="19"/>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grpSp>
        <p:nvGrpSpPr>
          <p:cNvPr name="Group 20" id="20"/>
          <p:cNvGrpSpPr/>
          <p:nvPr/>
        </p:nvGrpSpPr>
        <p:grpSpPr>
          <a:xfrm rot="0">
            <a:off x="1225582" y="3528141"/>
            <a:ext cx="5127368" cy="5048858"/>
            <a:chOff x="0" y="0"/>
            <a:chExt cx="1350418" cy="1329740"/>
          </a:xfrm>
        </p:grpSpPr>
        <p:sp>
          <p:nvSpPr>
            <p:cNvPr name="Freeform 21" id="21"/>
            <p:cNvSpPr/>
            <p:nvPr/>
          </p:nvSpPr>
          <p:spPr>
            <a:xfrm flipH="false" flipV="false" rot="0">
              <a:off x="0" y="0"/>
              <a:ext cx="1350418" cy="1329740"/>
            </a:xfrm>
            <a:custGeom>
              <a:avLst/>
              <a:gdLst/>
              <a:ahLst/>
              <a:cxnLst/>
              <a:rect r="r" b="b" t="t" l="l"/>
              <a:pathLst>
                <a:path h="1329740" w="1350418">
                  <a:moveTo>
                    <a:pt x="0" y="0"/>
                  </a:moveTo>
                  <a:lnTo>
                    <a:pt x="1350418" y="0"/>
                  </a:lnTo>
                  <a:lnTo>
                    <a:pt x="1350418" y="1329740"/>
                  </a:lnTo>
                  <a:lnTo>
                    <a:pt x="0" y="1329740"/>
                  </a:lnTo>
                  <a:close/>
                </a:path>
              </a:pathLst>
            </a:custGeom>
            <a:solidFill>
              <a:srgbClr val="F4F4F4"/>
            </a:solidFill>
          </p:spPr>
        </p:sp>
        <p:sp>
          <p:nvSpPr>
            <p:cNvPr name="TextBox 22" id="22"/>
            <p:cNvSpPr txBox="true"/>
            <p:nvPr/>
          </p:nvSpPr>
          <p:spPr>
            <a:xfrm>
              <a:off x="0" y="-38100"/>
              <a:ext cx="1350418" cy="136784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6580316" y="3528141"/>
            <a:ext cx="5127368" cy="5048858"/>
            <a:chOff x="0" y="0"/>
            <a:chExt cx="1350418" cy="1329740"/>
          </a:xfrm>
        </p:grpSpPr>
        <p:sp>
          <p:nvSpPr>
            <p:cNvPr name="Freeform 24" id="24"/>
            <p:cNvSpPr/>
            <p:nvPr/>
          </p:nvSpPr>
          <p:spPr>
            <a:xfrm flipH="false" flipV="false" rot="0">
              <a:off x="0" y="0"/>
              <a:ext cx="1350418" cy="1329740"/>
            </a:xfrm>
            <a:custGeom>
              <a:avLst/>
              <a:gdLst/>
              <a:ahLst/>
              <a:cxnLst/>
              <a:rect r="r" b="b" t="t" l="l"/>
              <a:pathLst>
                <a:path h="1329740" w="1350418">
                  <a:moveTo>
                    <a:pt x="0" y="0"/>
                  </a:moveTo>
                  <a:lnTo>
                    <a:pt x="1350418" y="0"/>
                  </a:lnTo>
                  <a:lnTo>
                    <a:pt x="1350418" y="1329740"/>
                  </a:lnTo>
                  <a:lnTo>
                    <a:pt x="0" y="1329740"/>
                  </a:lnTo>
                  <a:close/>
                </a:path>
              </a:pathLst>
            </a:custGeom>
            <a:solidFill>
              <a:srgbClr val="F4F4F4"/>
            </a:solidFill>
          </p:spPr>
        </p:sp>
        <p:sp>
          <p:nvSpPr>
            <p:cNvPr name="TextBox 25" id="25"/>
            <p:cNvSpPr txBox="true"/>
            <p:nvPr/>
          </p:nvSpPr>
          <p:spPr>
            <a:xfrm>
              <a:off x="0" y="-38100"/>
              <a:ext cx="1350418" cy="136784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1936284" y="3528141"/>
            <a:ext cx="5127368" cy="5048858"/>
            <a:chOff x="0" y="0"/>
            <a:chExt cx="1350418" cy="1329740"/>
          </a:xfrm>
        </p:grpSpPr>
        <p:sp>
          <p:nvSpPr>
            <p:cNvPr name="Freeform 27" id="27"/>
            <p:cNvSpPr/>
            <p:nvPr/>
          </p:nvSpPr>
          <p:spPr>
            <a:xfrm flipH="false" flipV="false" rot="0">
              <a:off x="0" y="0"/>
              <a:ext cx="1350418" cy="1329740"/>
            </a:xfrm>
            <a:custGeom>
              <a:avLst/>
              <a:gdLst/>
              <a:ahLst/>
              <a:cxnLst/>
              <a:rect r="r" b="b" t="t" l="l"/>
              <a:pathLst>
                <a:path h="1329740" w="1350418">
                  <a:moveTo>
                    <a:pt x="0" y="0"/>
                  </a:moveTo>
                  <a:lnTo>
                    <a:pt x="1350418" y="0"/>
                  </a:lnTo>
                  <a:lnTo>
                    <a:pt x="1350418" y="1329740"/>
                  </a:lnTo>
                  <a:lnTo>
                    <a:pt x="0" y="1329740"/>
                  </a:lnTo>
                  <a:close/>
                </a:path>
              </a:pathLst>
            </a:custGeom>
            <a:solidFill>
              <a:srgbClr val="F4F4F4"/>
            </a:solidFill>
          </p:spPr>
        </p:sp>
        <p:sp>
          <p:nvSpPr>
            <p:cNvPr name="TextBox 28" id="28"/>
            <p:cNvSpPr txBox="true"/>
            <p:nvPr/>
          </p:nvSpPr>
          <p:spPr>
            <a:xfrm>
              <a:off x="0" y="-38100"/>
              <a:ext cx="1350418" cy="136784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8436927" y="935647"/>
            <a:ext cx="1414145" cy="995680"/>
          </a:xfrm>
          <a:prstGeom prst="rect">
            <a:avLst/>
          </a:prstGeom>
        </p:spPr>
        <p:txBody>
          <a:bodyPr anchor="t" rtlCol="false" tIns="0" lIns="0" bIns="0" rIns="0">
            <a:spAutoFit/>
          </a:bodyPr>
          <a:lstStyle/>
          <a:p>
            <a:pPr algn="l">
              <a:lnSpc>
                <a:spcPts val="8119"/>
              </a:lnSpc>
              <a:spcBef>
                <a:spcPct val="0"/>
              </a:spcBef>
              <a:spcAft>
                <a:spcPts val="1000"/>
              </a:spcAft>
            </a:pPr>
            <a:r>
              <a:rPr sz="5799">
                <a:solidFill>
                  <a:srgbClr val="3D3D3D"/>
                </a:solidFill>
                <a:latin typeface="네모고딕"/>
              </a:rPr>
              <a:t>1. 비전 및 하반기 목표</a:t>
            </a:r>
          </a:p>
        </p:txBody>
      </p:sp>
      <p:sp>
        <p:nvSpPr>
          <p:cNvPr name="TextBox 30" id="30"/>
          <p:cNvSpPr txBox="true"/>
          <p:nvPr/>
        </p:nvSpPr>
        <p:spPr>
          <a:xfrm rot="0">
            <a:off x="8819991" y="1940757"/>
            <a:ext cx="648018"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Inter"/>
              </a:rPr>
              <a:t>Vision &amp; Target</a:t>
            </a:r>
          </a:p>
        </p:txBody>
      </p:sp>
      <p:sp>
        <p:nvSpPr>
          <p:cNvPr name="TextBox 31" id="31"/>
          <p:cNvSpPr txBox="true"/>
          <p:nvPr/>
        </p:nvSpPr>
        <p:spPr>
          <a:xfrm rot="0">
            <a:off x="3298299" y="4289001"/>
            <a:ext cx="981936" cy="1260129"/>
          </a:xfrm>
          <a:prstGeom prst="rect">
            <a:avLst/>
          </a:prstGeom>
        </p:spPr>
        <p:txBody>
          <a:bodyPr anchor="t" rtlCol="false" tIns="0" lIns="0" bIns="0" rIns="0">
            <a:spAutoFit/>
          </a:bodyPr>
          <a:lstStyle/>
          <a:p>
            <a:pPr algn="ctr">
              <a:lnSpc>
                <a:spcPts val="10571"/>
              </a:lnSpc>
              <a:spcBef>
                <a:spcPct val="0"/>
              </a:spcBef>
            </a:pPr>
            <a:r>
              <a:rPr lang="en-US" sz="7550">
                <a:solidFill>
                  <a:srgbClr val="3D3D3D">
                    <a:alpha val="49804"/>
                  </a:srgbClr>
                </a:solidFill>
                <a:latin typeface="Inter"/>
                <a:ea typeface="Inter"/>
                <a:cs typeface="Inter"/>
                <a:sym typeface="Inter"/>
              </a:rPr>
              <a:t>01</a:t>
            </a:r>
          </a:p>
        </p:txBody>
      </p:sp>
      <p:sp>
        <p:nvSpPr>
          <p:cNvPr name="TextBox 32" id="32"/>
          <p:cNvSpPr txBox="true"/>
          <p:nvPr/>
        </p:nvSpPr>
        <p:spPr>
          <a:xfrm rot="0">
            <a:off x="8555887" y="4289001"/>
            <a:ext cx="1176225" cy="1260129"/>
          </a:xfrm>
          <a:prstGeom prst="rect">
            <a:avLst/>
          </a:prstGeom>
        </p:spPr>
        <p:txBody>
          <a:bodyPr anchor="t" rtlCol="false" tIns="0" lIns="0" bIns="0" rIns="0">
            <a:spAutoFit/>
          </a:bodyPr>
          <a:lstStyle/>
          <a:p>
            <a:pPr algn="ctr">
              <a:lnSpc>
                <a:spcPts val="10571"/>
              </a:lnSpc>
              <a:spcBef>
                <a:spcPct val="0"/>
              </a:spcBef>
            </a:pPr>
            <a:r>
              <a:rPr lang="en-US" sz="7550">
                <a:solidFill>
                  <a:srgbClr val="3D3D3D">
                    <a:alpha val="49804"/>
                  </a:srgbClr>
                </a:solidFill>
                <a:latin typeface="Inter"/>
                <a:ea typeface="Inter"/>
                <a:cs typeface="Inter"/>
                <a:sym typeface="Inter"/>
              </a:rPr>
              <a:t>02</a:t>
            </a:r>
          </a:p>
        </p:txBody>
      </p:sp>
      <p:sp>
        <p:nvSpPr>
          <p:cNvPr name="TextBox 33" id="33"/>
          <p:cNvSpPr txBox="true"/>
          <p:nvPr/>
        </p:nvSpPr>
        <p:spPr>
          <a:xfrm rot="0">
            <a:off x="13905113" y="4289001"/>
            <a:ext cx="1189710" cy="1260129"/>
          </a:xfrm>
          <a:prstGeom prst="rect">
            <a:avLst/>
          </a:prstGeom>
        </p:spPr>
        <p:txBody>
          <a:bodyPr anchor="t" rtlCol="false" tIns="0" lIns="0" bIns="0" rIns="0">
            <a:spAutoFit/>
          </a:bodyPr>
          <a:lstStyle/>
          <a:p>
            <a:pPr algn="ctr">
              <a:lnSpc>
                <a:spcPts val="10571"/>
              </a:lnSpc>
              <a:spcBef>
                <a:spcPct val="0"/>
              </a:spcBef>
            </a:pPr>
            <a:r>
              <a:rPr lang="en-US" sz="7550">
                <a:solidFill>
                  <a:srgbClr val="3D3D3D">
                    <a:alpha val="49804"/>
                  </a:srgbClr>
                </a:solidFill>
                <a:latin typeface="Inter"/>
                <a:ea typeface="Inter"/>
                <a:cs typeface="Inter"/>
                <a:sym typeface="Inter"/>
              </a:rPr>
              <a:t>03</a:t>
            </a:r>
          </a:p>
        </p:txBody>
      </p:sp>
      <p:sp>
        <p:nvSpPr>
          <p:cNvPr name="TextBox 34" id="34"/>
          <p:cNvSpPr txBox="true"/>
          <p:nvPr/>
        </p:nvSpPr>
        <p:spPr>
          <a:xfrm rot="0">
            <a:off x="1987015" y="5985895"/>
            <a:ext cx="3604503" cy="1590552"/>
          </a:xfrm>
          <a:prstGeom prst="rect">
            <a:avLst/>
          </a:prstGeom>
        </p:spPr>
        <p:txBody>
          <a:bodyPr anchor="t" rtlCol="false" tIns="0" lIns="0" bIns="0" rIns="0">
            <a:spAutoFit/>
          </a:bodyPr>
          <a:lstStyle/>
          <a:p>
            <a:pPr algn="l">
              <a:lnSpc>
                <a:spcPts val="4206"/>
              </a:lnSpc>
              <a:spcBef>
                <a:spcPct val="0"/>
              </a:spcBef>
              <a:spcAft>
                <a:spcPts val="1000"/>
              </a:spcAft>
            </a:pPr>
            <a:r>
              <a:rPr sz="3004" b="1">
                <a:solidFill>
                  <a:srgbClr val="3D3D3D"/>
                </a:solidFill>
                <a:latin typeface="Tlab 모던라이프 Medium"/>
              </a:rPr>
              <a:t>· 비전 슬로건:</a:t>
            </a:r>
          </a:p>
          <a:p>
            <a:pPr algn="l">
              <a:spcAft>
                <a:spcPts val="1000"/>
              </a:spcAft>
            </a:pPr>
            <a:r>
              <a:rPr sz="3004" b="1">
                <a:solidFill>
                  <a:srgbClr val="3D3D3D"/>
                </a:solidFill>
                <a:latin typeface="Tlab 모던라이프 Medium"/>
              </a:rPr>
              <a:t>"디지털 전환의 동반자,</a:t>
            </a:r>
          </a:p>
          <a:p>
            <a:pPr algn="l">
              <a:spcAft>
                <a:spcPts val="1000"/>
              </a:spcAft>
            </a:pPr>
            <a:r>
              <a:rPr sz="3004" b="1">
                <a:solidFill>
                  <a:srgbClr val="3D3D3D"/>
                </a:solidFill>
                <a:latin typeface="Tlab 모던라이프 Medium"/>
              </a:rPr>
              <a:t>고객 성공의 파트너" 대내외 전파</a:t>
            </a:r>
          </a:p>
        </p:txBody>
      </p:sp>
      <p:sp>
        <p:nvSpPr>
          <p:cNvPr name="TextBox 35" id="35"/>
          <p:cNvSpPr txBox="true"/>
          <p:nvPr/>
        </p:nvSpPr>
        <p:spPr>
          <a:xfrm rot="0">
            <a:off x="7341748" y="5985895"/>
            <a:ext cx="3604503" cy="1590552"/>
          </a:xfrm>
          <a:prstGeom prst="rect">
            <a:avLst/>
          </a:prstGeom>
        </p:spPr>
        <p:txBody>
          <a:bodyPr anchor="t" rtlCol="false" tIns="0" lIns="0" bIns="0" rIns="0">
            <a:spAutoFit/>
          </a:bodyPr>
          <a:lstStyle/>
          <a:p>
            <a:pPr algn="l">
              <a:lnSpc>
                <a:spcPts val="4206"/>
              </a:lnSpc>
              <a:spcBef>
                <a:spcPct val="0"/>
              </a:spcBef>
              <a:spcAft>
                <a:spcPts val="1000"/>
              </a:spcAft>
            </a:pPr>
            <a:r>
              <a:rPr sz="3004" b="1">
                <a:solidFill>
                  <a:srgbClr val="3D3D3D"/>
                </a:solidFill>
                <a:latin typeface="Tlab 모던라이프 Medium"/>
              </a:rPr>
              <a:t>· 영업 핵심 지표:</a:t>
            </a:r>
          </a:p>
          <a:p>
            <a:pPr algn="l">
              <a:spcAft>
                <a:spcPts val="1000"/>
              </a:spcAft>
            </a:pPr>
            <a:r>
              <a:rPr sz="3004" b="1">
                <a:solidFill>
                  <a:srgbClr val="3D3D3D"/>
                </a:solidFill>
                <a:latin typeface="Tlab 모던라이프 Medium"/>
              </a:rPr>
              <a:t>하반기 매출 32억 원(+12.6% YoY)</a:t>
            </a:r>
          </a:p>
          <a:p>
            <a:pPr algn="l">
              <a:spcAft>
                <a:spcPts val="1000"/>
              </a:spcAft>
            </a:pPr>
            <a:r>
              <a:rPr sz="3004" b="1">
                <a:solidFill>
                  <a:srgbClr val="3D3D3D"/>
                </a:solidFill>
                <a:latin typeface="Tlab 모던라이프 Medium"/>
              </a:rPr>
              <a:t>및 신규 고객 350건 수주 달성</a:t>
            </a:r>
          </a:p>
        </p:txBody>
      </p:sp>
      <p:sp>
        <p:nvSpPr>
          <p:cNvPr name="TextBox 36" id="36"/>
          <p:cNvSpPr txBox="true"/>
          <p:nvPr/>
        </p:nvSpPr>
        <p:spPr>
          <a:xfrm rot="0">
            <a:off x="12697717" y="5985895"/>
            <a:ext cx="3604503" cy="1590552"/>
          </a:xfrm>
          <a:prstGeom prst="rect">
            <a:avLst/>
          </a:prstGeom>
        </p:spPr>
        <p:txBody>
          <a:bodyPr anchor="t" rtlCol="false" tIns="0" lIns="0" bIns="0" rIns="0">
            <a:spAutoFit/>
          </a:bodyPr>
          <a:lstStyle/>
          <a:p>
            <a:pPr algn="l">
              <a:lnSpc>
                <a:spcPts val="4206"/>
              </a:lnSpc>
              <a:spcAft>
                <a:spcPts val="1000"/>
              </a:spcAft>
            </a:pPr>
            <a:r>
              <a:rPr sz="3004" b="1">
                <a:solidFill>
                  <a:srgbClr val="3D3D3D"/>
                </a:solidFill>
                <a:latin typeface="Tlab 모던라이프 Medium"/>
              </a:rPr>
              <a:t>· 품질 관리 지표:</a:t>
            </a:r>
          </a:p>
          <a:p>
            <a:pPr algn="l">
              <a:spcAft>
                <a:spcPts val="1000"/>
              </a:spcAft>
            </a:pPr>
            <a:r>
              <a:rPr sz="3004" b="1">
                <a:solidFill>
                  <a:srgbClr val="3D3D3D"/>
                </a:solidFill>
                <a:latin typeface="Tlab 모던라이프 Medium"/>
              </a:rPr>
              <a:t>고객 충성 만족도 NPS 78점 돌파</a:t>
            </a:r>
          </a:p>
          <a:p>
            <a:pPr algn="l">
              <a:spcAft>
                <a:spcPts val="1000"/>
              </a:spcAft>
            </a:pPr>
            <a:r>
              <a:rPr sz="3004" b="1">
                <a:solidFill>
                  <a:srgbClr val="3D3D3D"/>
                </a:solidFill>
                <a:latin typeface="Tlab 모던라이프 Medium"/>
              </a:rPr>
              <a:t>및 서비스 갱신율 극대화</a:t>
            </a:r>
          </a:p>
        </p:txBody>
      </p:sp>
      <p:sp>
        <p:nvSpPr>
          <p:cNvPr id="37" name="TextBox 36"/>
          <p:cNvSpPr txBox="1"/>
          <p:nvPr/>
        </p:nvSpPr>
        <p:spPr>
          <a:xfrm>
            <a:off x="914400" y="9418320"/>
            <a:ext cx="4572000" cy="457200"/>
          </a:xfrm>
          <a:prstGeom prst="rect">
            <a:avLst/>
          </a:prstGeom>
          <a:noFill/>
        </p:spPr>
        <p:txBody>
          <a:bodyPr wrap="none">
            <a:spAutoFit/>
          </a:bodyPr>
          <a:lstStyle/>
          <a:p>
            <a:pPr>
              <a:defRPr sz="1100">
                <a:solidFill>
                  <a:srgbClr val="808080"/>
                </a:solidFill>
                <a:latin typeface="Inter"/>
              </a:defRPr>
            </a:pPr>
            <a:r>
              <a:t>전략기획팀</a:t>
            </a:r>
          </a:p>
        </p:txBody>
      </p:sp>
      <p:sp>
        <p:nvSpPr>
          <p:cNvPr id="38" name="TextBox 37"/>
          <p:cNvSpPr txBox="1"/>
          <p:nvPr/>
        </p:nvSpPr>
        <p:spPr>
          <a:xfrm>
            <a:off x="16459200" y="9418320"/>
            <a:ext cx="914400" cy="457200"/>
          </a:xfrm>
          <a:prstGeom prst="rect">
            <a:avLst/>
          </a:prstGeom>
          <a:noFill/>
        </p:spPr>
        <p:txBody>
          <a:bodyPr wrap="none">
            <a:spAutoFit/>
          </a:bodyPr>
          <a:lstStyle/>
          <a:p>
            <a:pPr algn="ctr">
              <a:defRPr sz="1100">
                <a:solidFill>
                  <a:srgbClr val="808080"/>
                </a:solidFill>
                <a:latin typeface="Inter"/>
              </a:defRPr>
            </a:pPr>
            <a: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343348" y="167925"/>
            <a:ext cx="733205" cy="1399054"/>
            <a:chOff x="0" y="0"/>
            <a:chExt cx="977606" cy="1865406"/>
          </a:xfrm>
        </p:grpSpPr>
        <p:sp>
          <p:nvSpPr>
            <p:cNvPr name="Freeform 16" id="16"/>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0" y="326140"/>
              <a:ext cx="707705" cy="275585"/>
              <a:chOff x="0" y="0"/>
              <a:chExt cx="139794" cy="54437"/>
            </a:xfrm>
          </p:grpSpPr>
          <p:sp>
            <p:nvSpPr>
              <p:cNvPr name="Freeform 18" id="18"/>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19" id="19"/>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sp>
        <p:nvSpPr>
          <p:cNvPr name="AutoShape 20" id="20"/>
          <p:cNvSpPr/>
          <p:nvPr/>
        </p:nvSpPr>
        <p:spPr>
          <a:xfrm>
            <a:off x="3542883" y="4823815"/>
            <a:ext cx="11202304" cy="0"/>
          </a:xfrm>
          <a:prstGeom prst="line">
            <a:avLst/>
          </a:prstGeom>
          <a:ln cap="flat" w="28575">
            <a:solidFill>
              <a:srgbClr val="3D3D3D">
                <a:alpha val="48627"/>
              </a:srgbClr>
            </a:solidFill>
            <a:prstDash val="sysDash"/>
            <a:headEnd type="none" len="sm" w="sm"/>
            <a:tailEnd type="none" len="sm" w="sm"/>
          </a:ln>
        </p:spPr>
        <p:txBody>
          <a:bodyPr/>
          <a:p/>
        </p:txBody>
      </p:sp>
      <p:grpSp>
        <p:nvGrpSpPr>
          <p:cNvPr name="Group 21" id="21"/>
          <p:cNvGrpSpPr/>
          <p:nvPr/>
        </p:nvGrpSpPr>
        <p:grpSpPr>
          <a:xfrm rot="0">
            <a:off x="2556935" y="4311791"/>
            <a:ext cx="985949" cy="98594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4F4"/>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6619686" y="4311791"/>
            <a:ext cx="985949" cy="98594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4F4"/>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0682437" y="4311791"/>
            <a:ext cx="985949" cy="98594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4F4"/>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4745188" y="4311791"/>
            <a:ext cx="985949" cy="98594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4F4"/>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7619444" y="935647"/>
            <a:ext cx="3049111" cy="995680"/>
          </a:xfrm>
          <a:prstGeom prst="rect">
            <a:avLst/>
          </a:prstGeom>
        </p:spPr>
        <p:txBody>
          <a:bodyPr anchor="t" rtlCol="false" tIns="0" lIns="0" bIns="0" rIns="0">
            <a:spAutoFit/>
          </a:bodyPr>
          <a:lstStyle/>
          <a:p>
            <a:pPr algn="l">
              <a:lnSpc>
                <a:spcPts val="8119"/>
              </a:lnSpc>
              <a:spcBef>
                <a:spcPct val="0"/>
              </a:spcBef>
              <a:spcAft>
                <a:spcPts val="1000"/>
              </a:spcAft>
            </a:pPr>
            <a:r>
              <a:rPr sz="5799">
                <a:solidFill>
                  <a:srgbClr val="3D3D3D"/>
                </a:solidFill>
                <a:latin typeface="네모고딕"/>
              </a:rPr>
              <a:t>2. 핵심 전략 4대 축</a:t>
            </a:r>
          </a:p>
        </p:txBody>
      </p:sp>
      <p:sp>
        <p:nvSpPr>
          <p:cNvPr name="TextBox 34" id="34"/>
          <p:cNvSpPr txBox="true"/>
          <p:nvPr/>
        </p:nvSpPr>
        <p:spPr>
          <a:xfrm rot="0">
            <a:off x="8574881" y="1940757"/>
            <a:ext cx="1138238"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Inter"/>
              </a:rPr>
              <a:t>Core Strategies</a:t>
            </a:r>
          </a:p>
        </p:txBody>
      </p:sp>
      <p:sp>
        <p:nvSpPr>
          <p:cNvPr name="TextBox 35" id="35"/>
          <p:cNvSpPr txBox="true"/>
          <p:nvPr/>
        </p:nvSpPr>
        <p:spPr>
          <a:xfrm rot="0">
            <a:off x="2857888" y="4527270"/>
            <a:ext cx="384041" cy="497841"/>
          </a:xfrm>
          <a:prstGeom prst="rect">
            <a:avLst/>
          </a:prstGeom>
        </p:spPr>
        <p:txBody>
          <a:bodyPr anchor="t" rtlCol="false" tIns="0" lIns="0" bIns="0" rIns="0">
            <a:spAutoFit/>
          </a:bodyPr>
          <a:lstStyle/>
          <a:p>
            <a:pPr algn="ctr">
              <a:lnSpc>
                <a:spcPts val="4134"/>
              </a:lnSpc>
              <a:spcBef>
                <a:spcPct val="0"/>
              </a:spcBef>
            </a:pPr>
            <a:r>
              <a:rPr lang="en-US" sz="2953">
                <a:solidFill>
                  <a:srgbClr val="3D3D3D"/>
                </a:solidFill>
                <a:latin typeface="Inter"/>
                <a:ea typeface="Inter"/>
                <a:cs typeface="Inter"/>
                <a:sym typeface="Inter"/>
              </a:rPr>
              <a:t>01</a:t>
            </a:r>
          </a:p>
        </p:txBody>
      </p:sp>
      <p:sp>
        <p:nvSpPr>
          <p:cNvPr name="TextBox 36" id="36"/>
          <p:cNvSpPr txBox="true"/>
          <p:nvPr/>
        </p:nvSpPr>
        <p:spPr>
          <a:xfrm rot="0">
            <a:off x="2118046" y="5614190"/>
            <a:ext cx="1863725" cy="622935"/>
          </a:xfrm>
          <a:prstGeom prst="rect">
            <a:avLst/>
          </a:prstGeom>
        </p:spPr>
        <p:txBody>
          <a:bodyPr anchor="t" rtlCol="false" tIns="0" lIns="0" bIns="0" rIns="0">
            <a:spAutoFit/>
          </a:bodyPr>
          <a:lstStyle/>
          <a:p>
            <a:pPr algn="l">
              <a:lnSpc>
                <a:spcPts val="5039"/>
              </a:lnSpc>
              <a:spcBef>
                <a:spcPct val="0"/>
              </a:spcBef>
              <a:spcAft>
                <a:spcPts val="1000"/>
              </a:spcAft>
            </a:pPr>
            <a:r>
              <a:rPr sz="3599">
                <a:solidFill>
                  <a:srgbClr val="3D3D3D"/>
                </a:solidFill>
                <a:latin typeface="TT Fors"/>
              </a:rPr>
              <a:t>프리미엄 가속</a:t>
            </a:r>
          </a:p>
        </p:txBody>
      </p:sp>
      <p:sp>
        <p:nvSpPr>
          <p:cNvPr name="TextBox 37" id="37"/>
          <p:cNvSpPr txBox="true"/>
          <p:nvPr/>
        </p:nvSpPr>
        <p:spPr>
          <a:xfrm rot="0">
            <a:off x="6250838" y="5614190"/>
            <a:ext cx="1716405" cy="622935"/>
          </a:xfrm>
          <a:prstGeom prst="rect">
            <a:avLst/>
          </a:prstGeom>
        </p:spPr>
        <p:txBody>
          <a:bodyPr anchor="t" rtlCol="false" tIns="0" lIns="0" bIns="0" rIns="0">
            <a:spAutoFit/>
          </a:bodyPr>
          <a:lstStyle/>
          <a:p>
            <a:pPr algn="l">
              <a:lnSpc>
                <a:spcPts val="5039"/>
              </a:lnSpc>
              <a:spcBef>
                <a:spcPct val="0"/>
              </a:spcBef>
              <a:spcAft>
                <a:spcPts val="1000"/>
              </a:spcAft>
            </a:pPr>
            <a:r>
              <a:rPr sz="3599">
                <a:solidFill>
                  <a:srgbClr val="3D3D3D"/>
                </a:solidFill>
                <a:latin typeface="TT Fors"/>
              </a:rPr>
              <a:t>B2B 영업 활성화</a:t>
            </a:r>
          </a:p>
        </p:txBody>
      </p:sp>
      <p:sp>
        <p:nvSpPr>
          <p:cNvPr name="TextBox 38" id="38"/>
          <p:cNvSpPr txBox="true"/>
          <p:nvPr/>
        </p:nvSpPr>
        <p:spPr>
          <a:xfrm rot="0">
            <a:off x="10080321" y="5614190"/>
            <a:ext cx="2197418" cy="622935"/>
          </a:xfrm>
          <a:prstGeom prst="rect">
            <a:avLst/>
          </a:prstGeom>
        </p:spPr>
        <p:txBody>
          <a:bodyPr anchor="t" rtlCol="false" tIns="0" lIns="0" bIns="0" rIns="0">
            <a:spAutoFit/>
          </a:bodyPr>
          <a:lstStyle/>
          <a:p>
            <a:pPr algn="l">
              <a:lnSpc>
                <a:spcPts val="5039"/>
              </a:lnSpc>
              <a:spcBef>
                <a:spcPct val="0"/>
              </a:spcBef>
              <a:spcAft>
                <a:spcPts val="1000"/>
              </a:spcAft>
            </a:pPr>
            <a:r>
              <a:rPr sz="3599">
                <a:solidFill>
                  <a:srgbClr val="3D3D3D"/>
                </a:solidFill>
                <a:latin typeface="TT Fors"/>
              </a:rPr>
              <a:t>비수도권 개척</a:t>
            </a:r>
          </a:p>
        </p:txBody>
      </p:sp>
      <p:sp>
        <p:nvSpPr>
          <p:cNvPr name="TextBox 39" id="39"/>
          <p:cNvSpPr txBox="true"/>
          <p:nvPr/>
        </p:nvSpPr>
        <p:spPr>
          <a:xfrm rot="0">
            <a:off x="13900614" y="5614190"/>
            <a:ext cx="2675096" cy="622935"/>
          </a:xfrm>
          <a:prstGeom prst="rect">
            <a:avLst/>
          </a:prstGeom>
        </p:spPr>
        <p:txBody>
          <a:bodyPr anchor="t" rtlCol="false" tIns="0" lIns="0" bIns="0" rIns="0">
            <a:spAutoFit/>
          </a:bodyPr>
          <a:lstStyle/>
          <a:p>
            <a:pPr algn="l">
              <a:lnSpc>
                <a:spcPts val="5039"/>
              </a:lnSpc>
              <a:spcBef>
                <a:spcPct val="0"/>
              </a:spcBef>
              <a:spcAft>
                <a:spcPts val="1000"/>
              </a:spcAft>
            </a:pPr>
            <a:r>
              <a:rPr sz="3599">
                <a:solidFill>
                  <a:srgbClr val="3D3D3D"/>
                </a:solidFill>
                <a:latin typeface="TT Fors"/>
              </a:rPr>
              <a:t>고객 경험 혁신</a:t>
            </a:r>
          </a:p>
        </p:txBody>
      </p:sp>
      <p:sp>
        <p:nvSpPr>
          <p:cNvPr name="TextBox 40" id="40"/>
          <p:cNvSpPr txBox="true"/>
          <p:nvPr/>
        </p:nvSpPr>
        <p:spPr>
          <a:xfrm rot="0">
            <a:off x="6879026" y="4527270"/>
            <a:ext cx="460029" cy="497841"/>
          </a:xfrm>
          <a:prstGeom prst="rect">
            <a:avLst/>
          </a:prstGeom>
        </p:spPr>
        <p:txBody>
          <a:bodyPr anchor="t" rtlCol="false" tIns="0" lIns="0" bIns="0" rIns="0">
            <a:spAutoFit/>
          </a:bodyPr>
          <a:lstStyle/>
          <a:p>
            <a:pPr algn="ctr">
              <a:lnSpc>
                <a:spcPts val="4134"/>
              </a:lnSpc>
              <a:spcBef>
                <a:spcPct val="0"/>
              </a:spcBef>
            </a:pPr>
            <a:r>
              <a:rPr lang="en-US" sz="2953">
                <a:solidFill>
                  <a:srgbClr val="3D3D3D"/>
                </a:solidFill>
                <a:latin typeface="Inter"/>
                <a:ea typeface="Inter"/>
                <a:cs typeface="Inter"/>
                <a:sym typeface="Inter"/>
              </a:rPr>
              <a:t>02</a:t>
            </a:r>
          </a:p>
        </p:txBody>
      </p:sp>
      <p:sp>
        <p:nvSpPr>
          <p:cNvPr name="TextBox 41" id="41"/>
          <p:cNvSpPr txBox="true"/>
          <p:nvPr/>
        </p:nvSpPr>
        <p:spPr>
          <a:xfrm rot="0">
            <a:off x="10946378" y="4527270"/>
            <a:ext cx="465304" cy="497841"/>
          </a:xfrm>
          <a:prstGeom prst="rect">
            <a:avLst/>
          </a:prstGeom>
        </p:spPr>
        <p:txBody>
          <a:bodyPr anchor="t" rtlCol="false" tIns="0" lIns="0" bIns="0" rIns="0">
            <a:spAutoFit/>
          </a:bodyPr>
          <a:lstStyle/>
          <a:p>
            <a:pPr algn="ctr">
              <a:lnSpc>
                <a:spcPts val="4134"/>
              </a:lnSpc>
              <a:spcBef>
                <a:spcPct val="0"/>
              </a:spcBef>
            </a:pPr>
            <a:r>
              <a:rPr lang="en-US" sz="2953">
                <a:solidFill>
                  <a:srgbClr val="3D3D3D"/>
                </a:solidFill>
                <a:latin typeface="Inter"/>
                <a:ea typeface="Inter"/>
                <a:cs typeface="Inter"/>
                <a:sym typeface="Inter"/>
              </a:rPr>
              <a:t>03</a:t>
            </a:r>
          </a:p>
        </p:txBody>
      </p:sp>
      <p:sp>
        <p:nvSpPr>
          <p:cNvPr name="TextBox 42" id="42"/>
          <p:cNvSpPr txBox="true"/>
          <p:nvPr/>
        </p:nvSpPr>
        <p:spPr>
          <a:xfrm rot="0">
            <a:off x="15000627" y="4527270"/>
            <a:ext cx="475071" cy="497841"/>
          </a:xfrm>
          <a:prstGeom prst="rect">
            <a:avLst/>
          </a:prstGeom>
        </p:spPr>
        <p:txBody>
          <a:bodyPr anchor="t" rtlCol="false" tIns="0" lIns="0" bIns="0" rIns="0">
            <a:spAutoFit/>
          </a:bodyPr>
          <a:lstStyle/>
          <a:p>
            <a:pPr algn="ctr">
              <a:lnSpc>
                <a:spcPts val="4134"/>
              </a:lnSpc>
              <a:spcBef>
                <a:spcPct val="0"/>
              </a:spcBef>
            </a:pPr>
            <a:r>
              <a:rPr lang="en-US" sz="2953">
                <a:solidFill>
                  <a:srgbClr val="3D3D3D"/>
                </a:solidFill>
                <a:latin typeface="Inter"/>
                <a:ea typeface="Inter"/>
                <a:cs typeface="Inter"/>
                <a:sym typeface="Inter"/>
              </a:rPr>
              <a:t>04</a:t>
            </a:r>
          </a:p>
        </p:txBody>
      </p:sp>
      <p:sp>
        <p:nvSpPr>
          <p:cNvPr name="TextBox 43" id="43"/>
          <p:cNvSpPr txBox="true"/>
          <p:nvPr/>
        </p:nvSpPr>
        <p:spPr>
          <a:xfrm rot="0">
            <a:off x="1385050" y="6669973"/>
            <a:ext cx="3329717"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AI 보고 기능 탑재(V2.0) 및 업셀링</a:t>
            </a:r>
          </a:p>
          <a:p>
            <a:pPr algn="l">
              <a:spcAft>
                <a:spcPts val="1000"/>
              </a:spcAft>
            </a:pPr>
            <a:r>
              <a:rPr sz="3004" b="1">
                <a:solidFill>
                  <a:srgbClr val="3D3D3D"/>
                </a:solidFill>
                <a:latin typeface="Tlab 모던라이프 Medium"/>
              </a:rPr>
              <a:t>· 예산: 2억 3,000만 원</a:t>
            </a:r>
          </a:p>
          <a:p>
            <a:pPr algn="l">
              <a:spcAft>
                <a:spcPts val="1000"/>
              </a:spcAft>
            </a:pPr>
            <a:r>
              <a:rPr sz="3004" b="1">
                <a:solidFill>
                  <a:srgbClr val="3D3D3D"/>
                </a:solidFill>
                <a:latin typeface="Tlab 모던라이프 Medium"/>
              </a:rPr>
              <a:t>· 담당: 제품개발팀 + 마케팅팀</a:t>
            </a:r>
          </a:p>
        </p:txBody>
      </p:sp>
      <p:sp>
        <p:nvSpPr>
          <p:cNvPr name="TextBox 44" id="44"/>
          <p:cNvSpPr txBox="true"/>
          <p:nvPr/>
        </p:nvSpPr>
        <p:spPr>
          <a:xfrm rot="0">
            <a:off x="5444182" y="6669973"/>
            <a:ext cx="3329717"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금융·공공팀 신설 및 세미나 정례화</a:t>
            </a:r>
          </a:p>
          <a:p>
            <a:pPr algn="l">
              <a:spcAft>
                <a:spcPts val="1000"/>
              </a:spcAft>
            </a:pPr>
            <a:r>
              <a:rPr sz="3004" b="1">
                <a:solidFill>
                  <a:srgbClr val="3D3D3D"/>
                </a:solidFill>
                <a:latin typeface="Tlab 모던라이프 Medium"/>
              </a:rPr>
              <a:t>· 예산: 1억 8,000만 원</a:t>
            </a:r>
          </a:p>
          <a:p>
            <a:pPr algn="l">
              <a:spcAft>
                <a:spcPts val="1000"/>
              </a:spcAft>
            </a:pPr>
            <a:r>
              <a:rPr sz="3004" b="1">
                <a:solidFill>
                  <a:srgbClr val="3D3D3D"/>
                </a:solidFill>
                <a:latin typeface="Tlab 모던라이프 Medium"/>
              </a:rPr>
              <a:t>· 담당: B2B영업팀 + 솔루션팀</a:t>
            </a:r>
          </a:p>
        </p:txBody>
      </p:sp>
      <p:sp>
        <p:nvSpPr>
          <p:cNvPr name="TextBox 45" id="45"/>
          <p:cNvSpPr txBox="true"/>
          <p:nvPr/>
        </p:nvSpPr>
        <p:spPr>
          <a:xfrm rot="0">
            <a:off x="9514172" y="6669973"/>
            <a:ext cx="3329717"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부산·대구 센터 개설 및 지역 할인</a:t>
            </a:r>
          </a:p>
          <a:p>
            <a:pPr algn="l">
              <a:spcAft>
                <a:spcPts val="1000"/>
              </a:spcAft>
            </a:pPr>
            <a:r>
              <a:rPr sz="3004" b="1">
                <a:solidFill>
                  <a:srgbClr val="3D3D3D"/>
                </a:solidFill>
                <a:latin typeface="Tlab 모던라이프 Medium"/>
              </a:rPr>
              <a:t>· 예산: 1억 5,000만 원</a:t>
            </a:r>
          </a:p>
          <a:p>
            <a:pPr algn="l">
              <a:spcAft>
                <a:spcPts val="1000"/>
              </a:spcAft>
            </a:pPr>
            <a:r>
              <a:rPr sz="3004" b="1">
                <a:solidFill>
                  <a:srgbClr val="3D3D3D"/>
                </a:solidFill>
                <a:latin typeface="Tlab 모던라이프 Medium"/>
              </a:rPr>
              <a:t>· 담당: 지역영업팀 + 제휴팀</a:t>
            </a:r>
          </a:p>
        </p:txBody>
      </p:sp>
      <p:sp>
        <p:nvSpPr>
          <p:cNvPr name="TextBox 46" id="46"/>
          <p:cNvSpPr txBox="true"/>
          <p:nvPr/>
        </p:nvSpPr>
        <p:spPr>
          <a:xfrm rot="0">
            <a:off x="13573304" y="6669973"/>
            <a:ext cx="3329717"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가입 3일 내 온보딩 및 챗봇 가동</a:t>
            </a:r>
          </a:p>
          <a:p>
            <a:pPr algn="l">
              <a:spcAft>
                <a:spcPts val="1000"/>
              </a:spcAft>
            </a:pPr>
            <a:r>
              <a:rPr sz="3004" b="1">
                <a:solidFill>
                  <a:srgbClr val="3D3D3D"/>
                </a:solidFill>
                <a:latin typeface="Tlab 모던라이프 Medium"/>
              </a:rPr>
              <a:t>· 예산: 9,000만 원</a:t>
            </a:r>
          </a:p>
          <a:p>
            <a:pPr algn="l">
              <a:spcAft>
                <a:spcPts val="1000"/>
              </a:spcAft>
            </a:pPr>
            <a:r>
              <a:rPr sz="3004" b="1">
                <a:solidFill>
                  <a:srgbClr val="3D3D3D"/>
                </a:solidFill>
                <a:latin typeface="Tlab 모던라이프 Medium"/>
              </a:rPr>
              <a:t>· 담당: CS팀 + UX팀</a:t>
            </a:r>
          </a:p>
        </p:txBody>
      </p:sp>
      <p:sp>
        <p:nvSpPr>
          <p:cNvPr id="47" name="TextBox 46"/>
          <p:cNvSpPr txBox="1"/>
          <p:nvPr/>
        </p:nvSpPr>
        <p:spPr>
          <a:xfrm>
            <a:off x="914400" y="9418320"/>
            <a:ext cx="4572000" cy="457200"/>
          </a:xfrm>
          <a:prstGeom prst="rect">
            <a:avLst/>
          </a:prstGeom>
          <a:noFill/>
        </p:spPr>
        <p:txBody>
          <a:bodyPr wrap="none">
            <a:spAutoFit/>
          </a:bodyPr>
          <a:lstStyle/>
          <a:p>
            <a:pPr>
              <a:defRPr sz="1100">
                <a:solidFill>
                  <a:srgbClr val="808080"/>
                </a:solidFill>
                <a:latin typeface="Inter"/>
              </a:defRPr>
            </a:pPr>
            <a:r>
              <a:t>전략기획팀</a:t>
            </a:r>
          </a:p>
        </p:txBody>
      </p:sp>
      <p:sp>
        <p:nvSpPr>
          <p:cNvPr id="48" name="TextBox 47"/>
          <p:cNvSpPr txBox="1"/>
          <p:nvPr/>
        </p:nvSpPr>
        <p:spPr>
          <a:xfrm>
            <a:off x="16459200" y="9418320"/>
            <a:ext cx="914400" cy="457200"/>
          </a:xfrm>
          <a:prstGeom prst="rect">
            <a:avLst/>
          </a:prstGeom>
          <a:noFill/>
        </p:spPr>
        <p:txBody>
          <a:bodyPr wrap="none">
            <a:spAutoFit/>
          </a:bodyPr>
          <a:lstStyle/>
          <a:p>
            <a:pPr algn="ctr">
              <a:defRPr sz="1100">
                <a:solidFill>
                  <a:srgbClr val="808080"/>
                </a:solidFill>
                <a:latin typeface="Inter"/>
              </a:defRPr>
            </a:pPr>
            <a:r>
              <a:t>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343348" y="167925"/>
            <a:ext cx="733205" cy="1399054"/>
            <a:chOff x="0" y="0"/>
            <a:chExt cx="977606" cy="1865406"/>
          </a:xfrm>
        </p:grpSpPr>
        <p:sp>
          <p:nvSpPr>
            <p:cNvPr name="Freeform 16" id="16"/>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0" y="326140"/>
              <a:ext cx="707705" cy="275585"/>
              <a:chOff x="0" y="0"/>
              <a:chExt cx="139794" cy="54437"/>
            </a:xfrm>
          </p:grpSpPr>
          <p:sp>
            <p:nvSpPr>
              <p:cNvPr name="Freeform 18" id="18"/>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19" id="19"/>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grpSp>
        <p:nvGrpSpPr>
          <p:cNvPr name="Group 20" id="20"/>
          <p:cNvGrpSpPr/>
          <p:nvPr/>
        </p:nvGrpSpPr>
        <p:grpSpPr>
          <a:xfrm rot="0">
            <a:off x="1675006" y="2994315"/>
            <a:ext cx="5964782" cy="1947700"/>
            <a:chOff x="0" y="0"/>
            <a:chExt cx="1570971" cy="512975"/>
          </a:xfrm>
        </p:grpSpPr>
        <p:sp>
          <p:nvSpPr>
            <p:cNvPr name="Freeform 21" id="21"/>
            <p:cNvSpPr/>
            <p:nvPr/>
          </p:nvSpPr>
          <p:spPr>
            <a:xfrm flipH="false" flipV="false" rot="0">
              <a:off x="0" y="0"/>
              <a:ext cx="1570971" cy="512975"/>
            </a:xfrm>
            <a:custGeom>
              <a:avLst/>
              <a:gdLst/>
              <a:ahLst/>
              <a:cxnLst/>
              <a:rect r="r" b="b" t="t" l="l"/>
              <a:pathLst>
                <a:path h="512975" w="1570971">
                  <a:moveTo>
                    <a:pt x="0" y="0"/>
                  </a:moveTo>
                  <a:lnTo>
                    <a:pt x="1570971" y="0"/>
                  </a:lnTo>
                  <a:lnTo>
                    <a:pt x="1570971" y="512975"/>
                  </a:lnTo>
                  <a:lnTo>
                    <a:pt x="0" y="512975"/>
                  </a:lnTo>
                  <a:close/>
                </a:path>
              </a:pathLst>
            </a:custGeom>
            <a:solidFill>
              <a:srgbClr val="F4F4F4"/>
            </a:solidFill>
          </p:spPr>
        </p:sp>
        <p:sp>
          <p:nvSpPr>
            <p:cNvPr name="TextBox 22" id="22"/>
            <p:cNvSpPr txBox="true"/>
            <p:nvPr/>
          </p:nvSpPr>
          <p:spPr>
            <a:xfrm>
              <a:off x="0" y="-38100"/>
              <a:ext cx="1570971" cy="551075"/>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675006" y="5153349"/>
            <a:ext cx="5964782" cy="1947700"/>
            <a:chOff x="0" y="0"/>
            <a:chExt cx="1570971" cy="512975"/>
          </a:xfrm>
        </p:grpSpPr>
        <p:sp>
          <p:nvSpPr>
            <p:cNvPr name="Freeform 24" id="24"/>
            <p:cNvSpPr/>
            <p:nvPr/>
          </p:nvSpPr>
          <p:spPr>
            <a:xfrm flipH="false" flipV="false" rot="0">
              <a:off x="0" y="0"/>
              <a:ext cx="1570971" cy="512975"/>
            </a:xfrm>
            <a:custGeom>
              <a:avLst/>
              <a:gdLst/>
              <a:ahLst/>
              <a:cxnLst/>
              <a:rect r="r" b="b" t="t" l="l"/>
              <a:pathLst>
                <a:path h="512975" w="1570971">
                  <a:moveTo>
                    <a:pt x="0" y="0"/>
                  </a:moveTo>
                  <a:lnTo>
                    <a:pt x="1570971" y="0"/>
                  </a:lnTo>
                  <a:lnTo>
                    <a:pt x="1570971" y="512975"/>
                  </a:lnTo>
                  <a:lnTo>
                    <a:pt x="0" y="512975"/>
                  </a:lnTo>
                  <a:close/>
                </a:path>
              </a:pathLst>
            </a:custGeom>
            <a:solidFill>
              <a:srgbClr val="F4F4F4"/>
            </a:solidFill>
          </p:spPr>
        </p:sp>
        <p:sp>
          <p:nvSpPr>
            <p:cNvPr name="TextBox 25" id="25"/>
            <p:cNvSpPr txBox="true"/>
            <p:nvPr/>
          </p:nvSpPr>
          <p:spPr>
            <a:xfrm>
              <a:off x="0" y="-38100"/>
              <a:ext cx="1570971" cy="551075"/>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675006" y="7310600"/>
            <a:ext cx="5964782" cy="1947700"/>
            <a:chOff x="0" y="0"/>
            <a:chExt cx="1570971" cy="512975"/>
          </a:xfrm>
        </p:grpSpPr>
        <p:sp>
          <p:nvSpPr>
            <p:cNvPr name="Freeform 27" id="27"/>
            <p:cNvSpPr/>
            <p:nvPr/>
          </p:nvSpPr>
          <p:spPr>
            <a:xfrm flipH="false" flipV="false" rot="0">
              <a:off x="0" y="0"/>
              <a:ext cx="1570971" cy="512975"/>
            </a:xfrm>
            <a:custGeom>
              <a:avLst/>
              <a:gdLst/>
              <a:ahLst/>
              <a:cxnLst/>
              <a:rect r="r" b="b" t="t" l="l"/>
              <a:pathLst>
                <a:path h="512975" w="1570971">
                  <a:moveTo>
                    <a:pt x="0" y="0"/>
                  </a:moveTo>
                  <a:lnTo>
                    <a:pt x="1570971" y="0"/>
                  </a:lnTo>
                  <a:lnTo>
                    <a:pt x="1570971" y="512975"/>
                  </a:lnTo>
                  <a:lnTo>
                    <a:pt x="0" y="512975"/>
                  </a:lnTo>
                  <a:close/>
                </a:path>
              </a:pathLst>
            </a:custGeom>
            <a:solidFill>
              <a:srgbClr val="F4F4F4"/>
            </a:solidFill>
          </p:spPr>
        </p:sp>
        <p:sp>
          <p:nvSpPr>
            <p:cNvPr name="TextBox 28" id="28"/>
            <p:cNvSpPr txBox="true"/>
            <p:nvPr/>
          </p:nvSpPr>
          <p:spPr>
            <a:xfrm>
              <a:off x="0" y="-38100"/>
              <a:ext cx="1570971" cy="55107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10652813" y="2994315"/>
            <a:ext cx="5964782" cy="1947700"/>
            <a:chOff x="0" y="0"/>
            <a:chExt cx="1570971" cy="512975"/>
          </a:xfrm>
        </p:grpSpPr>
        <p:sp>
          <p:nvSpPr>
            <p:cNvPr name="Freeform 30" id="30"/>
            <p:cNvSpPr/>
            <p:nvPr/>
          </p:nvSpPr>
          <p:spPr>
            <a:xfrm flipH="false" flipV="false" rot="0">
              <a:off x="0" y="0"/>
              <a:ext cx="1570971" cy="512975"/>
            </a:xfrm>
            <a:custGeom>
              <a:avLst/>
              <a:gdLst/>
              <a:ahLst/>
              <a:cxnLst/>
              <a:rect r="r" b="b" t="t" l="l"/>
              <a:pathLst>
                <a:path h="512975" w="1570971">
                  <a:moveTo>
                    <a:pt x="0" y="0"/>
                  </a:moveTo>
                  <a:lnTo>
                    <a:pt x="1570971" y="0"/>
                  </a:lnTo>
                  <a:lnTo>
                    <a:pt x="1570971" y="512975"/>
                  </a:lnTo>
                  <a:lnTo>
                    <a:pt x="0" y="512975"/>
                  </a:lnTo>
                  <a:close/>
                </a:path>
              </a:pathLst>
            </a:custGeom>
            <a:solidFill>
              <a:srgbClr val="F4F4F4"/>
            </a:solidFill>
            <a:ln w="38100" cap="sq">
              <a:solidFill>
                <a:srgbClr val="3665CE"/>
              </a:solidFill>
              <a:prstDash val="dash"/>
              <a:miter/>
            </a:ln>
          </p:spPr>
        </p:sp>
        <p:sp>
          <p:nvSpPr>
            <p:cNvPr name="TextBox 31" id="31"/>
            <p:cNvSpPr txBox="true"/>
            <p:nvPr/>
          </p:nvSpPr>
          <p:spPr>
            <a:xfrm>
              <a:off x="0" y="-38100"/>
              <a:ext cx="1570971" cy="551075"/>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10652813" y="5153349"/>
            <a:ext cx="5964782" cy="1947700"/>
            <a:chOff x="0" y="0"/>
            <a:chExt cx="1570971" cy="512975"/>
          </a:xfrm>
        </p:grpSpPr>
        <p:sp>
          <p:nvSpPr>
            <p:cNvPr name="Freeform 33" id="33"/>
            <p:cNvSpPr/>
            <p:nvPr/>
          </p:nvSpPr>
          <p:spPr>
            <a:xfrm flipH="false" flipV="false" rot="0">
              <a:off x="0" y="0"/>
              <a:ext cx="1570971" cy="512975"/>
            </a:xfrm>
            <a:custGeom>
              <a:avLst/>
              <a:gdLst/>
              <a:ahLst/>
              <a:cxnLst/>
              <a:rect r="r" b="b" t="t" l="l"/>
              <a:pathLst>
                <a:path h="512975" w="1570971">
                  <a:moveTo>
                    <a:pt x="0" y="0"/>
                  </a:moveTo>
                  <a:lnTo>
                    <a:pt x="1570971" y="0"/>
                  </a:lnTo>
                  <a:lnTo>
                    <a:pt x="1570971" y="512975"/>
                  </a:lnTo>
                  <a:lnTo>
                    <a:pt x="0" y="512975"/>
                  </a:lnTo>
                  <a:close/>
                </a:path>
              </a:pathLst>
            </a:custGeom>
            <a:solidFill>
              <a:srgbClr val="F4F4F4"/>
            </a:solidFill>
            <a:ln w="38100" cap="sq">
              <a:solidFill>
                <a:srgbClr val="3665CE"/>
              </a:solidFill>
              <a:prstDash val="dash"/>
              <a:miter/>
            </a:ln>
          </p:spPr>
        </p:sp>
        <p:sp>
          <p:nvSpPr>
            <p:cNvPr name="TextBox 34" id="34"/>
            <p:cNvSpPr txBox="true"/>
            <p:nvPr/>
          </p:nvSpPr>
          <p:spPr>
            <a:xfrm>
              <a:off x="0" y="-38100"/>
              <a:ext cx="1570971" cy="551075"/>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0">
            <a:off x="10652813" y="7310600"/>
            <a:ext cx="5964782" cy="1947700"/>
            <a:chOff x="0" y="0"/>
            <a:chExt cx="1570971" cy="512975"/>
          </a:xfrm>
        </p:grpSpPr>
        <p:sp>
          <p:nvSpPr>
            <p:cNvPr name="Freeform 36" id="36"/>
            <p:cNvSpPr/>
            <p:nvPr/>
          </p:nvSpPr>
          <p:spPr>
            <a:xfrm flipH="false" flipV="false" rot="0">
              <a:off x="0" y="0"/>
              <a:ext cx="1570971" cy="512975"/>
            </a:xfrm>
            <a:custGeom>
              <a:avLst/>
              <a:gdLst/>
              <a:ahLst/>
              <a:cxnLst/>
              <a:rect r="r" b="b" t="t" l="l"/>
              <a:pathLst>
                <a:path h="512975" w="1570971">
                  <a:moveTo>
                    <a:pt x="0" y="0"/>
                  </a:moveTo>
                  <a:lnTo>
                    <a:pt x="1570971" y="0"/>
                  </a:lnTo>
                  <a:lnTo>
                    <a:pt x="1570971" y="512975"/>
                  </a:lnTo>
                  <a:lnTo>
                    <a:pt x="0" y="512975"/>
                  </a:lnTo>
                  <a:close/>
                </a:path>
              </a:pathLst>
            </a:custGeom>
            <a:solidFill>
              <a:srgbClr val="F4F4F4"/>
            </a:solidFill>
            <a:ln w="38100" cap="sq">
              <a:solidFill>
                <a:srgbClr val="3665CE"/>
              </a:solidFill>
              <a:prstDash val="dash"/>
              <a:miter/>
            </a:ln>
          </p:spPr>
        </p:sp>
        <p:sp>
          <p:nvSpPr>
            <p:cNvPr name="TextBox 37" id="37"/>
            <p:cNvSpPr txBox="true"/>
            <p:nvPr/>
          </p:nvSpPr>
          <p:spPr>
            <a:xfrm>
              <a:off x="0" y="-38100"/>
              <a:ext cx="1570971" cy="551075"/>
            </a:xfrm>
            <a:prstGeom prst="rect">
              <a:avLst/>
            </a:prstGeom>
          </p:spPr>
          <p:txBody>
            <a:bodyPr anchor="ctr" rtlCol="false" tIns="50800" lIns="50800" bIns="50800" rIns="50800"/>
            <a:lstStyle/>
            <a:p>
              <a:pPr algn="ctr">
                <a:lnSpc>
                  <a:spcPts val="2659"/>
                </a:lnSpc>
              </a:pPr>
            </a:p>
          </p:txBody>
        </p:sp>
      </p:grpSp>
      <p:sp>
        <p:nvSpPr>
          <p:cNvPr name="Freeform 38" id="38"/>
          <p:cNvSpPr/>
          <p:nvPr/>
        </p:nvSpPr>
        <p:spPr>
          <a:xfrm flipH="false" flipV="false" rot="0">
            <a:off x="11330118" y="3672341"/>
            <a:ext cx="591649" cy="591649"/>
          </a:xfrm>
          <a:custGeom>
            <a:avLst/>
            <a:gdLst/>
            <a:ahLst/>
            <a:cxnLst/>
            <a:rect r="r" b="b" t="t" l="l"/>
            <a:pathLst>
              <a:path h="591649" w="591649">
                <a:moveTo>
                  <a:pt x="0" y="0"/>
                </a:moveTo>
                <a:lnTo>
                  <a:pt x="591649" y="0"/>
                </a:lnTo>
                <a:lnTo>
                  <a:pt x="591649" y="591649"/>
                </a:lnTo>
                <a:lnTo>
                  <a:pt x="0" y="591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39" id="39"/>
          <p:cNvSpPr/>
          <p:nvPr/>
        </p:nvSpPr>
        <p:spPr>
          <a:xfrm flipH="false" flipV="false" rot="0">
            <a:off x="11330118" y="5831375"/>
            <a:ext cx="591649" cy="591649"/>
          </a:xfrm>
          <a:custGeom>
            <a:avLst/>
            <a:gdLst/>
            <a:ahLst/>
            <a:cxnLst/>
            <a:rect r="r" b="b" t="t" l="l"/>
            <a:pathLst>
              <a:path h="591649" w="591649">
                <a:moveTo>
                  <a:pt x="0" y="0"/>
                </a:moveTo>
                <a:lnTo>
                  <a:pt x="591649" y="0"/>
                </a:lnTo>
                <a:lnTo>
                  <a:pt x="591649" y="591649"/>
                </a:lnTo>
                <a:lnTo>
                  <a:pt x="0" y="591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40" id="40"/>
          <p:cNvSpPr/>
          <p:nvPr/>
        </p:nvSpPr>
        <p:spPr>
          <a:xfrm flipH="false" flipV="false" rot="0">
            <a:off x="11330118" y="7988625"/>
            <a:ext cx="591649" cy="591649"/>
          </a:xfrm>
          <a:custGeom>
            <a:avLst/>
            <a:gdLst/>
            <a:ahLst/>
            <a:cxnLst/>
            <a:rect r="r" b="b" t="t" l="l"/>
            <a:pathLst>
              <a:path h="591649" w="591649">
                <a:moveTo>
                  <a:pt x="0" y="0"/>
                </a:moveTo>
                <a:lnTo>
                  <a:pt x="591649" y="0"/>
                </a:lnTo>
                <a:lnTo>
                  <a:pt x="591649" y="591649"/>
                </a:lnTo>
                <a:lnTo>
                  <a:pt x="0" y="591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grpSp>
        <p:nvGrpSpPr>
          <p:cNvPr name="Group 41" id="41"/>
          <p:cNvGrpSpPr/>
          <p:nvPr/>
        </p:nvGrpSpPr>
        <p:grpSpPr>
          <a:xfrm rot="0">
            <a:off x="8667846" y="3968166"/>
            <a:ext cx="1071208" cy="889157"/>
            <a:chOff x="0" y="0"/>
            <a:chExt cx="930334" cy="772224"/>
          </a:xfrm>
        </p:grpSpPr>
        <p:sp>
          <p:nvSpPr>
            <p:cNvPr name="Freeform 42" id="42"/>
            <p:cNvSpPr/>
            <p:nvPr/>
          </p:nvSpPr>
          <p:spPr>
            <a:xfrm flipH="false" flipV="false" rot="0">
              <a:off x="0" y="0"/>
              <a:ext cx="930334" cy="772224"/>
            </a:xfrm>
            <a:custGeom>
              <a:avLst/>
              <a:gdLst/>
              <a:ahLst/>
              <a:cxnLst/>
              <a:rect r="r" b="b" t="t" l="l"/>
              <a:pathLst>
                <a:path h="772224" w="930334">
                  <a:moveTo>
                    <a:pt x="930334" y="386112"/>
                  </a:moveTo>
                  <a:lnTo>
                    <a:pt x="523934" y="0"/>
                  </a:lnTo>
                  <a:lnTo>
                    <a:pt x="523934" y="203200"/>
                  </a:lnTo>
                  <a:lnTo>
                    <a:pt x="0" y="203200"/>
                  </a:lnTo>
                  <a:lnTo>
                    <a:pt x="0" y="569024"/>
                  </a:lnTo>
                  <a:lnTo>
                    <a:pt x="523934" y="569024"/>
                  </a:lnTo>
                  <a:lnTo>
                    <a:pt x="523934" y="772224"/>
                  </a:lnTo>
                  <a:lnTo>
                    <a:pt x="930334" y="386112"/>
                  </a:lnTo>
                  <a:close/>
                </a:path>
              </a:pathLst>
            </a:custGeom>
            <a:solidFill>
              <a:srgbClr val="3D3D3D"/>
            </a:solidFill>
          </p:spPr>
        </p:sp>
        <p:sp>
          <p:nvSpPr>
            <p:cNvPr name="TextBox 43" id="43"/>
            <p:cNvSpPr txBox="true"/>
            <p:nvPr/>
          </p:nvSpPr>
          <p:spPr>
            <a:xfrm>
              <a:off x="0" y="165100"/>
              <a:ext cx="828734" cy="403924"/>
            </a:xfrm>
            <a:prstGeom prst="rect">
              <a:avLst/>
            </a:prstGeom>
          </p:spPr>
          <p:txBody>
            <a:bodyPr anchor="ctr" rtlCol="false" tIns="50800" lIns="50800" bIns="50800" rIns="50800"/>
            <a:lstStyle/>
            <a:p>
              <a:pPr algn="ctr">
                <a:lnSpc>
                  <a:spcPts val="2659"/>
                </a:lnSpc>
              </a:pPr>
            </a:p>
          </p:txBody>
        </p:sp>
      </p:grpSp>
      <p:grpSp>
        <p:nvGrpSpPr>
          <p:cNvPr name="Group 44" id="44"/>
          <p:cNvGrpSpPr/>
          <p:nvPr/>
        </p:nvGrpSpPr>
        <p:grpSpPr>
          <a:xfrm rot="0">
            <a:off x="8667846" y="5728065"/>
            <a:ext cx="1071208" cy="889157"/>
            <a:chOff x="0" y="0"/>
            <a:chExt cx="930334" cy="772224"/>
          </a:xfrm>
        </p:grpSpPr>
        <p:sp>
          <p:nvSpPr>
            <p:cNvPr name="Freeform 45" id="45"/>
            <p:cNvSpPr/>
            <p:nvPr/>
          </p:nvSpPr>
          <p:spPr>
            <a:xfrm flipH="false" flipV="false" rot="0">
              <a:off x="0" y="0"/>
              <a:ext cx="930334" cy="772224"/>
            </a:xfrm>
            <a:custGeom>
              <a:avLst/>
              <a:gdLst/>
              <a:ahLst/>
              <a:cxnLst/>
              <a:rect r="r" b="b" t="t" l="l"/>
              <a:pathLst>
                <a:path h="772224" w="930334">
                  <a:moveTo>
                    <a:pt x="930334" y="386112"/>
                  </a:moveTo>
                  <a:lnTo>
                    <a:pt x="523934" y="0"/>
                  </a:lnTo>
                  <a:lnTo>
                    <a:pt x="523934" y="203200"/>
                  </a:lnTo>
                  <a:lnTo>
                    <a:pt x="0" y="203200"/>
                  </a:lnTo>
                  <a:lnTo>
                    <a:pt x="0" y="569024"/>
                  </a:lnTo>
                  <a:lnTo>
                    <a:pt x="523934" y="569024"/>
                  </a:lnTo>
                  <a:lnTo>
                    <a:pt x="523934" y="772224"/>
                  </a:lnTo>
                  <a:lnTo>
                    <a:pt x="930334" y="386112"/>
                  </a:lnTo>
                  <a:close/>
                </a:path>
              </a:pathLst>
            </a:custGeom>
            <a:solidFill>
              <a:srgbClr val="3D3D3D"/>
            </a:solidFill>
          </p:spPr>
        </p:sp>
        <p:sp>
          <p:nvSpPr>
            <p:cNvPr name="TextBox 46" id="46"/>
            <p:cNvSpPr txBox="true"/>
            <p:nvPr/>
          </p:nvSpPr>
          <p:spPr>
            <a:xfrm>
              <a:off x="0" y="165100"/>
              <a:ext cx="828734" cy="403924"/>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8667846" y="7446090"/>
            <a:ext cx="1071208" cy="889157"/>
            <a:chOff x="0" y="0"/>
            <a:chExt cx="930334" cy="772224"/>
          </a:xfrm>
        </p:grpSpPr>
        <p:sp>
          <p:nvSpPr>
            <p:cNvPr name="Freeform 48" id="48"/>
            <p:cNvSpPr/>
            <p:nvPr/>
          </p:nvSpPr>
          <p:spPr>
            <a:xfrm flipH="false" flipV="false" rot="0">
              <a:off x="0" y="0"/>
              <a:ext cx="930334" cy="772224"/>
            </a:xfrm>
            <a:custGeom>
              <a:avLst/>
              <a:gdLst/>
              <a:ahLst/>
              <a:cxnLst/>
              <a:rect r="r" b="b" t="t" l="l"/>
              <a:pathLst>
                <a:path h="772224" w="930334">
                  <a:moveTo>
                    <a:pt x="930334" y="386112"/>
                  </a:moveTo>
                  <a:lnTo>
                    <a:pt x="523934" y="0"/>
                  </a:lnTo>
                  <a:lnTo>
                    <a:pt x="523934" y="203200"/>
                  </a:lnTo>
                  <a:lnTo>
                    <a:pt x="0" y="203200"/>
                  </a:lnTo>
                  <a:lnTo>
                    <a:pt x="0" y="569024"/>
                  </a:lnTo>
                  <a:lnTo>
                    <a:pt x="523934" y="569024"/>
                  </a:lnTo>
                  <a:lnTo>
                    <a:pt x="523934" y="772224"/>
                  </a:lnTo>
                  <a:lnTo>
                    <a:pt x="930334" y="386112"/>
                  </a:lnTo>
                  <a:close/>
                </a:path>
              </a:pathLst>
            </a:custGeom>
            <a:solidFill>
              <a:srgbClr val="3D3D3D"/>
            </a:solidFill>
          </p:spPr>
        </p:sp>
        <p:sp>
          <p:nvSpPr>
            <p:cNvPr name="TextBox 49" id="49"/>
            <p:cNvSpPr txBox="true"/>
            <p:nvPr/>
          </p:nvSpPr>
          <p:spPr>
            <a:xfrm>
              <a:off x="0" y="165100"/>
              <a:ext cx="828734" cy="403924"/>
            </a:xfrm>
            <a:prstGeom prst="rect">
              <a:avLst/>
            </a:prstGeom>
          </p:spPr>
          <p:txBody>
            <a:bodyPr anchor="ctr" rtlCol="false" tIns="50800" lIns="50800" bIns="50800" rIns="50800"/>
            <a:lstStyle/>
            <a:p>
              <a:pPr algn="ctr">
                <a:lnSpc>
                  <a:spcPts val="2659"/>
                </a:lnSpc>
              </a:pPr>
            </a:p>
          </p:txBody>
        </p:sp>
      </p:grpSp>
      <p:sp>
        <p:nvSpPr>
          <p:cNvPr name="TextBox 50" id="50"/>
          <p:cNvSpPr txBox="true"/>
          <p:nvPr/>
        </p:nvSpPr>
        <p:spPr>
          <a:xfrm rot="0">
            <a:off x="7619444" y="935647"/>
            <a:ext cx="3049111" cy="995680"/>
          </a:xfrm>
          <a:prstGeom prst="rect">
            <a:avLst/>
          </a:prstGeom>
        </p:spPr>
        <p:txBody>
          <a:bodyPr anchor="t" rtlCol="false" tIns="0" lIns="0" bIns="0" rIns="0">
            <a:spAutoFit/>
          </a:bodyPr>
          <a:lstStyle/>
          <a:p>
            <a:pPr algn="l">
              <a:lnSpc>
                <a:spcPts val="8119"/>
              </a:lnSpc>
              <a:spcBef>
                <a:spcPct val="0"/>
              </a:spcBef>
              <a:spcAft>
                <a:spcPts val="1000"/>
              </a:spcAft>
            </a:pPr>
            <a:r>
              <a:rPr sz="5799">
                <a:solidFill>
                  <a:srgbClr val="3D3D3D"/>
                </a:solidFill>
                <a:latin typeface="네모고딕"/>
              </a:rPr>
              <a:t>3. 월별 로드맵</a:t>
            </a:r>
          </a:p>
        </p:txBody>
      </p:sp>
      <p:sp>
        <p:nvSpPr>
          <p:cNvPr name="TextBox 51" id="51"/>
          <p:cNvSpPr txBox="true"/>
          <p:nvPr/>
        </p:nvSpPr>
        <p:spPr>
          <a:xfrm rot="0">
            <a:off x="8137525" y="1940757"/>
            <a:ext cx="2012950"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Inter"/>
              </a:rPr>
              <a:t>Roadmap</a:t>
            </a:r>
          </a:p>
        </p:txBody>
      </p:sp>
      <p:sp>
        <p:nvSpPr>
          <p:cNvPr name="TextBox 52" id="52"/>
          <p:cNvSpPr txBox="true"/>
          <p:nvPr/>
        </p:nvSpPr>
        <p:spPr>
          <a:xfrm rot="0">
            <a:off x="2806030" y="3457049"/>
            <a:ext cx="3724532"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7월: 프리미엄 V2.0 출시</a:t>
            </a:r>
          </a:p>
          <a:p>
            <a:pPr algn="l">
              <a:spcAft>
                <a:spcPts val="1000"/>
              </a:spcAft>
            </a:pPr>
            <a:r>
              <a:rPr sz="3004" b="1">
                <a:solidFill>
                  <a:srgbClr val="3D3D3D"/>
                </a:solidFill>
                <a:latin typeface="Tlab 모던라이프 Medium"/>
              </a:rPr>
              <a:t>· AI 자동 보고서 기능 런칭 및 킥오프</a:t>
            </a:r>
          </a:p>
        </p:txBody>
      </p:sp>
      <p:sp>
        <p:nvSpPr>
          <p:cNvPr name="TextBox 53" id="53"/>
          <p:cNvSpPr txBox="true"/>
          <p:nvPr/>
        </p:nvSpPr>
        <p:spPr>
          <a:xfrm rot="0">
            <a:off x="2806030" y="5616083"/>
            <a:ext cx="3724532"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8월: B2B 전담 영업팀 신설</a:t>
            </a:r>
          </a:p>
          <a:p>
            <a:pPr algn="l">
              <a:spcAft>
                <a:spcPts val="1000"/>
              </a:spcAft>
            </a:pPr>
            <a:r>
              <a:rPr sz="3004" b="1">
                <a:solidFill>
                  <a:srgbClr val="3D3D3D"/>
                </a:solidFill>
                <a:latin typeface="Tlab 모던라이프 Medium"/>
              </a:rPr>
              <a:t>· 금융·공공 타겟 채용 및 캠페인 가동</a:t>
            </a:r>
          </a:p>
        </p:txBody>
      </p:sp>
      <p:sp>
        <p:nvSpPr>
          <p:cNvPr name="TextBox 54" id="54"/>
          <p:cNvSpPr txBox="true"/>
          <p:nvPr/>
        </p:nvSpPr>
        <p:spPr>
          <a:xfrm rot="0">
            <a:off x="2806030" y="7989236"/>
            <a:ext cx="3724532" cy="5237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9월: 부산·대구 지역 센터</a:t>
            </a:r>
          </a:p>
          <a:p>
            <a:pPr algn="l">
              <a:spcAft>
                <a:spcPts val="1000"/>
              </a:spcAft>
            </a:pPr>
            <a:r>
              <a:rPr sz="3004" b="1">
                <a:solidFill>
                  <a:srgbClr val="3D3D3D"/>
                </a:solidFill>
                <a:latin typeface="Tlab 모던라이프 Medium"/>
              </a:rPr>
              <a:t>· 지방 거점 파트너 계약 및 개소</a:t>
            </a:r>
          </a:p>
        </p:txBody>
      </p:sp>
      <p:sp>
        <p:nvSpPr>
          <p:cNvPr name="TextBox 55" id="55"/>
          <p:cNvSpPr txBox="true"/>
          <p:nvPr/>
        </p:nvSpPr>
        <p:spPr>
          <a:xfrm rot="0">
            <a:off x="12267632" y="3457049"/>
            <a:ext cx="3789893"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10월: 교육기관 패키지 런칭</a:t>
            </a:r>
          </a:p>
          <a:p>
            <a:pPr algn="l">
              <a:spcAft>
                <a:spcPts val="1000"/>
              </a:spcAft>
            </a:pPr>
            <a:r>
              <a:rPr sz="3004" b="1">
                <a:solidFill>
                  <a:srgbClr val="3D3D3D"/>
                </a:solidFill>
                <a:latin typeface="Tlab 모던라이프 Medium"/>
              </a:rPr>
              <a:t>· 24시간 챗봇 상담 개시 및 고객 혁신</a:t>
            </a:r>
          </a:p>
        </p:txBody>
      </p:sp>
      <p:sp>
        <p:nvSpPr>
          <p:cNvPr name="TextBox 56" id="56"/>
          <p:cNvSpPr txBox="true"/>
          <p:nvPr/>
        </p:nvSpPr>
        <p:spPr>
          <a:xfrm rot="0">
            <a:off x="12267632" y="5616083"/>
            <a:ext cx="3789893"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11월: 지자체 디지털 교육</a:t>
            </a:r>
          </a:p>
          <a:p>
            <a:pPr algn="l">
              <a:spcAft>
                <a:spcPts val="1000"/>
              </a:spcAft>
            </a:pPr>
            <a:r>
              <a:rPr sz="3004" b="1">
                <a:solidFill>
                  <a:srgbClr val="3D3D3D"/>
                </a:solidFill>
                <a:latin typeface="Tlab 모던라이프 Medium"/>
              </a:rPr>
              <a:t>· 공공 부문 제안서 접수 및 마케팅</a:t>
            </a:r>
          </a:p>
        </p:txBody>
      </p:sp>
      <p:sp>
        <p:nvSpPr>
          <p:cNvPr name="TextBox 57" id="57"/>
          <p:cNvSpPr txBox="true"/>
          <p:nvPr/>
        </p:nvSpPr>
        <p:spPr>
          <a:xfrm rot="0">
            <a:off x="12267632" y="7989236"/>
            <a:ext cx="3789893" cy="5237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12월: 성과 분석 및 정산</a:t>
            </a:r>
          </a:p>
          <a:p>
            <a:pPr algn="l">
              <a:spcAft>
                <a:spcPts val="1000"/>
              </a:spcAft>
            </a:pPr>
            <a:r>
              <a:rPr sz="3004" b="1">
                <a:solidFill>
                  <a:srgbClr val="3D3D3D"/>
                </a:solidFill>
                <a:latin typeface="Tlab 모던라이프 Medium"/>
              </a:rPr>
              <a:t>· 차년도 영업 전략 및 예산안 확정</a:t>
            </a:r>
          </a:p>
        </p:txBody>
      </p:sp>
      <p:sp>
        <p:nvSpPr>
          <p:cNvPr id="58" name="TextBox 57"/>
          <p:cNvSpPr txBox="1"/>
          <p:nvPr/>
        </p:nvSpPr>
        <p:spPr>
          <a:xfrm>
            <a:off x="914400" y="9418320"/>
            <a:ext cx="4572000" cy="457200"/>
          </a:xfrm>
          <a:prstGeom prst="rect">
            <a:avLst/>
          </a:prstGeom>
          <a:noFill/>
        </p:spPr>
        <p:txBody>
          <a:bodyPr wrap="none">
            <a:spAutoFit/>
          </a:bodyPr>
          <a:lstStyle/>
          <a:p>
            <a:pPr>
              <a:defRPr sz="1100">
                <a:solidFill>
                  <a:srgbClr val="808080"/>
                </a:solidFill>
                <a:latin typeface="Inter"/>
              </a:defRPr>
            </a:pPr>
            <a:r>
              <a:t>전략기획팀</a:t>
            </a:r>
          </a:p>
        </p:txBody>
      </p:sp>
      <p:sp>
        <p:nvSpPr>
          <p:cNvPr id="59" name="TextBox 58"/>
          <p:cNvSpPr txBox="1"/>
          <p:nvPr/>
        </p:nvSpPr>
        <p:spPr>
          <a:xfrm>
            <a:off x="16459200" y="9418320"/>
            <a:ext cx="914400" cy="457200"/>
          </a:xfrm>
          <a:prstGeom prst="rect">
            <a:avLst/>
          </a:prstGeom>
          <a:noFill/>
        </p:spPr>
        <p:txBody>
          <a:bodyPr wrap="none">
            <a:spAutoFit/>
          </a:bodyPr>
          <a:lstStyle/>
          <a:p>
            <a:pPr algn="ctr">
              <a:defRPr sz="1100">
                <a:solidFill>
                  <a:srgbClr val="808080"/>
                </a:solidFill>
                <a:latin typeface="Inter"/>
              </a:defRPr>
            </a:pPr>
            <a:r>
              <a:t>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225582" y="3214100"/>
            <a:ext cx="5127368" cy="6044200"/>
            <a:chOff x="0" y="0"/>
            <a:chExt cx="1350418" cy="1591888"/>
          </a:xfrm>
        </p:grpSpPr>
        <p:sp>
          <p:nvSpPr>
            <p:cNvPr name="Freeform 16" id="16"/>
            <p:cNvSpPr/>
            <p:nvPr/>
          </p:nvSpPr>
          <p:spPr>
            <a:xfrm flipH="false" flipV="false" rot="0">
              <a:off x="0" y="0"/>
              <a:ext cx="1350418" cy="1591888"/>
            </a:xfrm>
            <a:custGeom>
              <a:avLst/>
              <a:gdLst/>
              <a:ahLst/>
              <a:cxnLst/>
              <a:rect r="r" b="b" t="t" l="l"/>
              <a:pathLst>
                <a:path h="1591888" w="1350418">
                  <a:moveTo>
                    <a:pt x="0" y="0"/>
                  </a:moveTo>
                  <a:lnTo>
                    <a:pt x="1350418" y="0"/>
                  </a:lnTo>
                  <a:lnTo>
                    <a:pt x="1350418" y="1591888"/>
                  </a:lnTo>
                  <a:lnTo>
                    <a:pt x="0" y="1591888"/>
                  </a:lnTo>
                  <a:close/>
                </a:path>
              </a:pathLst>
            </a:custGeom>
            <a:solidFill>
              <a:srgbClr val="F4F4F4"/>
            </a:solidFill>
          </p:spPr>
        </p:sp>
        <p:sp>
          <p:nvSpPr>
            <p:cNvPr name="TextBox 17" id="17"/>
            <p:cNvSpPr txBox="true"/>
            <p:nvPr/>
          </p:nvSpPr>
          <p:spPr>
            <a:xfrm>
              <a:off x="0" y="-38100"/>
              <a:ext cx="1350418" cy="162998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580316" y="3214100"/>
            <a:ext cx="5127368" cy="6044200"/>
            <a:chOff x="0" y="0"/>
            <a:chExt cx="1350418" cy="1591888"/>
          </a:xfrm>
        </p:grpSpPr>
        <p:sp>
          <p:nvSpPr>
            <p:cNvPr name="Freeform 19" id="19"/>
            <p:cNvSpPr/>
            <p:nvPr/>
          </p:nvSpPr>
          <p:spPr>
            <a:xfrm flipH="false" flipV="false" rot="0">
              <a:off x="0" y="0"/>
              <a:ext cx="1350418" cy="1591888"/>
            </a:xfrm>
            <a:custGeom>
              <a:avLst/>
              <a:gdLst/>
              <a:ahLst/>
              <a:cxnLst/>
              <a:rect r="r" b="b" t="t" l="l"/>
              <a:pathLst>
                <a:path h="1591888" w="1350418">
                  <a:moveTo>
                    <a:pt x="0" y="0"/>
                  </a:moveTo>
                  <a:lnTo>
                    <a:pt x="1350418" y="0"/>
                  </a:lnTo>
                  <a:lnTo>
                    <a:pt x="1350418" y="1591888"/>
                  </a:lnTo>
                  <a:lnTo>
                    <a:pt x="0" y="1591888"/>
                  </a:lnTo>
                  <a:close/>
                </a:path>
              </a:pathLst>
            </a:custGeom>
            <a:solidFill>
              <a:srgbClr val="F4F4F4"/>
            </a:solidFill>
          </p:spPr>
        </p:sp>
        <p:sp>
          <p:nvSpPr>
            <p:cNvPr name="TextBox 20" id="20"/>
            <p:cNvSpPr txBox="true"/>
            <p:nvPr/>
          </p:nvSpPr>
          <p:spPr>
            <a:xfrm>
              <a:off x="0" y="-38100"/>
              <a:ext cx="1350418" cy="162998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1936284" y="3214100"/>
            <a:ext cx="5127368" cy="6044200"/>
            <a:chOff x="0" y="0"/>
            <a:chExt cx="1350418" cy="1591888"/>
          </a:xfrm>
        </p:grpSpPr>
        <p:sp>
          <p:nvSpPr>
            <p:cNvPr name="Freeform 22" id="22"/>
            <p:cNvSpPr/>
            <p:nvPr/>
          </p:nvSpPr>
          <p:spPr>
            <a:xfrm flipH="false" flipV="false" rot="0">
              <a:off x="0" y="0"/>
              <a:ext cx="1350418" cy="1591888"/>
            </a:xfrm>
            <a:custGeom>
              <a:avLst/>
              <a:gdLst/>
              <a:ahLst/>
              <a:cxnLst/>
              <a:rect r="r" b="b" t="t" l="l"/>
              <a:pathLst>
                <a:path h="1591888" w="1350418">
                  <a:moveTo>
                    <a:pt x="0" y="0"/>
                  </a:moveTo>
                  <a:lnTo>
                    <a:pt x="1350418" y="0"/>
                  </a:lnTo>
                  <a:lnTo>
                    <a:pt x="1350418" y="1591888"/>
                  </a:lnTo>
                  <a:lnTo>
                    <a:pt x="0" y="1591888"/>
                  </a:lnTo>
                  <a:close/>
                </a:path>
              </a:pathLst>
            </a:custGeom>
            <a:solidFill>
              <a:srgbClr val="F4F4F4"/>
            </a:solidFill>
          </p:spPr>
        </p:sp>
        <p:sp>
          <p:nvSpPr>
            <p:cNvPr name="TextBox 23" id="23"/>
            <p:cNvSpPr txBox="true"/>
            <p:nvPr/>
          </p:nvSpPr>
          <p:spPr>
            <a:xfrm>
              <a:off x="0" y="-38100"/>
              <a:ext cx="1350418" cy="162998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343348" y="167925"/>
            <a:ext cx="733205" cy="1399054"/>
            <a:chOff x="0" y="0"/>
            <a:chExt cx="977606" cy="1865406"/>
          </a:xfrm>
        </p:grpSpPr>
        <p:sp>
          <p:nvSpPr>
            <p:cNvPr name="Freeform 25" id="25"/>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0" y="326140"/>
              <a:ext cx="707705" cy="275585"/>
              <a:chOff x="0" y="0"/>
              <a:chExt cx="139794" cy="54437"/>
            </a:xfrm>
          </p:grpSpPr>
          <p:sp>
            <p:nvSpPr>
              <p:cNvPr name="Freeform 27" id="27"/>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28" id="28"/>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pic>
        <p:nvPicPr>
          <p:cNvPr name="Picture 29" id="29"/>
          <p:cNvPicPr>
            <a:picLocks noChangeAspect="true"/>
          </p:cNvPicPr>
          <p:nvPr/>
        </p:nvPicPr>
        <p:blipFill>
          <a:blip r:embed="rId4"/>
          <a:stretch>
            <a:fillRect/>
          </a:stretch>
        </p:blipFill>
        <p:spPr>
          <a:xfrm rot="0">
            <a:off x="2151608" y="3224347"/>
            <a:ext cx="3275318" cy="3835073"/>
          </a:xfrm>
          <a:prstGeom prst="rect">
            <a:avLst/>
          </a:prstGeom>
        </p:spPr>
      </p:pic>
      <p:pic>
        <p:nvPicPr>
          <p:cNvPr name="Picture 30" id="30"/>
          <p:cNvPicPr>
            <a:picLocks noChangeAspect="true"/>
          </p:cNvPicPr>
          <p:nvPr/>
        </p:nvPicPr>
        <p:blipFill>
          <a:blip r:embed="rId5"/>
          <a:stretch>
            <a:fillRect/>
          </a:stretch>
        </p:blipFill>
        <p:spPr>
          <a:xfrm rot="0">
            <a:off x="11999613" y="3127210"/>
            <a:ext cx="5000710" cy="4032581"/>
          </a:xfrm>
          <a:prstGeom prst="rect">
            <a:avLst/>
          </a:prstGeom>
        </p:spPr>
      </p:pic>
      <p:sp>
        <p:nvSpPr>
          <p:cNvPr name="Freeform 31" id="31"/>
          <p:cNvSpPr/>
          <p:nvPr/>
        </p:nvSpPr>
        <p:spPr>
          <a:xfrm flipH="false" flipV="false" rot="0">
            <a:off x="7844817" y="3822944"/>
            <a:ext cx="810387" cy="720231"/>
          </a:xfrm>
          <a:custGeom>
            <a:avLst/>
            <a:gdLst/>
            <a:ahLst/>
            <a:cxnLst/>
            <a:rect r="r" b="b" t="t" l="l"/>
            <a:pathLst>
              <a:path h="720231" w="810387">
                <a:moveTo>
                  <a:pt x="0" y="0"/>
                </a:moveTo>
                <a:lnTo>
                  <a:pt x="810387" y="0"/>
                </a:lnTo>
                <a:lnTo>
                  <a:pt x="810387" y="720232"/>
                </a:lnTo>
                <a:lnTo>
                  <a:pt x="0" y="720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32" id="32"/>
          <p:cNvSpPr/>
          <p:nvPr/>
        </p:nvSpPr>
        <p:spPr>
          <a:xfrm flipH="false" flipV="false" rot="0">
            <a:off x="8736684" y="3822944"/>
            <a:ext cx="810387" cy="720231"/>
          </a:xfrm>
          <a:custGeom>
            <a:avLst/>
            <a:gdLst/>
            <a:ahLst/>
            <a:cxnLst/>
            <a:rect r="r" b="b" t="t" l="l"/>
            <a:pathLst>
              <a:path h="720231" w="810387">
                <a:moveTo>
                  <a:pt x="0" y="0"/>
                </a:moveTo>
                <a:lnTo>
                  <a:pt x="810387" y="0"/>
                </a:lnTo>
                <a:lnTo>
                  <a:pt x="810387" y="720232"/>
                </a:lnTo>
                <a:lnTo>
                  <a:pt x="0" y="720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33" id="33"/>
          <p:cNvSpPr/>
          <p:nvPr/>
        </p:nvSpPr>
        <p:spPr>
          <a:xfrm flipH="false" flipV="false" rot="0">
            <a:off x="9632796" y="3822944"/>
            <a:ext cx="810387" cy="720231"/>
          </a:xfrm>
          <a:custGeom>
            <a:avLst/>
            <a:gdLst/>
            <a:ahLst/>
            <a:cxnLst/>
            <a:rect r="r" b="b" t="t" l="l"/>
            <a:pathLst>
              <a:path h="720231" w="810387">
                <a:moveTo>
                  <a:pt x="0" y="0"/>
                </a:moveTo>
                <a:lnTo>
                  <a:pt x="810387" y="0"/>
                </a:lnTo>
                <a:lnTo>
                  <a:pt x="810387" y="720232"/>
                </a:lnTo>
                <a:lnTo>
                  <a:pt x="0" y="720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34" id="34"/>
          <p:cNvSpPr/>
          <p:nvPr/>
        </p:nvSpPr>
        <p:spPr>
          <a:xfrm flipH="false" flipV="false" rot="0">
            <a:off x="8736684" y="5844726"/>
            <a:ext cx="810387" cy="720231"/>
          </a:xfrm>
          <a:custGeom>
            <a:avLst/>
            <a:gdLst/>
            <a:ahLst/>
            <a:cxnLst/>
            <a:rect r="r" b="b" t="t" l="l"/>
            <a:pathLst>
              <a:path h="720231" w="810387">
                <a:moveTo>
                  <a:pt x="0" y="0"/>
                </a:moveTo>
                <a:lnTo>
                  <a:pt x="810387" y="0"/>
                </a:lnTo>
                <a:lnTo>
                  <a:pt x="810387" y="720232"/>
                </a:lnTo>
                <a:lnTo>
                  <a:pt x="0" y="7202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grpSp>
        <p:nvGrpSpPr>
          <p:cNvPr name="Group 35" id="35"/>
          <p:cNvGrpSpPr/>
          <p:nvPr/>
        </p:nvGrpSpPr>
        <p:grpSpPr>
          <a:xfrm rot="5400000">
            <a:off x="8807321" y="4954353"/>
            <a:ext cx="669112" cy="555397"/>
            <a:chOff x="0" y="0"/>
            <a:chExt cx="930334" cy="772224"/>
          </a:xfrm>
        </p:grpSpPr>
        <p:sp>
          <p:nvSpPr>
            <p:cNvPr name="Freeform 36" id="36"/>
            <p:cNvSpPr/>
            <p:nvPr/>
          </p:nvSpPr>
          <p:spPr>
            <a:xfrm flipH="false" flipV="false" rot="0">
              <a:off x="0" y="0"/>
              <a:ext cx="930334" cy="772224"/>
            </a:xfrm>
            <a:custGeom>
              <a:avLst/>
              <a:gdLst/>
              <a:ahLst/>
              <a:cxnLst/>
              <a:rect r="r" b="b" t="t" l="l"/>
              <a:pathLst>
                <a:path h="772224" w="930334">
                  <a:moveTo>
                    <a:pt x="930334" y="386112"/>
                  </a:moveTo>
                  <a:lnTo>
                    <a:pt x="523934" y="0"/>
                  </a:lnTo>
                  <a:lnTo>
                    <a:pt x="523934" y="203200"/>
                  </a:lnTo>
                  <a:lnTo>
                    <a:pt x="0" y="203200"/>
                  </a:lnTo>
                  <a:lnTo>
                    <a:pt x="0" y="569024"/>
                  </a:lnTo>
                  <a:lnTo>
                    <a:pt x="523934" y="569024"/>
                  </a:lnTo>
                  <a:lnTo>
                    <a:pt x="523934" y="772224"/>
                  </a:lnTo>
                  <a:lnTo>
                    <a:pt x="930334" y="386112"/>
                  </a:lnTo>
                  <a:close/>
                </a:path>
              </a:pathLst>
            </a:custGeom>
            <a:solidFill>
              <a:srgbClr val="3D3D3D"/>
            </a:solidFill>
          </p:spPr>
        </p:sp>
        <p:sp>
          <p:nvSpPr>
            <p:cNvPr name="TextBox 37" id="37"/>
            <p:cNvSpPr txBox="true"/>
            <p:nvPr/>
          </p:nvSpPr>
          <p:spPr>
            <a:xfrm>
              <a:off x="0" y="165100"/>
              <a:ext cx="828734" cy="403924"/>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7619444" y="935647"/>
            <a:ext cx="3049111" cy="995680"/>
          </a:xfrm>
          <a:prstGeom prst="rect">
            <a:avLst/>
          </a:prstGeom>
        </p:spPr>
        <p:txBody>
          <a:bodyPr anchor="t" rtlCol="false" tIns="0" lIns="0" bIns="0" rIns="0">
            <a:spAutoFit/>
          </a:bodyPr>
          <a:lstStyle/>
          <a:p>
            <a:pPr algn="l">
              <a:lnSpc>
                <a:spcPts val="8119"/>
              </a:lnSpc>
              <a:spcBef>
                <a:spcPct val="0"/>
              </a:spcBef>
              <a:spcAft>
                <a:spcPts val="1000"/>
              </a:spcAft>
            </a:pPr>
            <a:r>
              <a:rPr sz="5799">
                <a:solidFill>
                  <a:srgbClr val="3D3D3D"/>
                </a:solidFill>
                <a:latin typeface="네모고딕"/>
              </a:rPr>
              <a:t>4. 예상 손익</a:t>
            </a:r>
          </a:p>
        </p:txBody>
      </p:sp>
      <p:sp>
        <p:nvSpPr>
          <p:cNvPr name="TextBox 39" id="39"/>
          <p:cNvSpPr txBox="true"/>
          <p:nvPr/>
        </p:nvSpPr>
        <p:spPr>
          <a:xfrm rot="0">
            <a:off x="7919482" y="1940757"/>
            <a:ext cx="2449036"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Inter"/>
              </a:rPr>
              <a:t>매출 32.0억 원 대비 비용 22.4억 원 집행 (영업이익 9.6억 원 달성)</a:t>
            </a:r>
          </a:p>
        </p:txBody>
      </p:sp>
      <p:sp>
        <p:nvSpPr>
          <p:cNvPr name="TextBox 40" id="40"/>
          <p:cNvSpPr txBox="true"/>
          <p:nvPr/>
        </p:nvSpPr>
        <p:spPr>
          <a:xfrm rot="0">
            <a:off x="2217642" y="7171880"/>
            <a:ext cx="3143250" cy="15905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인건비: 14억 2,000만 원</a:t>
            </a:r>
          </a:p>
          <a:p>
            <a:pPr algn="l">
              <a:spcAft>
                <a:spcPts val="1000"/>
              </a:spcAft>
            </a:pPr>
            <a:r>
              <a:rPr sz="3004" b="1">
                <a:solidFill>
                  <a:srgbClr val="3D3D3D"/>
                </a:solidFill>
                <a:latin typeface="Tlab 모던라이프 Medium"/>
              </a:rPr>
              <a:t>  (핵심 인력 3명 특별 채용 포함)</a:t>
            </a:r>
          </a:p>
        </p:txBody>
      </p:sp>
      <p:sp>
        <p:nvSpPr>
          <p:cNvPr name="TextBox 41" id="41"/>
          <p:cNvSpPr txBox="true"/>
          <p:nvPr/>
        </p:nvSpPr>
        <p:spPr>
          <a:xfrm rot="0">
            <a:off x="7572375" y="7169864"/>
            <a:ext cx="3143250" cy="15905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마케팅비: 4억 6,000만 원</a:t>
            </a:r>
          </a:p>
          <a:p>
            <a:pPr algn="l">
              <a:spcAft>
                <a:spcPts val="1000"/>
              </a:spcAft>
            </a:pPr>
            <a:r>
              <a:rPr sz="3004" b="1">
                <a:solidFill>
                  <a:srgbClr val="3D3D3D"/>
                </a:solidFill>
                <a:latin typeface="Tlab 모던라이프 Medium"/>
              </a:rPr>
              <a:t>  (대규모 마케팅 및 캠페인 전개)</a:t>
            </a:r>
          </a:p>
        </p:txBody>
      </p:sp>
      <p:sp>
        <p:nvSpPr>
          <p:cNvPr name="TextBox 42" id="42"/>
          <p:cNvSpPr txBox="true"/>
          <p:nvPr/>
        </p:nvSpPr>
        <p:spPr>
          <a:xfrm rot="0">
            <a:off x="12928343" y="7171880"/>
            <a:ext cx="3143250" cy="15905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운영비: 3억 6,000만 원</a:t>
            </a:r>
          </a:p>
          <a:p>
            <a:pPr algn="l">
              <a:spcAft>
                <a:spcPts val="1000"/>
              </a:spcAft>
            </a:pPr>
            <a:r>
              <a:rPr sz="3004" b="1">
                <a:solidFill>
                  <a:srgbClr val="3D3D3D"/>
                </a:solidFill>
                <a:latin typeface="Tlab 모던라이프 Medium"/>
              </a:rPr>
              <a:t>  (부산/대구 지사 센터 및 인프라)</a:t>
            </a:r>
          </a:p>
        </p:txBody>
      </p:sp>
      <p:sp>
        <p:nvSpPr>
          <p:cNvPr id="43" name="TextBox 42"/>
          <p:cNvSpPr txBox="1"/>
          <p:nvPr/>
        </p:nvSpPr>
        <p:spPr>
          <a:xfrm>
            <a:off x="914400" y="9418320"/>
            <a:ext cx="4572000" cy="457200"/>
          </a:xfrm>
          <a:prstGeom prst="rect">
            <a:avLst/>
          </a:prstGeom>
          <a:noFill/>
        </p:spPr>
        <p:txBody>
          <a:bodyPr wrap="none">
            <a:spAutoFit/>
          </a:bodyPr>
          <a:lstStyle/>
          <a:p>
            <a:pPr>
              <a:defRPr sz="1100">
                <a:solidFill>
                  <a:srgbClr val="808080"/>
                </a:solidFill>
                <a:latin typeface="Inter"/>
              </a:defRPr>
            </a:pPr>
            <a:r>
              <a:t>전략기획팀</a:t>
            </a:r>
          </a:p>
        </p:txBody>
      </p:sp>
      <p:sp>
        <p:nvSpPr>
          <p:cNvPr id="44" name="TextBox 43"/>
          <p:cNvSpPr txBox="1"/>
          <p:nvPr/>
        </p:nvSpPr>
        <p:spPr>
          <a:xfrm>
            <a:off x="16459200" y="9418320"/>
            <a:ext cx="914400" cy="457200"/>
          </a:xfrm>
          <a:prstGeom prst="rect">
            <a:avLst/>
          </a:prstGeom>
          <a:noFill/>
        </p:spPr>
        <p:txBody>
          <a:bodyPr wrap="none">
            <a:spAutoFit/>
          </a:bodyPr>
          <a:lstStyle/>
          <a:p>
            <a:pPr algn="ctr">
              <a:defRPr sz="1100">
                <a:solidFill>
                  <a:srgbClr val="808080"/>
                </a:solidFill>
                <a:latin typeface="Inter"/>
              </a:defRPr>
            </a:pPr>
            <a:r>
              <a:t>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343348" y="167925"/>
            <a:ext cx="733205" cy="1399054"/>
            <a:chOff x="0" y="0"/>
            <a:chExt cx="977606" cy="1865406"/>
          </a:xfrm>
        </p:grpSpPr>
        <p:sp>
          <p:nvSpPr>
            <p:cNvPr name="Freeform 16" id="16"/>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0" y="326140"/>
              <a:ext cx="707705" cy="275585"/>
              <a:chOff x="0" y="0"/>
              <a:chExt cx="139794" cy="54437"/>
            </a:xfrm>
          </p:grpSpPr>
          <p:sp>
            <p:nvSpPr>
              <p:cNvPr name="Freeform 18" id="18"/>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19" id="19"/>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grpSp>
        <p:nvGrpSpPr>
          <p:cNvPr name="Group 20" id="20"/>
          <p:cNvGrpSpPr/>
          <p:nvPr/>
        </p:nvGrpSpPr>
        <p:grpSpPr>
          <a:xfrm rot="0">
            <a:off x="1599289" y="3442727"/>
            <a:ext cx="7429500" cy="2667000"/>
            <a:chOff x="0" y="0"/>
            <a:chExt cx="1956741" cy="702420"/>
          </a:xfrm>
        </p:grpSpPr>
        <p:sp>
          <p:nvSpPr>
            <p:cNvPr name="Freeform 21" id="21"/>
            <p:cNvSpPr/>
            <p:nvPr/>
          </p:nvSpPr>
          <p:spPr>
            <a:xfrm flipH="false" flipV="false" rot="0">
              <a:off x="0" y="0"/>
              <a:ext cx="1956741" cy="702420"/>
            </a:xfrm>
            <a:custGeom>
              <a:avLst/>
              <a:gdLst/>
              <a:ahLst/>
              <a:cxnLst/>
              <a:rect r="r" b="b" t="t" l="l"/>
              <a:pathLst>
                <a:path h="702420" w="1956741">
                  <a:moveTo>
                    <a:pt x="0" y="0"/>
                  </a:moveTo>
                  <a:lnTo>
                    <a:pt x="1956741" y="0"/>
                  </a:lnTo>
                  <a:lnTo>
                    <a:pt x="1956741" y="702420"/>
                  </a:lnTo>
                  <a:lnTo>
                    <a:pt x="0" y="702420"/>
                  </a:lnTo>
                  <a:close/>
                </a:path>
              </a:pathLst>
            </a:custGeom>
            <a:solidFill>
              <a:srgbClr val="F4F4F4"/>
            </a:solidFill>
          </p:spPr>
        </p:sp>
        <p:sp>
          <p:nvSpPr>
            <p:cNvPr name="TextBox 22" id="22"/>
            <p:cNvSpPr txBox="true"/>
            <p:nvPr/>
          </p:nvSpPr>
          <p:spPr>
            <a:xfrm>
              <a:off x="0" y="-38100"/>
              <a:ext cx="1956741" cy="74052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599289" y="6340651"/>
            <a:ext cx="7429500" cy="2667000"/>
            <a:chOff x="0" y="0"/>
            <a:chExt cx="1956741" cy="702420"/>
          </a:xfrm>
        </p:grpSpPr>
        <p:sp>
          <p:nvSpPr>
            <p:cNvPr name="Freeform 24" id="24"/>
            <p:cNvSpPr/>
            <p:nvPr/>
          </p:nvSpPr>
          <p:spPr>
            <a:xfrm flipH="false" flipV="false" rot="0">
              <a:off x="0" y="0"/>
              <a:ext cx="1956741" cy="702420"/>
            </a:xfrm>
            <a:custGeom>
              <a:avLst/>
              <a:gdLst/>
              <a:ahLst/>
              <a:cxnLst/>
              <a:rect r="r" b="b" t="t" l="l"/>
              <a:pathLst>
                <a:path h="702420" w="1956741">
                  <a:moveTo>
                    <a:pt x="0" y="0"/>
                  </a:moveTo>
                  <a:lnTo>
                    <a:pt x="1956741" y="0"/>
                  </a:lnTo>
                  <a:lnTo>
                    <a:pt x="1956741" y="702420"/>
                  </a:lnTo>
                  <a:lnTo>
                    <a:pt x="0" y="702420"/>
                  </a:lnTo>
                  <a:close/>
                </a:path>
              </a:pathLst>
            </a:custGeom>
            <a:solidFill>
              <a:srgbClr val="F4F4F4"/>
            </a:solidFill>
          </p:spPr>
        </p:sp>
        <p:sp>
          <p:nvSpPr>
            <p:cNvPr name="TextBox 25" id="25"/>
            <p:cNvSpPr txBox="true"/>
            <p:nvPr/>
          </p:nvSpPr>
          <p:spPr>
            <a:xfrm>
              <a:off x="0" y="-38100"/>
              <a:ext cx="1956741" cy="74052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259211" y="3442727"/>
            <a:ext cx="7429500" cy="2667000"/>
            <a:chOff x="0" y="0"/>
            <a:chExt cx="1956741" cy="702420"/>
          </a:xfrm>
        </p:grpSpPr>
        <p:sp>
          <p:nvSpPr>
            <p:cNvPr name="Freeform 27" id="27"/>
            <p:cNvSpPr/>
            <p:nvPr/>
          </p:nvSpPr>
          <p:spPr>
            <a:xfrm flipH="false" flipV="false" rot="0">
              <a:off x="0" y="0"/>
              <a:ext cx="1956741" cy="702420"/>
            </a:xfrm>
            <a:custGeom>
              <a:avLst/>
              <a:gdLst/>
              <a:ahLst/>
              <a:cxnLst/>
              <a:rect r="r" b="b" t="t" l="l"/>
              <a:pathLst>
                <a:path h="702420" w="1956741">
                  <a:moveTo>
                    <a:pt x="0" y="0"/>
                  </a:moveTo>
                  <a:lnTo>
                    <a:pt x="1956741" y="0"/>
                  </a:lnTo>
                  <a:lnTo>
                    <a:pt x="1956741" y="702420"/>
                  </a:lnTo>
                  <a:lnTo>
                    <a:pt x="0" y="702420"/>
                  </a:lnTo>
                  <a:close/>
                </a:path>
              </a:pathLst>
            </a:custGeom>
            <a:solidFill>
              <a:srgbClr val="F4F4F4"/>
            </a:solidFill>
          </p:spPr>
        </p:sp>
        <p:sp>
          <p:nvSpPr>
            <p:cNvPr name="TextBox 28" id="28"/>
            <p:cNvSpPr txBox="true"/>
            <p:nvPr/>
          </p:nvSpPr>
          <p:spPr>
            <a:xfrm>
              <a:off x="0" y="-38100"/>
              <a:ext cx="1956741" cy="740520"/>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9259211" y="6340651"/>
            <a:ext cx="7429500" cy="2667000"/>
            <a:chOff x="0" y="0"/>
            <a:chExt cx="1956741" cy="702420"/>
          </a:xfrm>
        </p:grpSpPr>
        <p:sp>
          <p:nvSpPr>
            <p:cNvPr name="Freeform 30" id="30"/>
            <p:cNvSpPr/>
            <p:nvPr/>
          </p:nvSpPr>
          <p:spPr>
            <a:xfrm flipH="false" flipV="false" rot="0">
              <a:off x="0" y="0"/>
              <a:ext cx="1956741" cy="702420"/>
            </a:xfrm>
            <a:custGeom>
              <a:avLst/>
              <a:gdLst/>
              <a:ahLst/>
              <a:cxnLst/>
              <a:rect r="r" b="b" t="t" l="l"/>
              <a:pathLst>
                <a:path h="702420" w="1956741">
                  <a:moveTo>
                    <a:pt x="0" y="0"/>
                  </a:moveTo>
                  <a:lnTo>
                    <a:pt x="1956741" y="0"/>
                  </a:lnTo>
                  <a:lnTo>
                    <a:pt x="1956741" y="702420"/>
                  </a:lnTo>
                  <a:lnTo>
                    <a:pt x="0" y="702420"/>
                  </a:lnTo>
                  <a:close/>
                </a:path>
              </a:pathLst>
            </a:custGeom>
            <a:solidFill>
              <a:srgbClr val="F4F4F4"/>
            </a:solidFill>
          </p:spPr>
        </p:sp>
        <p:sp>
          <p:nvSpPr>
            <p:cNvPr name="TextBox 31" id="31"/>
            <p:cNvSpPr txBox="true"/>
            <p:nvPr/>
          </p:nvSpPr>
          <p:spPr>
            <a:xfrm>
              <a:off x="0" y="-38100"/>
              <a:ext cx="1956741" cy="740520"/>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2448833" y="4112385"/>
            <a:ext cx="1327683" cy="1327683"/>
          </a:xfrm>
          <a:custGeom>
            <a:avLst/>
            <a:gdLst/>
            <a:ahLst/>
            <a:cxnLst/>
            <a:rect r="r" b="b" t="t" l="l"/>
            <a:pathLst>
              <a:path h="1327683" w="1327683">
                <a:moveTo>
                  <a:pt x="0" y="0"/>
                </a:moveTo>
                <a:lnTo>
                  <a:pt x="1327684" y="0"/>
                </a:lnTo>
                <a:lnTo>
                  <a:pt x="1327684" y="1327684"/>
                </a:lnTo>
                <a:lnTo>
                  <a:pt x="0" y="13276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33" id="33"/>
          <p:cNvSpPr/>
          <p:nvPr/>
        </p:nvSpPr>
        <p:spPr>
          <a:xfrm flipH="false" flipV="false" rot="0">
            <a:off x="10072585" y="4129317"/>
            <a:ext cx="1293819" cy="1293819"/>
          </a:xfrm>
          <a:custGeom>
            <a:avLst/>
            <a:gdLst/>
            <a:ahLst/>
            <a:cxnLst/>
            <a:rect r="r" b="b" t="t" l="l"/>
            <a:pathLst>
              <a:path h="1293819" w="1293819">
                <a:moveTo>
                  <a:pt x="0" y="0"/>
                </a:moveTo>
                <a:lnTo>
                  <a:pt x="1293819" y="0"/>
                </a:lnTo>
                <a:lnTo>
                  <a:pt x="1293819" y="1293820"/>
                </a:lnTo>
                <a:lnTo>
                  <a:pt x="0" y="1293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34" id="34"/>
          <p:cNvSpPr/>
          <p:nvPr/>
        </p:nvSpPr>
        <p:spPr>
          <a:xfrm flipH="false" flipV="false" rot="0">
            <a:off x="2296361" y="6977079"/>
            <a:ext cx="1394142" cy="1394142"/>
          </a:xfrm>
          <a:custGeom>
            <a:avLst/>
            <a:gdLst/>
            <a:ahLst/>
            <a:cxnLst/>
            <a:rect r="r" b="b" t="t" l="l"/>
            <a:pathLst>
              <a:path h="1394142" w="1394142">
                <a:moveTo>
                  <a:pt x="0" y="0"/>
                </a:moveTo>
                <a:lnTo>
                  <a:pt x="1394142" y="0"/>
                </a:lnTo>
                <a:lnTo>
                  <a:pt x="1394142" y="1394143"/>
                </a:lnTo>
                <a:lnTo>
                  <a:pt x="0" y="13941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Freeform 35" id="35"/>
          <p:cNvSpPr/>
          <p:nvPr/>
        </p:nvSpPr>
        <p:spPr>
          <a:xfrm flipH="false" flipV="false" rot="0">
            <a:off x="10036556" y="6987777"/>
            <a:ext cx="1329849" cy="1372747"/>
          </a:xfrm>
          <a:custGeom>
            <a:avLst/>
            <a:gdLst/>
            <a:ahLst/>
            <a:cxnLst/>
            <a:rect r="r" b="b" t="t" l="l"/>
            <a:pathLst>
              <a:path h="1372747" w="1329849">
                <a:moveTo>
                  <a:pt x="0" y="0"/>
                </a:moveTo>
                <a:lnTo>
                  <a:pt x="1329848" y="0"/>
                </a:lnTo>
                <a:lnTo>
                  <a:pt x="1329848" y="1372747"/>
                </a:lnTo>
                <a:lnTo>
                  <a:pt x="0" y="13727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TextBox 36" id="36"/>
          <p:cNvSpPr txBox="true"/>
          <p:nvPr/>
        </p:nvSpPr>
        <p:spPr>
          <a:xfrm rot="0">
            <a:off x="7619444" y="935647"/>
            <a:ext cx="3049111" cy="995680"/>
          </a:xfrm>
          <a:prstGeom prst="rect">
            <a:avLst/>
          </a:prstGeom>
        </p:spPr>
        <p:txBody>
          <a:bodyPr anchor="t" rtlCol="false" tIns="0" lIns="0" bIns="0" rIns="0">
            <a:spAutoFit/>
          </a:bodyPr>
          <a:lstStyle/>
          <a:p>
            <a:pPr algn="l">
              <a:lnSpc>
                <a:spcPts val="8119"/>
              </a:lnSpc>
              <a:spcBef>
                <a:spcPct val="0"/>
              </a:spcBef>
              <a:spcAft>
                <a:spcPts val="1000"/>
              </a:spcAft>
            </a:pPr>
            <a:r>
              <a:rPr sz="5799">
                <a:solidFill>
                  <a:srgbClr val="3D3D3D"/>
                </a:solidFill>
                <a:latin typeface="네모고딕"/>
              </a:rPr>
              <a:t>요약 및 제안</a:t>
            </a:r>
          </a:p>
        </p:txBody>
      </p:sp>
      <p:sp>
        <p:nvSpPr>
          <p:cNvPr name="TextBox 37" id="37"/>
          <p:cNvSpPr txBox="true"/>
          <p:nvPr/>
        </p:nvSpPr>
        <p:spPr>
          <a:xfrm rot="0">
            <a:off x="8480742" y="1940757"/>
            <a:ext cx="1326515" cy="405765"/>
          </a:xfrm>
          <a:prstGeom prst="rect">
            <a:avLst/>
          </a:prstGeom>
        </p:spPr>
        <p:txBody>
          <a:bodyPr anchor="t" rtlCol="false" tIns="0" lIns="0" bIns="0" rIns="0">
            <a:spAutoFit/>
          </a:bodyPr>
          <a:lstStyle/>
          <a:p>
            <a:pPr algn="l">
              <a:lnSpc>
                <a:spcPts val="3359"/>
              </a:lnSpc>
              <a:spcBef>
                <a:spcPct val="0"/>
              </a:spcBef>
              <a:spcAft>
                <a:spcPts val="1000"/>
              </a:spcAft>
            </a:pPr>
            <a:r>
              <a:rPr sz="2400">
                <a:solidFill>
                  <a:srgbClr val="3D3D3D"/>
                </a:solidFill>
                <a:latin typeface="Inter"/>
              </a:rPr>
              <a:t>Summary &amp; Proposal</a:t>
            </a:r>
          </a:p>
        </p:txBody>
      </p:sp>
      <p:sp>
        <p:nvSpPr>
          <p:cNvPr name="TextBox 38" id="38"/>
          <p:cNvSpPr txBox="true"/>
          <p:nvPr/>
        </p:nvSpPr>
        <p:spPr>
          <a:xfrm rot="0">
            <a:off x="4256521" y="4214313"/>
            <a:ext cx="4000500"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핵심 발견 (Key Findings)</a:t>
            </a:r>
          </a:p>
        </p:txBody>
      </p:sp>
      <p:sp>
        <p:nvSpPr>
          <p:cNvPr name="TextBox 39" id="39"/>
          <p:cNvSpPr txBox="true"/>
          <p:nvPr/>
        </p:nvSpPr>
        <p:spPr>
          <a:xfrm rot="0">
            <a:off x="4256521" y="7112237"/>
            <a:ext cx="4000500"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매출 32억 달성을 위한 프리미엄 및 B2B 영업 본격 가동</a:t>
            </a:r>
          </a:p>
          <a:p>
            <a:pPr algn="l">
              <a:spcAft>
                <a:spcPts val="1000"/>
              </a:spcAft>
            </a:pPr>
            <a:r>
              <a:rPr sz="3004" b="1">
                <a:solidFill>
                  <a:srgbClr val="3D3D3D"/>
                </a:solidFill>
                <a:latin typeface="Tlab 모던라이프 Medium"/>
              </a:rPr>
              <a:t>· 비수도권 매출 비중 45% 확보를 위한 지역 센터 거점화</a:t>
            </a:r>
          </a:p>
          <a:p>
            <a:pPr algn="l">
              <a:spcAft>
                <a:spcPts val="1000"/>
              </a:spcAft>
            </a:pPr>
            <a:r>
              <a:rPr sz="3004" b="1">
                <a:solidFill>
                  <a:srgbClr val="3D3D3D"/>
                </a:solidFill>
                <a:latin typeface="Tlab 모던라이프 Medium"/>
              </a:rPr>
              <a:t>· 프리미엄 V2.0 8월 조기 출시를 통한 시장 선점 및 경쟁 헤징</a:t>
            </a:r>
          </a:p>
        </p:txBody>
      </p:sp>
      <p:sp>
        <p:nvSpPr>
          <p:cNvPr name="TextBox 40" id="40"/>
          <p:cNvSpPr txBox="true"/>
          <p:nvPr/>
        </p:nvSpPr>
        <p:spPr>
          <a:xfrm rot="0">
            <a:off x="11922897" y="4214313"/>
            <a:ext cx="4000500"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제안 및 다음 단계 (Proposals &amp; Next Steps)</a:t>
            </a:r>
          </a:p>
        </p:txBody>
      </p:sp>
      <p:sp>
        <p:nvSpPr>
          <p:cNvPr name="TextBox 41" id="41"/>
          <p:cNvSpPr txBox="true"/>
          <p:nvPr/>
        </p:nvSpPr>
        <p:spPr>
          <a:xfrm rot="0">
            <a:off x="11922897" y="7112237"/>
            <a:ext cx="4000500" cy="1057152"/>
          </a:xfrm>
          <a:prstGeom prst="rect">
            <a:avLst/>
          </a:prstGeom>
        </p:spPr>
        <p:txBody>
          <a:bodyPr anchor="t" rtlCol="false" tIns="0" lIns="0" bIns="0" rIns="0">
            <a:spAutoFit/>
          </a:bodyPr>
          <a:lstStyle/>
          <a:p>
            <a:pPr algn="l" marL="0" indent="0" lvl="0">
              <a:lnSpc>
                <a:spcPts val="4206"/>
              </a:lnSpc>
              <a:spcBef>
                <a:spcPct val="0"/>
              </a:spcBef>
              <a:spcAft>
                <a:spcPts val="1000"/>
              </a:spcAft>
            </a:pPr>
            <a:r>
              <a:rPr sz="3004" b="1">
                <a:solidFill>
                  <a:srgbClr val="3D3D3D"/>
                </a:solidFill>
                <a:latin typeface="Tlab 모던라이프 Medium"/>
              </a:rPr>
              <a:t>· 대표이사 승인 직후 부서별 하반기 킥오프 및 일정 실행</a:t>
            </a:r>
          </a:p>
          <a:p>
            <a:pPr algn="l">
              <a:spcAft>
                <a:spcPts val="1000"/>
              </a:spcAft>
            </a:pPr>
            <a:r>
              <a:rPr sz="3004" b="1">
                <a:solidFill>
                  <a:srgbClr val="3D3D3D"/>
                </a:solidFill>
                <a:latin typeface="Tlab 모던라이프 Medium"/>
              </a:rPr>
              <a:t>· 7월 중 신규 채용 완료 및 V2.0 개발 일정 정밀 점검</a:t>
            </a:r>
          </a:p>
        </p:txBody>
      </p:sp>
      <p:sp>
        <p:nvSpPr>
          <p:cNvPr id="42" name="TextBox 41"/>
          <p:cNvSpPr txBox="1"/>
          <p:nvPr/>
        </p:nvSpPr>
        <p:spPr>
          <a:xfrm>
            <a:off x="914400" y="9418320"/>
            <a:ext cx="4572000" cy="457200"/>
          </a:xfrm>
          <a:prstGeom prst="rect">
            <a:avLst/>
          </a:prstGeom>
          <a:noFill/>
        </p:spPr>
        <p:txBody>
          <a:bodyPr wrap="none">
            <a:spAutoFit/>
          </a:bodyPr>
          <a:lstStyle/>
          <a:p>
            <a:pPr>
              <a:defRPr sz="1100">
                <a:solidFill>
                  <a:srgbClr val="808080"/>
                </a:solidFill>
                <a:latin typeface="Inter"/>
              </a:defRPr>
            </a:pPr>
            <a:r>
              <a:t>전략기획팀</a:t>
            </a:r>
          </a:p>
        </p:txBody>
      </p:sp>
      <p:sp>
        <p:nvSpPr>
          <p:cNvPr id="43" name="TextBox 42"/>
          <p:cNvSpPr txBox="1"/>
          <p:nvPr/>
        </p:nvSpPr>
        <p:spPr>
          <a:xfrm>
            <a:off x="16459200" y="9418320"/>
            <a:ext cx="914400" cy="457200"/>
          </a:xfrm>
          <a:prstGeom prst="rect">
            <a:avLst/>
          </a:prstGeom>
          <a:noFill/>
        </p:spPr>
        <p:txBody>
          <a:bodyPr wrap="none">
            <a:spAutoFit/>
          </a:bodyPr>
          <a:lstStyle/>
          <a:p>
            <a:pPr algn="ctr">
              <a:defRPr sz="1100">
                <a:solidFill>
                  <a:srgbClr val="808080"/>
                </a:solidFill>
                <a:latin typeface="Inter"/>
              </a:defRPr>
            </a:pPr>
            <a:r>
              <a:t>8</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5CBDA"/>
        </a:solidFill>
      </p:bgPr>
    </p:bg>
    <p:spTree>
      <p:nvGrpSpPr>
        <p:cNvPr id="1" name=""/>
        <p:cNvGrpSpPr/>
        <p:nvPr/>
      </p:nvGrpSpPr>
      <p:grpSpPr>
        <a:xfrm>
          <a:off x="0" y="0"/>
          <a:ext cx="0" cy="0"/>
          <a:chOff x="0" y="0"/>
          <a:chExt cx="0" cy="0"/>
        </a:xfrm>
      </p:grpSpPr>
      <p:grpSp>
        <p:nvGrpSpPr>
          <p:cNvPr name="Group 2" id="2"/>
          <p:cNvGrpSpPr/>
          <p:nvPr/>
        </p:nvGrpSpPr>
        <p:grpSpPr>
          <a:xfrm rot="0">
            <a:off x="395388" y="394693"/>
            <a:ext cx="17497294" cy="9493586"/>
            <a:chOff x="0" y="0"/>
            <a:chExt cx="23329726" cy="12658115"/>
          </a:xfrm>
        </p:grpSpPr>
        <p:grpSp>
          <p:nvGrpSpPr>
            <p:cNvPr name="Group 3" id="3"/>
            <p:cNvGrpSpPr/>
            <p:nvPr/>
          </p:nvGrpSpPr>
          <p:grpSpPr>
            <a:xfrm rot="0">
              <a:off x="0" y="12700"/>
              <a:ext cx="21377345" cy="12645415"/>
              <a:chOff x="0" y="0"/>
              <a:chExt cx="3947844" cy="2335282"/>
            </a:xfrm>
          </p:grpSpPr>
          <p:sp>
            <p:nvSpPr>
              <p:cNvPr name="Freeform 4" id="4"/>
              <p:cNvSpPr/>
              <p:nvPr/>
            </p:nvSpPr>
            <p:spPr>
              <a:xfrm flipH="false" flipV="false" rot="0">
                <a:off x="0" y="0"/>
                <a:ext cx="3947844" cy="2335282"/>
              </a:xfrm>
              <a:custGeom>
                <a:avLst/>
                <a:gdLst/>
                <a:ahLst/>
                <a:cxnLst/>
                <a:rect r="r" b="b" t="t" l="l"/>
                <a:pathLst>
                  <a:path h="2335282" w="3947844">
                    <a:moveTo>
                      <a:pt x="0" y="0"/>
                    </a:moveTo>
                    <a:lnTo>
                      <a:pt x="3947844" y="0"/>
                    </a:lnTo>
                    <a:lnTo>
                      <a:pt x="3947844" y="2335282"/>
                    </a:lnTo>
                    <a:lnTo>
                      <a:pt x="0" y="2335282"/>
                    </a:lnTo>
                    <a:close/>
                  </a:path>
                </a:pathLst>
              </a:custGeom>
              <a:solidFill>
                <a:srgbClr val="FFFFFF"/>
              </a:solidFill>
              <a:ln cap="sq">
                <a:noFill/>
                <a:prstDash val="solid"/>
                <a:miter/>
              </a:ln>
            </p:spPr>
          </p:sp>
          <p:sp>
            <p:nvSpPr>
              <p:cNvPr name="TextBox 5" id="5"/>
              <p:cNvSpPr txBox="true"/>
              <p:nvPr/>
            </p:nvSpPr>
            <p:spPr>
              <a:xfrm>
                <a:off x="0" y="-38100"/>
                <a:ext cx="3947844" cy="2373382"/>
              </a:xfrm>
              <a:prstGeom prst="rect">
                <a:avLst/>
              </a:prstGeom>
            </p:spPr>
            <p:txBody>
              <a:bodyPr anchor="ctr" rtlCol="false" tIns="54337" lIns="54337" bIns="54337" rIns="54337"/>
              <a:lstStyle/>
              <a:p>
                <a:pPr algn="ctr">
                  <a:lnSpc>
                    <a:spcPts val="2659"/>
                  </a:lnSpc>
                </a:pPr>
              </a:p>
            </p:txBody>
          </p:sp>
        </p:grpSp>
        <p:grpSp>
          <p:nvGrpSpPr>
            <p:cNvPr name="Group 6" id="6"/>
            <p:cNvGrpSpPr/>
            <p:nvPr/>
          </p:nvGrpSpPr>
          <p:grpSpPr>
            <a:xfrm rot="0">
              <a:off x="20339484" y="1844829"/>
              <a:ext cx="2980528" cy="10813286"/>
              <a:chOff x="0" y="0"/>
              <a:chExt cx="550427" cy="1996935"/>
            </a:xfrm>
          </p:grpSpPr>
          <p:sp>
            <p:nvSpPr>
              <p:cNvPr name="Freeform 7" id="7"/>
              <p:cNvSpPr/>
              <p:nvPr/>
            </p:nvSpPr>
            <p:spPr>
              <a:xfrm flipH="false" flipV="false" rot="0">
                <a:off x="0" y="0"/>
                <a:ext cx="550427" cy="1996935"/>
              </a:xfrm>
              <a:custGeom>
                <a:avLst/>
                <a:gdLst/>
                <a:ahLst/>
                <a:cxnLst/>
                <a:rect r="r" b="b" t="t" l="l"/>
                <a:pathLst>
                  <a:path h="1996935" w="550427">
                    <a:moveTo>
                      <a:pt x="0" y="0"/>
                    </a:moveTo>
                    <a:lnTo>
                      <a:pt x="550427" y="0"/>
                    </a:lnTo>
                    <a:lnTo>
                      <a:pt x="550427" y="1996935"/>
                    </a:lnTo>
                    <a:lnTo>
                      <a:pt x="0" y="1996935"/>
                    </a:lnTo>
                    <a:close/>
                  </a:path>
                </a:pathLst>
              </a:custGeom>
              <a:solidFill>
                <a:srgbClr val="FFFFFF"/>
              </a:solidFill>
              <a:ln cap="sq">
                <a:noFill/>
                <a:prstDash val="solid"/>
                <a:miter/>
              </a:ln>
            </p:spPr>
          </p:sp>
          <p:sp>
            <p:nvSpPr>
              <p:cNvPr name="TextBox 8" id="8"/>
              <p:cNvSpPr txBox="true"/>
              <p:nvPr/>
            </p:nvSpPr>
            <p:spPr>
              <a:xfrm>
                <a:off x="0" y="-38100"/>
                <a:ext cx="550427" cy="2035035"/>
              </a:xfrm>
              <a:prstGeom prst="rect">
                <a:avLst/>
              </a:prstGeom>
            </p:spPr>
            <p:txBody>
              <a:bodyPr anchor="ctr" rtlCol="false" tIns="54337" lIns="54337" bIns="54337" rIns="54337"/>
              <a:lstStyle/>
              <a:p>
                <a:pPr algn="ctr">
                  <a:lnSpc>
                    <a:spcPts val="2659"/>
                  </a:lnSpc>
                </a:pPr>
              </a:p>
            </p:txBody>
          </p:sp>
        </p:grpSp>
        <p:grpSp>
          <p:nvGrpSpPr>
            <p:cNvPr name="Group 9" id="9"/>
            <p:cNvGrpSpPr/>
            <p:nvPr/>
          </p:nvGrpSpPr>
          <p:grpSpPr>
            <a:xfrm rot="2634653">
              <a:off x="20501182" y="726813"/>
              <a:ext cx="2631731" cy="1499197"/>
              <a:chOff x="0" y="0"/>
              <a:chExt cx="486013" cy="276863"/>
            </a:xfrm>
          </p:grpSpPr>
          <p:sp>
            <p:nvSpPr>
              <p:cNvPr name="Freeform 10" id="10"/>
              <p:cNvSpPr/>
              <p:nvPr/>
            </p:nvSpPr>
            <p:spPr>
              <a:xfrm flipH="false" flipV="false" rot="0">
                <a:off x="0" y="0"/>
                <a:ext cx="486013" cy="276863"/>
              </a:xfrm>
              <a:custGeom>
                <a:avLst/>
                <a:gdLst/>
                <a:ahLst/>
                <a:cxnLst/>
                <a:rect r="r" b="b" t="t" l="l"/>
                <a:pathLst>
                  <a:path h="276863" w="486013">
                    <a:moveTo>
                      <a:pt x="0" y="0"/>
                    </a:moveTo>
                    <a:lnTo>
                      <a:pt x="486013" y="0"/>
                    </a:lnTo>
                    <a:lnTo>
                      <a:pt x="486013" y="276863"/>
                    </a:lnTo>
                    <a:lnTo>
                      <a:pt x="0" y="276863"/>
                    </a:lnTo>
                    <a:close/>
                  </a:path>
                </a:pathLst>
              </a:custGeom>
              <a:solidFill>
                <a:srgbClr val="FFFFFF"/>
              </a:solidFill>
              <a:ln cap="sq">
                <a:noFill/>
                <a:prstDash val="solid"/>
                <a:miter/>
              </a:ln>
            </p:spPr>
          </p:sp>
          <p:sp>
            <p:nvSpPr>
              <p:cNvPr name="TextBox 11" id="11"/>
              <p:cNvSpPr txBox="true"/>
              <p:nvPr/>
            </p:nvSpPr>
            <p:spPr>
              <a:xfrm>
                <a:off x="0" y="-38100"/>
                <a:ext cx="486013" cy="314963"/>
              </a:xfrm>
              <a:prstGeom prst="rect">
                <a:avLst/>
              </a:prstGeom>
            </p:spPr>
            <p:txBody>
              <a:bodyPr anchor="ctr" rtlCol="false" tIns="54337" lIns="54337" bIns="54337" rIns="54337"/>
              <a:lstStyle/>
              <a:p>
                <a:pPr algn="ctr">
                  <a:lnSpc>
                    <a:spcPts val="2659"/>
                  </a:lnSpc>
                </a:pPr>
              </a:p>
            </p:txBody>
          </p:sp>
        </p:grpSp>
        <p:grpSp>
          <p:nvGrpSpPr>
            <p:cNvPr name="Group 12" id="12"/>
            <p:cNvGrpSpPr/>
            <p:nvPr/>
          </p:nvGrpSpPr>
          <p:grpSpPr>
            <a:xfrm rot="-8182149">
              <a:off x="20570017" y="757962"/>
              <a:ext cx="2699425" cy="1255269"/>
              <a:chOff x="0" y="0"/>
              <a:chExt cx="786124" cy="365558"/>
            </a:xfrm>
          </p:grpSpPr>
          <p:sp>
            <p:nvSpPr>
              <p:cNvPr name="Freeform 13" id="13"/>
              <p:cNvSpPr/>
              <p:nvPr/>
            </p:nvSpPr>
            <p:spPr>
              <a:xfrm flipH="false" flipV="false" rot="0">
                <a:off x="0" y="0"/>
                <a:ext cx="786124" cy="365558"/>
              </a:xfrm>
              <a:custGeom>
                <a:avLst/>
                <a:gdLst/>
                <a:ahLst/>
                <a:cxnLst/>
                <a:rect r="r" b="b" t="t" l="l"/>
                <a:pathLst>
                  <a:path h="365558" w="786124">
                    <a:moveTo>
                      <a:pt x="393062" y="0"/>
                    </a:moveTo>
                    <a:lnTo>
                      <a:pt x="786124" y="365558"/>
                    </a:lnTo>
                    <a:lnTo>
                      <a:pt x="0" y="365558"/>
                    </a:lnTo>
                    <a:lnTo>
                      <a:pt x="393062" y="0"/>
                    </a:lnTo>
                    <a:close/>
                  </a:path>
                </a:pathLst>
              </a:custGeom>
              <a:solidFill>
                <a:srgbClr val="DADADA"/>
              </a:solidFill>
            </p:spPr>
          </p:sp>
          <p:sp>
            <p:nvSpPr>
              <p:cNvPr name="TextBox 14" id="14"/>
              <p:cNvSpPr txBox="true"/>
              <p:nvPr/>
            </p:nvSpPr>
            <p:spPr>
              <a:xfrm>
                <a:off x="122832" y="131623"/>
                <a:ext cx="540460" cy="207823"/>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1343348" y="167925"/>
            <a:ext cx="733205" cy="1399054"/>
            <a:chOff x="0" y="0"/>
            <a:chExt cx="977606" cy="1865406"/>
          </a:xfrm>
        </p:grpSpPr>
        <p:sp>
          <p:nvSpPr>
            <p:cNvPr name="Freeform 16" id="16"/>
            <p:cNvSpPr/>
            <p:nvPr/>
          </p:nvSpPr>
          <p:spPr>
            <a:xfrm flipH="false" flipV="false" rot="-50778">
              <a:off x="480705" y="3467"/>
              <a:ext cx="483203" cy="1858472"/>
            </a:xfrm>
            <a:custGeom>
              <a:avLst/>
              <a:gdLst/>
              <a:ahLst/>
              <a:cxnLst/>
              <a:rect r="r" b="b" t="t" l="l"/>
              <a:pathLst>
                <a:path h="1858472" w="483203">
                  <a:moveTo>
                    <a:pt x="0" y="0"/>
                  </a:moveTo>
                  <a:lnTo>
                    <a:pt x="483203" y="0"/>
                  </a:lnTo>
                  <a:lnTo>
                    <a:pt x="483203" y="1858472"/>
                  </a:lnTo>
                  <a:lnTo>
                    <a:pt x="0" y="1858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0" y="326140"/>
              <a:ext cx="707705" cy="275585"/>
              <a:chOff x="0" y="0"/>
              <a:chExt cx="139794" cy="54437"/>
            </a:xfrm>
          </p:grpSpPr>
          <p:sp>
            <p:nvSpPr>
              <p:cNvPr name="Freeform 18" id="18"/>
              <p:cNvSpPr/>
              <p:nvPr/>
            </p:nvSpPr>
            <p:spPr>
              <a:xfrm flipH="false" flipV="false" rot="0">
                <a:off x="0" y="0"/>
                <a:ext cx="139794" cy="54437"/>
              </a:xfrm>
              <a:custGeom>
                <a:avLst/>
                <a:gdLst/>
                <a:ahLst/>
                <a:cxnLst/>
                <a:rect r="r" b="b" t="t" l="l"/>
                <a:pathLst>
                  <a:path h="54437" w="139794">
                    <a:moveTo>
                      <a:pt x="0" y="0"/>
                    </a:moveTo>
                    <a:lnTo>
                      <a:pt x="139794" y="0"/>
                    </a:lnTo>
                    <a:lnTo>
                      <a:pt x="139794" y="54437"/>
                    </a:lnTo>
                    <a:lnTo>
                      <a:pt x="0" y="54437"/>
                    </a:lnTo>
                    <a:close/>
                  </a:path>
                </a:pathLst>
              </a:custGeom>
              <a:solidFill>
                <a:srgbClr val="FFFFFF"/>
              </a:solidFill>
            </p:spPr>
          </p:sp>
          <p:sp>
            <p:nvSpPr>
              <p:cNvPr name="TextBox 19" id="19"/>
              <p:cNvSpPr txBox="true"/>
              <p:nvPr/>
            </p:nvSpPr>
            <p:spPr>
              <a:xfrm>
                <a:off x="0" y="-28575"/>
                <a:ext cx="139794" cy="83012"/>
              </a:xfrm>
              <a:prstGeom prst="rect">
                <a:avLst/>
              </a:prstGeom>
            </p:spPr>
            <p:txBody>
              <a:bodyPr anchor="ctr" rtlCol="false" tIns="50800" lIns="50800" bIns="50800" rIns="50800"/>
              <a:lstStyle/>
              <a:p>
                <a:pPr algn="ctr">
                  <a:lnSpc>
                    <a:spcPts val="2659"/>
                  </a:lnSpc>
                </a:pPr>
              </a:p>
            </p:txBody>
          </p:sp>
        </p:grpSp>
      </p:grpSp>
      <p:sp>
        <p:nvSpPr>
          <p:cNvPr name="TextBox 20" id="20"/>
          <p:cNvSpPr txBox="true"/>
          <p:nvPr/>
        </p:nvSpPr>
        <p:spPr>
          <a:xfrm rot="0">
            <a:off x="7279164" y="3660097"/>
            <a:ext cx="3729673" cy="995680"/>
          </a:xfrm>
          <a:prstGeom prst="rect">
            <a:avLst/>
          </a:prstGeom>
        </p:spPr>
        <p:txBody>
          <a:bodyPr anchor="t" rtlCol="false" tIns="0" lIns="0" bIns="0" rIns="0">
            <a:spAutoFit/>
          </a:bodyPr>
          <a:lstStyle/>
          <a:p>
            <a:pPr algn="l">
              <a:lnSpc>
                <a:spcPts val="8119"/>
              </a:lnSpc>
              <a:spcBef>
                <a:spcPct val="0"/>
              </a:spcBef>
              <a:spcAft>
                <a:spcPts val="1000"/>
              </a:spcAft>
            </a:pPr>
            <a:r>
              <a:rPr sz="5799">
                <a:solidFill>
                  <a:srgbClr val="3D3D3D"/>
                </a:solidFill>
                <a:latin typeface="네모고딕"/>
              </a:rPr>
              <a:t>경청해 주셔서 감사합니다.</a:t>
            </a:r>
          </a:p>
        </p:txBody>
      </p:sp>
      <p:sp>
        <p:nvSpPr>
          <p:cNvPr name="TextBox 21" id="21"/>
          <p:cNvSpPr txBox="true"/>
          <p:nvPr/>
        </p:nvSpPr>
        <p:spPr>
          <a:xfrm rot="0">
            <a:off x="7896780" y="4871585"/>
            <a:ext cx="2494439" cy="537845"/>
          </a:xfrm>
          <a:prstGeom prst="rect">
            <a:avLst/>
          </a:prstGeom>
        </p:spPr>
        <p:txBody>
          <a:bodyPr anchor="t" rtlCol="false" tIns="0" lIns="0" bIns="0" rIns="0">
            <a:spAutoFit/>
          </a:bodyPr>
          <a:lstStyle/>
          <a:p>
            <a:pPr algn="l">
              <a:lnSpc>
                <a:spcPts val="4480"/>
              </a:lnSpc>
              <a:spcBef>
                <a:spcPct val="0"/>
              </a:spcBef>
              <a:spcAft>
                <a:spcPts val="1000"/>
              </a:spcAft>
            </a:pPr>
            <a:r>
              <a:rPr sz="3200">
                <a:solidFill>
                  <a:srgbClr val="3D3D3D"/>
                </a:solidFill>
                <a:latin typeface="Inter"/>
              </a:rPr>
              <a:t>Q&amp;A 및 자유 토론</a:t>
            </a:r>
          </a:p>
        </p:txBody>
      </p:sp>
      <p:sp>
        <p:nvSpPr>
          <p:cNvPr name="TextBox 22" id="22"/>
          <p:cNvSpPr txBox="true"/>
          <p:nvPr/>
        </p:nvSpPr>
        <p:spPr>
          <a:xfrm rot="0">
            <a:off x="5973718" y="6960707"/>
            <a:ext cx="1642745" cy="481330"/>
          </a:xfrm>
          <a:prstGeom prst="rect">
            <a:avLst/>
          </a:prstGeom>
        </p:spPr>
        <p:txBody>
          <a:bodyPr anchor="t" rtlCol="false" tIns="0" lIns="0" bIns="0" rIns="0">
            <a:spAutoFit/>
          </a:bodyPr>
          <a:lstStyle/>
          <a:p>
            <a:pPr algn="l">
              <a:lnSpc>
                <a:spcPts val="3919"/>
              </a:lnSpc>
              <a:spcBef>
                <a:spcPct val="0"/>
              </a:spcBef>
              <a:spcAft>
                <a:spcPts val="1000"/>
              </a:spcAft>
            </a:pPr>
            <a:r>
              <a:rPr sz="2799">
                <a:solidFill>
                  <a:srgbClr val="3D3D3D"/>
                </a:solidFill>
                <a:latin typeface="JASO Sans"/>
              </a:rPr>
              <a:t>전략기획팀</a:t>
            </a:r>
          </a:p>
        </p:txBody>
      </p:sp>
      <p:sp>
        <p:nvSpPr>
          <p:cNvPr name="TextBox 23" id="23"/>
          <p:cNvSpPr txBox="true"/>
          <p:nvPr/>
        </p:nvSpPr>
        <p:spPr>
          <a:xfrm rot="0">
            <a:off x="8283302" y="6960707"/>
            <a:ext cx="4030980" cy="481330"/>
          </a:xfrm>
          <a:prstGeom prst="rect">
            <a:avLst/>
          </a:prstGeom>
        </p:spPr>
        <p:txBody>
          <a:bodyPr anchor="t" rtlCol="false" tIns="0" lIns="0" bIns="0" rIns="0">
            <a:spAutoFit/>
          </a:bodyPr>
          <a:lstStyle/>
          <a:p>
            <a:pPr algn="l">
              <a:lnSpc>
                <a:spcPts val="3919"/>
              </a:lnSpc>
              <a:spcBef>
                <a:spcPct val="0"/>
              </a:spcBef>
              <a:spcAft>
                <a:spcPts val="1000"/>
              </a:spcAft>
            </a:pPr>
            <a:r>
              <a:rPr sz="2799">
                <a:solidFill>
                  <a:srgbClr val="3D3D3D"/>
                </a:solidFill>
                <a:latin typeface="Inter"/>
              </a:rPr>
              <a:t>strategy@company.com  |  사내전화 101</a:t>
            </a:r>
          </a:p>
        </p:txBody>
      </p:sp>
      <p:sp>
        <p:nvSpPr>
          <p:cNvPr name="AutoShape 24" id="24"/>
          <p:cNvSpPr/>
          <p:nvPr/>
        </p:nvSpPr>
        <p:spPr>
          <a:xfrm>
            <a:off x="4473748" y="6488430"/>
            <a:ext cx="9340504" cy="0"/>
          </a:xfrm>
          <a:prstGeom prst="line">
            <a:avLst/>
          </a:prstGeom>
          <a:ln cap="flat" w="19050">
            <a:solidFill>
              <a:srgbClr val="DADADA"/>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DAHNQZFijgY</dc:identifier>
  <dcterms:modified xsi:type="dcterms:W3CDTF">2011-08-01T06:04:30Z</dcterms:modified>
  <cp:revision>1</cp:revision>
  <dc:title>블루 화이트 심플한 다양한 레이아웃 비지니스 보고서 기획서 제안서 프레젠테이션</dc:title>
</cp:coreProperties>
</file>