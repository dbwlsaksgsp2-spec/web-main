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예산 배분 (억 원)</c:v>
                </c:pt>
              </c:strCache>
            </c:strRef>
          </c:tx>
          <c:cat>
            <c:strRef>
              <c:f>Sheet1!$A$2:$A$5</c:f>
              <c:strCache>
                <c:ptCount val="4"/>
                <c:pt idx="0">
                  <c:v>프리미엄 라인 (2.3억)</c:v>
                </c:pt>
                <c:pt idx="1">
                  <c:v>엔터프라이즈 B2B (1.8억)</c:v>
                </c:pt>
                <c:pt idx="2">
                  <c:v>지역 시장 개척 (1.5억)</c:v>
                </c:pt>
                <c:pt idx="3">
                  <c:v>고객 경험 혁신 (0.9억)</c:v>
                </c:pt>
              </c:strCache>
            </c:strRef>
          </c:cat>
          <c:val>
            <c:numRef>
              <c:f>Sheet1!$B$2:$B$5</c:f>
              <c:numCache>
                <c:formatCode>General</c:formatCode>
                <c:ptCount val="4"/>
                <c:pt idx="0">
                  <c:v>2.3</c:v>
                </c:pt>
                <c:pt idx="1">
                  <c:v>1.8</c:v>
                </c:pt>
                <c:pt idx="2">
                  <c:v>1.5</c:v>
                </c:pt>
                <c:pt idx="3">
                  <c:v>0.9</c:v>
                </c:pt>
              </c:numCache>
            </c:numRef>
          </c:val>
        </c:ser>
      </c:pieChart>
    </c:plotArea>
    <c:legend>
      <c:legendPos val="b"/>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금액 (억 원)</c:v>
                </c:pt>
              </c:strCache>
            </c:strRef>
          </c:tx>
          <c:cat>
            <c:strRef>
              <c:f>Sheet1!$A$2:$A$4</c:f>
              <c:strCache>
                <c:ptCount val="3"/>
                <c:pt idx="0">
                  <c:v>예상 매출</c:v>
                </c:pt>
                <c:pt idx="1">
                  <c:v>예상 비용</c:v>
                </c:pt>
                <c:pt idx="2">
                  <c:v>예상 영업이익</c:v>
                </c:pt>
              </c:strCache>
            </c:strRef>
          </c:cat>
          <c:val>
            <c:numRef>
              <c:f>Sheet1!$B$2:$B$4</c:f>
              <c:numCache>
                <c:formatCode>General</c:formatCode>
                <c:ptCount val="3"/>
                <c:pt idx="0">
                  <c:v>32.0</c:v>
                </c:pt>
                <c:pt idx="1">
                  <c:v>22.4</c:v>
                </c:pt>
                <c:pt idx="2">
                  <c:v>9.6</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전략기획팀 보고를 맡은 김민서 대리입니다. 지금부터 2025년 하반기 사업 계획 발표를 시작하겠습니다. 본 계획서는 상반기 실적을 토대로 하반기 매출 32억 원 목표를 성공적으로 달성하기 위한 구체적인 4대 전략과 세부 일정을 제시하고자 수립되었습니다. 다음 슬라이드로 이동해 발표 목차를 안내해 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오늘 보고드릴 4가지 핵심 목차입니다. 구체적으로 말씀드리면, 먼저 당사의 하반기 도약 비전과 지표 목표를 공유하고, 이를 수행할 핵심 4대 사업 전략을 예산과 연계하여 보고하겠습니다. 이어서 월별 상세 실행안 및 예상 이익, 그리고 발생 가능한 리스크 대응책 순으로 보고드리겠습니다. 첫 번째 순서인 비전 및 목표부터 보고해 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당사의 하반기 지향 비전과 정량적 목표 요약입니다. 구체적으로 말씀드리면, 당사는 '디지털 전환의 동반자, 고객 성공의 파트너'라는 새로운 비전 아래, 하반기 매출 목표 32억 원을 수립했습니다. 이는 상반기 성과 대비 12.6% 증가한 수치입니다. 또한 신규 고객 350건 유치와 품질 강화를 통한 NPS 78점 이상 확보를 핵심 지표로 설정했습니다. 그럼 다음 슬라이드에서는 이러한 성과를 만들기 위한 핵심 4대 전략과 예산 비중을 살펴보겠습니다.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하반기 4대 핵심 전략과 사업 예산 비중입니다. 구체적으로 말씀드리면, 전체 예산 6억 5,000만 원 중 프리미엄 라인 고도화에 2억 3천만 원, 엔터프라이즈 B2B 영업망 확장에 1억 8천만 원을 책정하여 상반기 핵심 수익 모델에 리소스를 집중 투자했습니다. 아울러 지방 시장 개척에 1억 5천만 원, 고객 경험 혁신에 9천만 원을 안배하여 균형 있는 성장을 도모하고자 합니다. 그럼 다음 슬라이드로 이동하여 월별 추진 일정을 로드맵으로 확인해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하반기 추진 월별 로드맵입니다. 구체적으로 말씀드리면, 7월에 프리미엄 V2.0 버전 출시를 마친 뒤, 8월 B2B 금융/공공팀 조직 신설을 단행하겠습니다. 9월에는 부산과 대구에 지역 파트너 센터를 개소하여 전국 커버리지를 늘릴 것입니다. 이후 10월 교육기관용 특화 패키지 런칭과 24시간 CS 인프라를 가동하고, 11월 지자체 제안을 추진하여 12월 최종 실적을 결산하겠습니다. 이러한 로드맵 실행을 통한 예상 재무 손익을 이어서 보고드리겠습니다.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하반기 예상 손익 전망입니다. 구체적으로 말씀드리면, 매출 32억 원 달성 대비 예상 비용은 총 22억 4천만 원이 예상됩니다. 비용의 상세 항목은 R&amp;D 인건비 14억 2천만 원, 프리미엄 캠페인용 마케팅비 4억 6천만 원, 그리고 운영비 3억 6천만 원으로 계획했습니다. 이를 통해 영업이익 9억 6천만 원을 수확하고 30.0%의 우수한 영업이익률을 달성하겠습니다. 그럼 다음 슬라이드에서 극복할 잠재 리스크와 그 대응책을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예상되는 위협 리스크 및 이에 대한 예방 조치입니다. 구체적으로 말씀드리면, 첫째, 거시 경기 둔화 우려에 대처하기 위해 장기 분할 납부를 도입하겠습니다. 둘째, 타사의 유사 솔루션 견제를 위해 핵심 AI 로드맵 일정을 9월에서 8월로 한 달 당겨 조기 런칭하겠습니다. 셋째, 일시적 업무 병목을 막고자 8월까지 마케팅과 개발 인원 3명을 충원하겠습니다. 이어서 하반기 사업 계획의 종합 요약과 제안 단계를 최종 보고해 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말씀드릴 것은 하반기 비즈니스의 종합 제언입니다. 구체적으로 말씀드리면, 하반기 매출 32억 원 고지를 탈환하기 위해선 프리미엄 요금 업셀링과 신설 금융/공공팀의 정밀 영업이 결합되어야 합니다. 아울러 지방 시장 활성화와 AI 출시 마일스톤 준수가 선행 과제입니다. 이에 대한 건의 사항으로 승인 통과 즉시 킥오프 워크숍을 가동하고 7월 R&amp;D 일정 정밀 진단을 요구드립니다. 그럼 마지막 Q&amp;A 시간을 갖겠습니다.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2025년 하반기 사업 계획 발표를 모두 마치고 Q&amp;A로 전환하겠습니다. 오늘 공유드린 전략 과제와 손익 전망에 대해 건의사항이나 질의가 있으시다면 편안하게 개진해 주시기 바랍니다.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2895" cy="1371600"/>
          </a:xfrm>
          <a:prstGeom prst="rect">
            <a:avLst/>
          </a:prstGeom>
          <a:noFill/>
        </p:spPr>
        <p:txBody>
          <a:bodyPr wrap="none">
            <a:spAutoFit/>
          </a:bodyPr>
          <a:lstStyle/>
          <a:p>
            <a:pPr algn="ctr">
              <a:defRPr sz="4200" b="1">
                <a:solidFill>
                  <a:srgbClr val="2B5797"/>
                </a:solidFill>
                <a:latin typeface="맑은 고딕"/>
              </a:defRPr>
            </a:pPr>
            <a:r>
              <a:t>2025년 하반기 사업 계획</a:t>
            </a:r>
          </a:p>
        </p:txBody>
      </p:sp>
      <p:sp>
        <p:nvSpPr>
          <p:cNvPr id="4" name="Rectangle 3"/>
          <p:cNvSpPr/>
          <p:nvPr/>
        </p:nvSpPr>
        <p:spPr>
          <a:xfrm>
            <a:off x="4723790" y="3291840"/>
            <a:ext cx="2743200" cy="3657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566160"/>
            <a:ext cx="10362895" cy="914400"/>
          </a:xfrm>
          <a:prstGeom prst="rect">
            <a:avLst/>
          </a:prstGeom>
          <a:noFill/>
        </p:spPr>
        <p:txBody>
          <a:bodyPr wrap="none">
            <a:spAutoFit/>
          </a:bodyPr>
          <a:lstStyle/>
          <a:p>
            <a:pPr algn="ctr">
              <a:defRPr sz="1800">
                <a:solidFill>
                  <a:srgbClr val="E87722"/>
                </a:solidFill>
                <a:latin typeface="맑은 고딕"/>
              </a:defRPr>
            </a:pPr>
            <a:r>
              <a:t>전략 기획 및 하반기 매출 32억 원 목표 달성안</a:t>
            </a:r>
          </a:p>
        </p:txBody>
      </p:sp>
      <p:sp>
        <p:nvSpPr>
          <p:cNvPr id="6" name="TextBox 5"/>
          <p:cNvSpPr txBox="1"/>
          <p:nvPr/>
        </p:nvSpPr>
        <p:spPr>
          <a:xfrm>
            <a:off x="914400" y="4754880"/>
            <a:ext cx="10362895" cy="914400"/>
          </a:xfrm>
          <a:prstGeom prst="rect">
            <a:avLst/>
          </a:prstGeom>
          <a:noFill/>
        </p:spPr>
        <p:txBody>
          <a:bodyPr wrap="none">
            <a:spAutoFit/>
          </a:bodyPr>
          <a:lstStyle/>
          <a:p>
            <a:pPr algn="ctr">
              <a:defRPr sz="1300">
                <a:solidFill>
                  <a:srgbClr val="788291"/>
                </a:solidFill>
                <a:latin typeface="맑은 고딕"/>
              </a:defRPr>
            </a:pPr>
            <a:r>
              <a:t>보고대상 : 대표이사  |  작성부서 : 전략기획팀  |  작성일 : 2025년 7월 10일</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457200"/>
          </a:xfrm>
          <a:prstGeom prst="rect">
            <a:avLst/>
          </a:prstGeom>
          <a:noFill/>
        </p:spPr>
        <p:txBody>
          <a:bodyPr wrap="square" tIns="0" bIns="0" lIns="0" rIns="0">
            <a:spAutoFit/>
          </a:bodyPr>
          <a:lstStyle/>
          <a:p>
            <a:pPr>
              <a:defRPr sz="2800" b="1">
                <a:solidFill>
                  <a:srgbClr val="2B5797"/>
                </a:solidFill>
                <a:latin typeface="맑은 고딕"/>
              </a:defRPr>
            </a:pPr>
            <a:r>
              <a:t>목차</a:t>
            </a:r>
          </a:p>
        </p:txBody>
      </p:sp>
      <p:sp>
        <p:nvSpPr>
          <p:cNvPr id="3" name="TextBox 2"/>
          <p:cNvSpPr txBox="1"/>
          <p:nvPr/>
        </p:nvSpPr>
        <p:spPr>
          <a:xfrm>
            <a:off x="731520" y="841248"/>
            <a:ext cx="10698480" cy="365760"/>
          </a:xfrm>
          <a:prstGeom prst="rect">
            <a:avLst/>
          </a:prstGeom>
          <a:noFill/>
        </p:spPr>
        <p:txBody>
          <a:bodyPr wrap="square" tIns="0" bIns="0" lIns="0" rIns="0">
            <a:spAutoFit/>
          </a:bodyPr>
          <a:lstStyle/>
          <a:p>
            <a:pPr>
              <a:defRPr sz="1500" b="1">
                <a:solidFill>
                  <a:srgbClr val="E87722"/>
                </a:solidFill>
                <a:latin typeface="맑은 고딕"/>
              </a:defRPr>
            </a:pPr>
            <a:r>
              <a:t>상반기 분석 결과를 활용한 하반기 핵심 4대 구성 순서입니다.</a:t>
            </a:r>
          </a:p>
        </p:txBody>
      </p:sp>
      <p:sp>
        <p:nvSpPr>
          <p:cNvPr id="4" name="Rectangle 3"/>
          <p:cNvSpPr/>
          <p:nvPr/>
        </p:nvSpPr>
        <p:spPr>
          <a:xfrm>
            <a:off x="731520" y="1280160"/>
            <a:ext cx="10698480" cy="1828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전략기획팀</a:t>
            </a:r>
          </a:p>
        </p:txBody>
      </p:sp>
      <p:sp>
        <p:nvSpPr>
          <p:cNvPr id="6" name="TextBox 5"/>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2</a:t>
            </a:r>
          </a:p>
        </p:txBody>
      </p:sp>
      <p:sp>
        <p:nvSpPr>
          <p:cNvPr id="7" name="Rectangle 6"/>
          <p:cNvSpPr/>
          <p:nvPr/>
        </p:nvSpPr>
        <p:spPr>
          <a:xfrm>
            <a:off x="731520" y="1645920"/>
            <a:ext cx="5120640" cy="16459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45920"/>
            <a:ext cx="5120640" cy="54864"/>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83080"/>
            <a:ext cx="914400" cy="365760"/>
          </a:xfrm>
          <a:prstGeom prst="rect">
            <a:avLst/>
          </a:prstGeom>
          <a:noFill/>
        </p:spPr>
        <p:txBody>
          <a:bodyPr wrap="none">
            <a:spAutoFit/>
          </a:bodyPr>
          <a:lstStyle/>
          <a:p>
            <a:pPr>
              <a:defRPr sz="2000" b="1">
                <a:solidFill>
                  <a:srgbClr val="2B5797"/>
                </a:solidFill>
                <a:latin typeface="맑은 고딕"/>
              </a:defRPr>
            </a:pPr>
            <a:r>
              <a:t>01</a:t>
            </a:r>
          </a:p>
        </p:txBody>
      </p:sp>
      <p:sp>
        <p:nvSpPr>
          <p:cNvPr id="10" name="TextBox 9"/>
          <p:cNvSpPr txBox="1"/>
          <p:nvPr/>
        </p:nvSpPr>
        <p:spPr>
          <a:xfrm>
            <a:off x="1645920" y="1783080"/>
            <a:ext cx="4023360" cy="1280160"/>
          </a:xfrm>
          <a:prstGeom prst="rect">
            <a:avLst/>
          </a:prstGeom>
          <a:noFill/>
        </p:spPr>
        <p:txBody>
          <a:bodyPr wrap="square">
            <a:spAutoFit/>
          </a:bodyPr>
          <a:lstStyle/>
          <a:p>
            <a:pPr>
              <a:spcAft>
                <a:spcPts val="600"/>
              </a:spcAft>
              <a:defRPr sz="1600" b="1">
                <a:solidFill>
                  <a:srgbClr val="2B5797"/>
                </a:solidFill>
                <a:latin typeface="맑은 고딕"/>
              </a:defRPr>
            </a:pPr>
            <a:r>
              <a:t>비전 및 하반기 목표</a:t>
            </a:r>
          </a:p>
          <a:p>
            <a:pPr>
              <a:defRPr sz="1200">
                <a:solidFill>
                  <a:srgbClr val="788291"/>
                </a:solidFill>
                <a:latin typeface="맑은 고딕"/>
              </a:defRPr>
            </a:pPr>
            <a:r>
              <a:t>경영 슬로건 및 하반기 주요 타겟 지표 요약</a:t>
            </a:r>
          </a:p>
        </p:txBody>
      </p:sp>
      <p:sp>
        <p:nvSpPr>
          <p:cNvPr id="11" name="Rectangle 10"/>
          <p:cNvSpPr/>
          <p:nvPr/>
        </p:nvSpPr>
        <p:spPr>
          <a:xfrm>
            <a:off x="6309360" y="1645920"/>
            <a:ext cx="5120640" cy="16459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645920"/>
            <a:ext cx="5120640" cy="54864"/>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783080"/>
            <a:ext cx="914400" cy="365760"/>
          </a:xfrm>
          <a:prstGeom prst="rect">
            <a:avLst/>
          </a:prstGeom>
          <a:noFill/>
        </p:spPr>
        <p:txBody>
          <a:bodyPr wrap="none">
            <a:spAutoFit/>
          </a:bodyPr>
          <a:lstStyle/>
          <a:p>
            <a:pPr>
              <a:defRPr sz="2000" b="1">
                <a:solidFill>
                  <a:srgbClr val="E87722"/>
                </a:solidFill>
                <a:latin typeface="맑은 고딕"/>
              </a:defRPr>
            </a:pPr>
            <a:r>
              <a:t>02</a:t>
            </a:r>
          </a:p>
        </p:txBody>
      </p:sp>
      <p:sp>
        <p:nvSpPr>
          <p:cNvPr id="14" name="TextBox 13"/>
          <p:cNvSpPr txBox="1"/>
          <p:nvPr/>
        </p:nvSpPr>
        <p:spPr>
          <a:xfrm>
            <a:off x="7223760" y="1783080"/>
            <a:ext cx="4023360" cy="1280160"/>
          </a:xfrm>
          <a:prstGeom prst="rect">
            <a:avLst/>
          </a:prstGeom>
          <a:noFill/>
        </p:spPr>
        <p:txBody>
          <a:bodyPr wrap="square">
            <a:spAutoFit/>
          </a:bodyPr>
          <a:lstStyle/>
          <a:p>
            <a:pPr>
              <a:spcAft>
                <a:spcPts val="600"/>
              </a:spcAft>
              <a:defRPr sz="1600" b="1">
                <a:solidFill>
                  <a:srgbClr val="2B5797"/>
                </a:solidFill>
                <a:latin typeface="맑은 고딕"/>
              </a:defRPr>
            </a:pPr>
            <a:r>
              <a:t>핵심 전략 4대 축</a:t>
            </a:r>
          </a:p>
          <a:p>
            <a:pPr>
              <a:defRPr sz="1200">
                <a:solidFill>
                  <a:srgbClr val="788291"/>
                </a:solidFill>
                <a:latin typeface="맑은 고딕"/>
              </a:defRPr>
            </a:pPr>
            <a:r>
              <a:t>프리미엄, B2B, 지역 개척, 고객 경험 전략</a:t>
            </a:r>
          </a:p>
        </p:txBody>
      </p:sp>
      <p:sp>
        <p:nvSpPr>
          <p:cNvPr id="15" name="Rectangle 14"/>
          <p:cNvSpPr/>
          <p:nvPr/>
        </p:nvSpPr>
        <p:spPr>
          <a:xfrm>
            <a:off x="731520" y="3566160"/>
            <a:ext cx="5120640" cy="16459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566160"/>
            <a:ext cx="5120640" cy="54864"/>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703320"/>
            <a:ext cx="914400" cy="365760"/>
          </a:xfrm>
          <a:prstGeom prst="rect">
            <a:avLst/>
          </a:prstGeom>
          <a:noFill/>
        </p:spPr>
        <p:txBody>
          <a:bodyPr wrap="none">
            <a:spAutoFit/>
          </a:bodyPr>
          <a:lstStyle/>
          <a:p>
            <a:pPr>
              <a:defRPr sz="2000" b="1">
                <a:solidFill>
                  <a:srgbClr val="2B5797"/>
                </a:solidFill>
                <a:latin typeface="맑은 고딕"/>
              </a:defRPr>
            </a:pPr>
            <a:r>
              <a:t>03</a:t>
            </a:r>
          </a:p>
        </p:txBody>
      </p:sp>
      <p:sp>
        <p:nvSpPr>
          <p:cNvPr id="18" name="TextBox 17"/>
          <p:cNvSpPr txBox="1"/>
          <p:nvPr/>
        </p:nvSpPr>
        <p:spPr>
          <a:xfrm>
            <a:off x="1645920" y="3703320"/>
            <a:ext cx="4023360" cy="1280160"/>
          </a:xfrm>
          <a:prstGeom prst="rect">
            <a:avLst/>
          </a:prstGeom>
          <a:noFill/>
        </p:spPr>
        <p:txBody>
          <a:bodyPr wrap="square">
            <a:spAutoFit/>
          </a:bodyPr>
          <a:lstStyle/>
          <a:p>
            <a:pPr>
              <a:spcAft>
                <a:spcPts val="600"/>
              </a:spcAft>
              <a:defRPr sz="1600" b="1">
                <a:solidFill>
                  <a:srgbClr val="2B5797"/>
                </a:solidFill>
                <a:latin typeface="맑은 고딕"/>
              </a:defRPr>
            </a:pPr>
            <a:r>
              <a:t>월별 로드맵 및 예상 손익</a:t>
            </a:r>
          </a:p>
          <a:p>
            <a:pPr>
              <a:defRPr sz="1200">
                <a:solidFill>
                  <a:srgbClr val="788291"/>
                </a:solidFill>
                <a:latin typeface="맑은 고딕"/>
              </a:defRPr>
            </a:pPr>
            <a:r>
              <a:t>하반기 일정 전개 계획 및 예상 재무 지표</a:t>
            </a:r>
          </a:p>
        </p:txBody>
      </p:sp>
      <p:sp>
        <p:nvSpPr>
          <p:cNvPr id="19" name="Rectangle 18"/>
          <p:cNvSpPr/>
          <p:nvPr/>
        </p:nvSpPr>
        <p:spPr>
          <a:xfrm>
            <a:off x="6309360" y="3566160"/>
            <a:ext cx="5120640" cy="16459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3566160"/>
            <a:ext cx="5120640" cy="54864"/>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3703320"/>
            <a:ext cx="914400" cy="365760"/>
          </a:xfrm>
          <a:prstGeom prst="rect">
            <a:avLst/>
          </a:prstGeom>
          <a:noFill/>
        </p:spPr>
        <p:txBody>
          <a:bodyPr wrap="none">
            <a:spAutoFit/>
          </a:bodyPr>
          <a:lstStyle/>
          <a:p>
            <a:pPr>
              <a:defRPr sz="2000" b="1">
                <a:solidFill>
                  <a:srgbClr val="E87722"/>
                </a:solidFill>
                <a:latin typeface="맑은 고딕"/>
              </a:defRPr>
            </a:pPr>
            <a:r>
              <a:t>04</a:t>
            </a:r>
          </a:p>
        </p:txBody>
      </p:sp>
      <p:sp>
        <p:nvSpPr>
          <p:cNvPr id="22" name="TextBox 21"/>
          <p:cNvSpPr txBox="1"/>
          <p:nvPr/>
        </p:nvSpPr>
        <p:spPr>
          <a:xfrm>
            <a:off x="7223760" y="3703320"/>
            <a:ext cx="4023360" cy="1280160"/>
          </a:xfrm>
          <a:prstGeom prst="rect">
            <a:avLst/>
          </a:prstGeom>
          <a:noFill/>
        </p:spPr>
        <p:txBody>
          <a:bodyPr wrap="square">
            <a:spAutoFit/>
          </a:bodyPr>
          <a:lstStyle/>
          <a:p>
            <a:pPr>
              <a:spcAft>
                <a:spcPts val="600"/>
              </a:spcAft>
              <a:defRPr sz="1600" b="1">
                <a:solidFill>
                  <a:srgbClr val="2B5797"/>
                </a:solidFill>
                <a:latin typeface="맑은 고딕"/>
              </a:defRPr>
            </a:pPr>
            <a:r>
              <a:t>리스크 및 대응 방안</a:t>
            </a:r>
          </a:p>
          <a:p>
            <a:pPr>
              <a:defRPr sz="1200">
                <a:solidFill>
                  <a:srgbClr val="788291"/>
                </a:solidFill>
                <a:latin typeface="맑은 고딕"/>
              </a:defRPr>
            </a:pPr>
            <a:r>
              <a:t>시장 리스크 예측 및 선제 조치 시나리오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457200"/>
          </a:xfrm>
          <a:prstGeom prst="rect">
            <a:avLst/>
          </a:prstGeom>
          <a:noFill/>
        </p:spPr>
        <p:txBody>
          <a:bodyPr wrap="square" tIns="0" bIns="0" lIns="0" rIns="0">
            <a:spAutoFit/>
          </a:bodyPr>
          <a:lstStyle/>
          <a:p>
            <a:pPr>
              <a:defRPr sz="2800" b="1">
                <a:solidFill>
                  <a:srgbClr val="2B5797"/>
                </a:solidFill>
                <a:latin typeface="맑은 고딕"/>
              </a:defRPr>
            </a:pPr>
            <a:r>
              <a:t>1. 비전 및 하반기 목표</a:t>
            </a:r>
          </a:p>
        </p:txBody>
      </p:sp>
      <p:sp>
        <p:nvSpPr>
          <p:cNvPr id="3" name="TextBox 2"/>
          <p:cNvSpPr txBox="1"/>
          <p:nvPr/>
        </p:nvSpPr>
        <p:spPr>
          <a:xfrm>
            <a:off x="731520" y="841248"/>
            <a:ext cx="10698480" cy="365760"/>
          </a:xfrm>
          <a:prstGeom prst="rect">
            <a:avLst/>
          </a:prstGeom>
          <a:noFill/>
        </p:spPr>
        <p:txBody>
          <a:bodyPr wrap="square" tIns="0" bIns="0" lIns="0" rIns="0">
            <a:spAutoFit/>
          </a:bodyPr>
          <a:lstStyle/>
          <a:p>
            <a:pPr>
              <a:defRPr sz="1500" b="1">
                <a:solidFill>
                  <a:srgbClr val="E87722"/>
                </a:solidFill>
                <a:latin typeface="맑은 고딕"/>
              </a:defRPr>
            </a:pPr>
            <a:r>
              <a:t>하반기 매출 32억 원 달성 및 고객 추천 만족도 NPS 78점 이상 확보</a:t>
            </a:r>
          </a:p>
        </p:txBody>
      </p:sp>
      <p:sp>
        <p:nvSpPr>
          <p:cNvPr id="4" name="Rectangle 3"/>
          <p:cNvSpPr/>
          <p:nvPr/>
        </p:nvSpPr>
        <p:spPr>
          <a:xfrm>
            <a:off x="731520" y="1280160"/>
            <a:ext cx="10698480" cy="1828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전략기획팀</a:t>
            </a:r>
          </a:p>
        </p:txBody>
      </p:sp>
      <p:sp>
        <p:nvSpPr>
          <p:cNvPr id="6" name="TextBox 5"/>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3</a:t>
            </a:r>
          </a:p>
        </p:txBody>
      </p:sp>
      <p:sp>
        <p:nvSpPr>
          <p:cNvPr id="7" name="Rectangle 6"/>
          <p:cNvSpPr/>
          <p:nvPr/>
        </p:nvSpPr>
        <p:spPr>
          <a:xfrm>
            <a:off x="731520" y="1645920"/>
            <a:ext cx="10698480" cy="41148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45920"/>
            <a:ext cx="10698480" cy="54864"/>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28800"/>
            <a:ext cx="10332720" cy="3840480"/>
          </a:xfrm>
          <a:prstGeom prst="rect">
            <a:avLst/>
          </a:prstGeom>
          <a:noFill/>
        </p:spPr>
        <p:txBody>
          <a:bodyPr wrap="square">
            <a:spAutoFit/>
          </a:bodyPr>
          <a:lstStyle/>
          <a:p>
            <a:pPr>
              <a:spcAft>
                <a:spcPts val="1200"/>
              </a:spcAft>
              <a:defRPr sz="1800" b="0">
                <a:solidFill>
                  <a:srgbClr val="2B5797"/>
                </a:solidFill>
                <a:latin typeface="맑은 고딕"/>
              </a:defRPr>
            </a:pPr>
            <a:r>
              <a:t>· 비전 슬로건: "디지털 전환의 동반자, 고객 성공의 파트너" 대내외 전파</a:t>
            </a:r>
          </a:p>
          <a:p>
            <a:pPr>
              <a:spcAft>
                <a:spcPts val="1200"/>
              </a:spcAft>
              <a:defRPr sz="1800" b="0">
                <a:solidFill>
                  <a:srgbClr val="2B5797"/>
                </a:solidFill>
                <a:latin typeface="맑은 고딕"/>
              </a:defRPr>
            </a:pPr>
            <a:r>
              <a:t>· 영업 핵심 지표: 하반기 매출 32억 원(+12.6% YoY) 및 신규 고객 350건 수주 달성</a:t>
            </a:r>
          </a:p>
          <a:p>
            <a:pPr>
              <a:spcAft>
                <a:spcPts val="1200"/>
              </a:spcAft>
              <a:defRPr sz="1800" b="0">
                <a:solidFill>
                  <a:srgbClr val="2B5797"/>
                </a:solidFill>
                <a:latin typeface="맑은 고딕"/>
              </a:defRPr>
            </a:pPr>
            <a:r>
              <a:t>· 품질 관리 지표: 고객 충성 만족도 NPS 78점 돌파 및 서비스 갱신율 극대화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457200"/>
          </a:xfrm>
          <a:prstGeom prst="rect">
            <a:avLst/>
          </a:prstGeom>
          <a:noFill/>
        </p:spPr>
        <p:txBody>
          <a:bodyPr wrap="square" tIns="0" bIns="0" lIns="0" rIns="0">
            <a:spAutoFit/>
          </a:bodyPr>
          <a:lstStyle/>
          <a:p>
            <a:pPr>
              <a:defRPr sz="2800" b="1">
                <a:solidFill>
                  <a:srgbClr val="2B5797"/>
                </a:solidFill>
                <a:latin typeface="맑은 고딕"/>
              </a:defRPr>
            </a:pPr>
            <a:r>
              <a:t>2. 핵심 전략 4대 축</a:t>
            </a:r>
          </a:p>
        </p:txBody>
      </p:sp>
      <p:sp>
        <p:nvSpPr>
          <p:cNvPr id="3" name="TextBox 2"/>
          <p:cNvSpPr txBox="1"/>
          <p:nvPr/>
        </p:nvSpPr>
        <p:spPr>
          <a:xfrm>
            <a:off x="731520" y="841248"/>
            <a:ext cx="10698480" cy="365760"/>
          </a:xfrm>
          <a:prstGeom prst="rect">
            <a:avLst/>
          </a:prstGeom>
          <a:noFill/>
        </p:spPr>
        <p:txBody>
          <a:bodyPr wrap="square" tIns="0" bIns="0" lIns="0" rIns="0">
            <a:spAutoFit/>
          </a:bodyPr>
          <a:lstStyle/>
          <a:p>
            <a:pPr>
              <a:defRPr sz="1500" b="1">
                <a:solidFill>
                  <a:srgbClr val="E87722"/>
                </a:solidFill>
                <a:latin typeface="맑은 고딕"/>
              </a:defRPr>
            </a:pPr>
            <a:r>
              <a:t>전략적 자원 배분: 총 예산 6.5억 원의 63%를 프리미엄 및 B2B 확장에 집중</a:t>
            </a:r>
          </a:p>
        </p:txBody>
      </p:sp>
      <p:sp>
        <p:nvSpPr>
          <p:cNvPr id="4" name="Rectangle 3"/>
          <p:cNvSpPr/>
          <p:nvPr/>
        </p:nvSpPr>
        <p:spPr>
          <a:xfrm>
            <a:off x="731520" y="1280160"/>
            <a:ext cx="10698480" cy="1828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전략기획팀</a:t>
            </a:r>
          </a:p>
        </p:txBody>
      </p:sp>
      <p:sp>
        <p:nvSpPr>
          <p:cNvPr id="6" name="TextBox 5"/>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4</a:t>
            </a:r>
          </a:p>
        </p:txBody>
      </p:sp>
      <p:graphicFrame>
        <p:nvGraphicFramePr>
          <p:cNvPr id="7" name="Chart 6"/>
          <p:cNvGraphicFramePr>
            <a:graphicFrameLocks noGrp="1"/>
          </p:cNvGraphicFramePr>
          <p:nvPr/>
        </p:nvGraphicFramePr>
        <p:xfrm>
          <a:off x="731520" y="1645920"/>
          <a:ext cx="6217920" cy="4114800"/>
        </p:xfrm>
        <a:graphic>
          <a:graphicData uri="http://schemas.openxmlformats.org/drawingml/2006/chart">
            <c:chart xmlns:c="http://schemas.openxmlformats.org/drawingml/2006/chart" r:id="rId2"/>
          </a:graphicData>
        </a:graphic>
      </p:graphicFrame>
      <p:sp>
        <p:nvSpPr>
          <p:cNvPr id="8" name="Rectangle 7"/>
          <p:cNvSpPr/>
          <p:nvPr/>
        </p:nvSpPr>
        <p:spPr>
          <a:xfrm>
            <a:off x="7315200" y="1645920"/>
            <a:ext cx="4114800" cy="41148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0" y="1645920"/>
            <a:ext cx="4114800" cy="54864"/>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0" y="1828800"/>
            <a:ext cx="3749040" cy="3840480"/>
          </a:xfrm>
          <a:prstGeom prst="rect">
            <a:avLst/>
          </a:prstGeom>
          <a:noFill/>
        </p:spPr>
        <p:txBody>
          <a:bodyPr wrap="square">
            <a:spAutoFit/>
          </a:bodyPr>
          <a:lstStyle/>
          <a:p>
            <a:pPr>
              <a:spcAft>
                <a:spcPts val="1200"/>
              </a:spcAft>
              <a:defRPr sz="1300" b="0">
                <a:solidFill>
                  <a:srgbClr val="2B5797"/>
                </a:solidFill>
                <a:latin typeface="맑은 고딕"/>
              </a:defRPr>
            </a:pPr>
            <a:r>
              <a:t>■ 4대 핵심 전략 요약</a:t>
            </a:r>
          </a:p>
          <a:p>
            <a:pPr>
              <a:spcAft>
                <a:spcPts val="1200"/>
              </a:spcAft>
              <a:defRPr sz="1300" b="0">
                <a:solidFill>
                  <a:srgbClr val="2B5797"/>
                </a:solidFill>
                <a:latin typeface="맑은 고딕"/>
              </a:defRPr>
            </a:pPr>
            <a:r>
              <a:t>· 프리미엄 가속: AI 보고 기능 탑재(V2.0) 및 업셀링</a:t>
            </a:r>
          </a:p>
          <a:p>
            <a:pPr>
              <a:spcAft>
                <a:spcPts val="1200"/>
              </a:spcAft>
              <a:defRPr sz="1300" b="0">
                <a:solidFill>
                  <a:srgbClr val="2B5797"/>
                </a:solidFill>
                <a:latin typeface="맑은 고딕"/>
              </a:defRPr>
            </a:pPr>
            <a:r>
              <a:t>· B2B 영업 활성화: 금융·공공팀 신설 및 세미나 정례화</a:t>
            </a:r>
          </a:p>
          <a:p>
            <a:pPr>
              <a:spcAft>
                <a:spcPts val="1200"/>
              </a:spcAft>
              <a:defRPr sz="1300" b="0">
                <a:solidFill>
                  <a:srgbClr val="2B5797"/>
                </a:solidFill>
                <a:latin typeface="맑은 고딕"/>
              </a:defRPr>
            </a:pPr>
            <a:r>
              <a:t>· 비수도권 개척: 부산·대구 파트너 센터 개설 및 지역 할인</a:t>
            </a:r>
          </a:p>
          <a:p>
            <a:pPr>
              <a:spcAft>
                <a:spcPts val="1200"/>
              </a:spcAft>
              <a:defRPr sz="1300" b="0">
                <a:solidFill>
                  <a:srgbClr val="2B5797"/>
                </a:solidFill>
                <a:latin typeface="맑은 고딕"/>
              </a:defRPr>
            </a:pPr>
            <a:r>
              <a:t>· 고객 혁신: 가입 3일 내 온보딩 개편 및 챗봇 가동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457200"/>
          </a:xfrm>
          <a:prstGeom prst="rect">
            <a:avLst/>
          </a:prstGeom>
          <a:noFill/>
        </p:spPr>
        <p:txBody>
          <a:bodyPr wrap="square" tIns="0" bIns="0" lIns="0" rIns="0">
            <a:spAutoFit/>
          </a:bodyPr>
          <a:lstStyle/>
          <a:p>
            <a:pPr>
              <a:defRPr sz="2800" b="1">
                <a:solidFill>
                  <a:srgbClr val="2B5797"/>
                </a:solidFill>
                <a:latin typeface="맑은 고딕"/>
              </a:defRPr>
            </a:pPr>
            <a:r>
              <a:t>3. 월별 로드맵</a:t>
            </a:r>
          </a:p>
        </p:txBody>
      </p:sp>
      <p:sp>
        <p:nvSpPr>
          <p:cNvPr id="3" name="TextBox 2"/>
          <p:cNvSpPr txBox="1"/>
          <p:nvPr/>
        </p:nvSpPr>
        <p:spPr>
          <a:xfrm>
            <a:off x="731520" y="841248"/>
            <a:ext cx="10698480" cy="365760"/>
          </a:xfrm>
          <a:prstGeom prst="rect">
            <a:avLst/>
          </a:prstGeom>
          <a:noFill/>
        </p:spPr>
        <p:txBody>
          <a:bodyPr wrap="square" tIns="0" bIns="0" lIns="0" rIns="0">
            <a:spAutoFit/>
          </a:bodyPr>
          <a:lstStyle/>
          <a:p>
            <a:pPr>
              <a:defRPr sz="1500" b="1">
                <a:solidFill>
                  <a:srgbClr val="E87722"/>
                </a:solidFill>
                <a:latin typeface="맑은 고딕"/>
              </a:defRPr>
            </a:pPr>
            <a:r>
              <a:t>하반기 핵심 서비스 출시 및 B2B/지역 개척 일정 타임라인 전개</a:t>
            </a:r>
          </a:p>
        </p:txBody>
      </p:sp>
      <p:sp>
        <p:nvSpPr>
          <p:cNvPr id="4" name="Rectangle 3"/>
          <p:cNvSpPr/>
          <p:nvPr/>
        </p:nvSpPr>
        <p:spPr>
          <a:xfrm>
            <a:off x="731520" y="1280160"/>
            <a:ext cx="10698480" cy="1828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전략기획팀</a:t>
            </a:r>
          </a:p>
        </p:txBody>
      </p:sp>
      <p:sp>
        <p:nvSpPr>
          <p:cNvPr id="6" name="TextBox 5"/>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5</a:t>
            </a:r>
          </a:p>
        </p:txBody>
      </p:sp>
      <p:sp>
        <p:nvSpPr>
          <p:cNvPr id="7" name="Rectangle 6"/>
          <p:cNvSpPr/>
          <p:nvPr/>
        </p:nvSpPr>
        <p:spPr>
          <a:xfrm>
            <a:off x="731520" y="1645920"/>
            <a:ext cx="3383280" cy="16459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45920"/>
            <a:ext cx="3383280" cy="54864"/>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83080"/>
            <a:ext cx="3108960" cy="1371600"/>
          </a:xfrm>
          <a:prstGeom prst="rect">
            <a:avLst/>
          </a:prstGeom>
          <a:noFill/>
        </p:spPr>
        <p:txBody>
          <a:bodyPr wrap="square">
            <a:spAutoFit/>
          </a:bodyPr>
          <a:lstStyle/>
          <a:p>
            <a:pPr>
              <a:spcAft>
                <a:spcPts val="400"/>
              </a:spcAft>
              <a:defRPr sz="1800" b="1">
                <a:solidFill>
                  <a:srgbClr val="2B5797"/>
                </a:solidFill>
                <a:latin typeface="맑은 고딕"/>
              </a:defRPr>
            </a:pPr>
            <a:r>
              <a:t>7월</a:t>
            </a:r>
          </a:p>
          <a:p>
            <a:pPr>
              <a:spcAft>
                <a:spcPts val="400"/>
              </a:spcAft>
              <a:defRPr sz="1300" b="1">
                <a:solidFill>
                  <a:srgbClr val="2B5797"/>
                </a:solidFill>
                <a:latin typeface="맑은 고딕"/>
              </a:defRPr>
            </a:pPr>
            <a:r>
              <a:t>프리미엄 V2.0 출시</a:t>
            </a:r>
          </a:p>
          <a:p>
            <a:pPr>
              <a:defRPr sz="1100">
                <a:solidFill>
                  <a:srgbClr val="788291"/>
                </a:solidFill>
                <a:latin typeface="맑은 고딕"/>
              </a:defRPr>
            </a:pPr>
            <a:r>
              <a:t>AI 자동 보고서 기능 런칭 및 킥오프</a:t>
            </a:r>
          </a:p>
        </p:txBody>
      </p:sp>
      <p:sp>
        <p:nvSpPr>
          <p:cNvPr id="10" name="Rectangle 9"/>
          <p:cNvSpPr/>
          <p:nvPr/>
        </p:nvSpPr>
        <p:spPr>
          <a:xfrm>
            <a:off x="4389120" y="1645920"/>
            <a:ext cx="3383280" cy="16459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645920"/>
            <a:ext cx="3383280" cy="54864"/>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783080"/>
            <a:ext cx="3108960" cy="1371600"/>
          </a:xfrm>
          <a:prstGeom prst="rect">
            <a:avLst/>
          </a:prstGeom>
          <a:noFill/>
        </p:spPr>
        <p:txBody>
          <a:bodyPr wrap="square">
            <a:spAutoFit/>
          </a:bodyPr>
          <a:lstStyle/>
          <a:p>
            <a:pPr>
              <a:spcAft>
                <a:spcPts val="400"/>
              </a:spcAft>
              <a:defRPr sz="1800" b="1">
                <a:solidFill>
                  <a:srgbClr val="E87722"/>
                </a:solidFill>
                <a:latin typeface="맑은 고딕"/>
              </a:defRPr>
            </a:pPr>
            <a:r>
              <a:t>8월</a:t>
            </a:r>
          </a:p>
          <a:p>
            <a:pPr>
              <a:spcAft>
                <a:spcPts val="400"/>
              </a:spcAft>
              <a:defRPr sz="1300" b="1">
                <a:solidFill>
                  <a:srgbClr val="2B5797"/>
                </a:solidFill>
                <a:latin typeface="맑은 고딕"/>
              </a:defRPr>
            </a:pPr>
            <a:r>
              <a:t>B2B 전담 영업팀 신설</a:t>
            </a:r>
          </a:p>
          <a:p>
            <a:pPr>
              <a:defRPr sz="1100">
                <a:solidFill>
                  <a:srgbClr val="788291"/>
                </a:solidFill>
                <a:latin typeface="맑은 고딕"/>
              </a:defRPr>
            </a:pPr>
            <a:r>
              <a:t>금융·공공 타겟 채용 및 캠페인 가동</a:t>
            </a:r>
          </a:p>
        </p:txBody>
      </p:sp>
      <p:sp>
        <p:nvSpPr>
          <p:cNvPr id="13" name="Rectangle 12"/>
          <p:cNvSpPr/>
          <p:nvPr/>
        </p:nvSpPr>
        <p:spPr>
          <a:xfrm>
            <a:off x="8046720" y="1645920"/>
            <a:ext cx="3383280" cy="16459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645920"/>
            <a:ext cx="3383280" cy="54864"/>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80" y="1783080"/>
            <a:ext cx="3108960" cy="1371600"/>
          </a:xfrm>
          <a:prstGeom prst="rect">
            <a:avLst/>
          </a:prstGeom>
          <a:noFill/>
        </p:spPr>
        <p:txBody>
          <a:bodyPr wrap="square">
            <a:spAutoFit/>
          </a:bodyPr>
          <a:lstStyle/>
          <a:p>
            <a:pPr>
              <a:spcAft>
                <a:spcPts val="400"/>
              </a:spcAft>
              <a:defRPr sz="1800" b="1">
                <a:solidFill>
                  <a:srgbClr val="2B5797"/>
                </a:solidFill>
                <a:latin typeface="맑은 고딕"/>
              </a:defRPr>
            </a:pPr>
            <a:r>
              <a:t>9월</a:t>
            </a:r>
          </a:p>
          <a:p>
            <a:pPr>
              <a:spcAft>
                <a:spcPts val="400"/>
              </a:spcAft>
              <a:defRPr sz="1300" b="1">
                <a:solidFill>
                  <a:srgbClr val="2B5797"/>
                </a:solidFill>
                <a:latin typeface="맑은 고딕"/>
              </a:defRPr>
            </a:pPr>
            <a:r>
              <a:t>부산·대구 지역 센터</a:t>
            </a:r>
          </a:p>
          <a:p>
            <a:pPr>
              <a:defRPr sz="1100">
                <a:solidFill>
                  <a:srgbClr val="788291"/>
                </a:solidFill>
                <a:latin typeface="맑은 고딕"/>
              </a:defRPr>
            </a:pPr>
            <a:r>
              <a:t>지방 거점 파트너 계약 및 개소</a:t>
            </a:r>
          </a:p>
        </p:txBody>
      </p:sp>
      <p:sp>
        <p:nvSpPr>
          <p:cNvPr id="16" name="Rectangle 15"/>
          <p:cNvSpPr/>
          <p:nvPr/>
        </p:nvSpPr>
        <p:spPr>
          <a:xfrm>
            <a:off x="731520" y="3566160"/>
            <a:ext cx="3383280" cy="16459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566160"/>
            <a:ext cx="3383280" cy="54864"/>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703320"/>
            <a:ext cx="3108960" cy="1371600"/>
          </a:xfrm>
          <a:prstGeom prst="rect">
            <a:avLst/>
          </a:prstGeom>
          <a:noFill/>
        </p:spPr>
        <p:txBody>
          <a:bodyPr wrap="square">
            <a:spAutoFit/>
          </a:bodyPr>
          <a:lstStyle/>
          <a:p>
            <a:pPr>
              <a:spcAft>
                <a:spcPts val="400"/>
              </a:spcAft>
              <a:defRPr sz="1800" b="1">
                <a:solidFill>
                  <a:srgbClr val="E87722"/>
                </a:solidFill>
                <a:latin typeface="맑은 고딕"/>
              </a:defRPr>
            </a:pPr>
            <a:r>
              <a:t>10월</a:t>
            </a:r>
          </a:p>
          <a:p>
            <a:pPr>
              <a:spcAft>
                <a:spcPts val="400"/>
              </a:spcAft>
              <a:defRPr sz="1300" b="1">
                <a:solidFill>
                  <a:srgbClr val="2B5797"/>
                </a:solidFill>
                <a:latin typeface="맑은 고딕"/>
              </a:defRPr>
            </a:pPr>
            <a:r>
              <a:t>교육기관 패키지 런칭</a:t>
            </a:r>
          </a:p>
          <a:p>
            <a:pPr>
              <a:defRPr sz="1100">
                <a:solidFill>
                  <a:srgbClr val="788291"/>
                </a:solidFill>
                <a:latin typeface="맑은 고딕"/>
              </a:defRPr>
            </a:pPr>
            <a:r>
              <a:t>24시간 챗봇 상담 개시 및 고객 혁신</a:t>
            </a:r>
          </a:p>
        </p:txBody>
      </p:sp>
      <p:sp>
        <p:nvSpPr>
          <p:cNvPr id="19" name="Rectangle 18"/>
          <p:cNvSpPr/>
          <p:nvPr/>
        </p:nvSpPr>
        <p:spPr>
          <a:xfrm>
            <a:off x="4389120" y="3566160"/>
            <a:ext cx="3383280" cy="16459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89120" y="3566160"/>
            <a:ext cx="3383280" cy="54864"/>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26280" y="3703320"/>
            <a:ext cx="3108960" cy="1371600"/>
          </a:xfrm>
          <a:prstGeom prst="rect">
            <a:avLst/>
          </a:prstGeom>
          <a:noFill/>
        </p:spPr>
        <p:txBody>
          <a:bodyPr wrap="square">
            <a:spAutoFit/>
          </a:bodyPr>
          <a:lstStyle/>
          <a:p>
            <a:pPr>
              <a:spcAft>
                <a:spcPts val="400"/>
              </a:spcAft>
              <a:defRPr sz="1800" b="1">
                <a:solidFill>
                  <a:srgbClr val="2B5797"/>
                </a:solidFill>
                <a:latin typeface="맑은 고딕"/>
              </a:defRPr>
            </a:pPr>
            <a:r>
              <a:t>11월</a:t>
            </a:r>
          </a:p>
          <a:p>
            <a:pPr>
              <a:spcAft>
                <a:spcPts val="400"/>
              </a:spcAft>
              <a:defRPr sz="1300" b="1">
                <a:solidFill>
                  <a:srgbClr val="2B5797"/>
                </a:solidFill>
                <a:latin typeface="맑은 고딕"/>
              </a:defRPr>
            </a:pPr>
            <a:r>
              <a:t>지자체 디지털 교육</a:t>
            </a:r>
          </a:p>
          <a:p>
            <a:pPr>
              <a:defRPr sz="1100">
                <a:solidFill>
                  <a:srgbClr val="788291"/>
                </a:solidFill>
                <a:latin typeface="맑은 고딕"/>
              </a:defRPr>
            </a:pPr>
            <a:r>
              <a:t>공공 부문 제안서 접수 및 마케팅</a:t>
            </a:r>
          </a:p>
        </p:txBody>
      </p:sp>
      <p:sp>
        <p:nvSpPr>
          <p:cNvPr id="22" name="Rectangle 21"/>
          <p:cNvSpPr/>
          <p:nvPr/>
        </p:nvSpPr>
        <p:spPr>
          <a:xfrm>
            <a:off x="8046720" y="3566160"/>
            <a:ext cx="3383280" cy="164592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0" y="3566160"/>
            <a:ext cx="3383280" cy="54864"/>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83880" y="3703320"/>
            <a:ext cx="3108960" cy="1371600"/>
          </a:xfrm>
          <a:prstGeom prst="rect">
            <a:avLst/>
          </a:prstGeom>
          <a:noFill/>
        </p:spPr>
        <p:txBody>
          <a:bodyPr wrap="square">
            <a:spAutoFit/>
          </a:bodyPr>
          <a:lstStyle/>
          <a:p>
            <a:pPr>
              <a:spcAft>
                <a:spcPts val="400"/>
              </a:spcAft>
              <a:defRPr sz="1800" b="1">
                <a:solidFill>
                  <a:srgbClr val="E87722"/>
                </a:solidFill>
                <a:latin typeface="맑은 고딕"/>
              </a:defRPr>
            </a:pPr>
            <a:r>
              <a:t>12월</a:t>
            </a:r>
          </a:p>
          <a:p>
            <a:pPr>
              <a:spcAft>
                <a:spcPts val="400"/>
              </a:spcAft>
              <a:defRPr sz="1300" b="1">
                <a:solidFill>
                  <a:srgbClr val="2B5797"/>
                </a:solidFill>
                <a:latin typeface="맑은 고딕"/>
              </a:defRPr>
            </a:pPr>
            <a:r>
              <a:t>성과 분석 및 정산</a:t>
            </a:r>
          </a:p>
          <a:p>
            <a:pPr>
              <a:defRPr sz="1100">
                <a:solidFill>
                  <a:srgbClr val="788291"/>
                </a:solidFill>
                <a:latin typeface="맑은 고딕"/>
              </a:defRPr>
            </a:pPr>
            <a:r>
              <a:t>차년도 영업 전략 및 예산안 확정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457200"/>
          </a:xfrm>
          <a:prstGeom prst="rect">
            <a:avLst/>
          </a:prstGeom>
          <a:noFill/>
        </p:spPr>
        <p:txBody>
          <a:bodyPr wrap="square" tIns="0" bIns="0" lIns="0" rIns="0">
            <a:spAutoFit/>
          </a:bodyPr>
          <a:lstStyle/>
          <a:p>
            <a:pPr>
              <a:defRPr sz="2800" b="1">
                <a:solidFill>
                  <a:srgbClr val="2B5797"/>
                </a:solidFill>
                <a:latin typeface="맑은 고딕"/>
              </a:defRPr>
            </a:pPr>
            <a:r>
              <a:t>4. 예상 손익</a:t>
            </a:r>
          </a:p>
        </p:txBody>
      </p:sp>
      <p:sp>
        <p:nvSpPr>
          <p:cNvPr id="3" name="TextBox 2"/>
          <p:cNvSpPr txBox="1"/>
          <p:nvPr/>
        </p:nvSpPr>
        <p:spPr>
          <a:xfrm>
            <a:off x="731520" y="841248"/>
            <a:ext cx="10698480" cy="365760"/>
          </a:xfrm>
          <a:prstGeom prst="rect">
            <a:avLst/>
          </a:prstGeom>
          <a:noFill/>
        </p:spPr>
        <p:txBody>
          <a:bodyPr wrap="square" tIns="0" bIns="0" lIns="0" rIns="0">
            <a:spAutoFit/>
          </a:bodyPr>
          <a:lstStyle/>
          <a:p>
            <a:pPr>
              <a:defRPr sz="1500" b="1">
                <a:solidFill>
                  <a:srgbClr val="E87722"/>
                </a:solidFill>
                <a:latin typeface="맑은 고딕"/>
              </a:defRPr>
            </a:pPr>
            <a:r>
              <a:t>하반기 매출 32.0억 원 및 비용 22.4억 원 집행, 영업이익률 30.0% 마크 목표</a:t>
            </a:r>
          </a:p>
        </p:txBody>
      </p:sp>
      <p:sp>
        <p:nvSpPr>
          <p:cNvPr id="4" name="Rectangle 3"/>
          <p:cNvSpPr/>
          <p:nvPr/>
        </p:nvSpPr>
        <p:spPr>
          <a:xfrm>
            <a:off x="731520" y="1280160"/>
            <a:ext cx="10698480" cy="1828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전략기획팀</a:t>
            </a:r>
          </a:p>
        </p:txBody>
      </p:sp>
      <p:sp>
        <p:nvSpPr>
          <p:cNvPr id="6" name="TextBox 5"/>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6</a:t>
            </a:r>
          </a:p>
        </p:txBody>
      </p:sp>
      <p:graphicFrame>
        <p:nvGraphicFramePr>
          <p:cNvPr id="7" name="Chart 6"/>
          <p:cNvGraphicFramePr>
            <a:graphicFrameLocks noGrp="1"/>
          </p:cNvGraphicFramePr>
          <p:nvPr/>
        </p:nvGraphicFramePr>
        <p:xfrm>
          <a:off x="731520" y="1645920"/>
          <a:ext cx="6217920" cy="4114800"/>
        </p:xfrm>
        <a:graphic>
          <a:graphicData uri="http://schemas.openxmlformats.org/drawingml/2006/chart">
            <c:chart xmlns:c="http://schemas.openxmlformats.org/drawingml/2006/chart" r:id="rId2"/>
          </a:graphicData>
        </a:graphic>
      </p:graphicFrame>
      <p:sp>
        <p:nvSpPr>
          <p:cNvPr id="8" name="Rectangle 7"/>
          <p:cNvSpPr/>
          <p:nvPr/>
        </p:nvSpPr>
        <p:spPr>
          <a:xfrm>
            <a:off x="7315200" y="1645920"/>
            <a:ext cx="4114800" cy="41148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0" y="1645920"/>
            <a:ext cx="4114800" cy="54864"/>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0" y="1828800"/>
            <a:ext cx="3749040" cy="3840480"/>
          </a:xfrm>
          <a:prstGeom prst="rect">
            <a:avLst/>
          </a:prstGeom>
          <a:noFill/>
        </p:spPr>
        <p:txBody>
          <a:bodyPr wrap="square">
            <a:spAutoFit/>
          </a:bodyPr>
          <a:lstStyle/>
          <a:p>
            <a:pPr>
              <a:spcAft>
                <a:spcPts val="1200"/>
              </a:spcAft>
              <a:defRPr sz="1300" b="0">
                <a:solidFill>
                  <a:srgbClr val="2B5797"/>
                </a:solidFill>
                <a:latin typeface="맑은 고딕"/>
              </a:defRPr>
            </a:pPr>
            <a:r>
              <a:t>■ 예상 비용 상세 집행액</a:t>
            </a:r>
          </a:p>
          <a:p>
            <a:pPr>
              <a:spcAft>
                <a:spcPts val="1200"/>
              </a:spcAft>
              <a:defRPr sz="1300" b="0">
                <a:solidFill>
                  <a:srgbClr val="2B5797"/>
                </a:solidFill>
                <a:latin typeface="맑은 고딕"/>
              </a:defRPr>
            </a:pPr>
            <a:r>
              <a:t>· 인건비: 14억 2,000만 원 (핵심 인력 3명 포함)</a:t>
            </a:r>
          </a:p>
          <a:p>
            <a:pPr>
              <a:spcAft>
                <a:spcPts val="1200"/>
              </a:spcAft>
              <a:defRPr sz="1300" b="0">
                <a:solidFill>
                  <a:srgbClr val="2B5797"/>
                </a:solidFill>
                <a:latin typeface="맑은 고딕"/>
              </a:defRPr>
            </a:pPr>
            <a:r>
              <a:t>· 마케팅비: 4억 6,000만 원 (대규모 캠페인 전개)</a:t>
            </a:r>
          </a:p>
          <a:p>
            <a:pPr>
              <a:spcAft>
                <a:spcPts val="1200"/>
              </a:spcAft>
              <a:defRPr sz="1300" b="0">
                <a:solidFill>
                  <a:srgbClr val="2B5797"/>
                </a:solidFill>
                <a:latin typeface="맑은 고딕"/>
              </a:defRPr>
            </a:pPr>
            <a:r>
              <a:t>· 운영비: 3억 6,000만 원 (지사 센터 및 인프라)</a:t>
            </a:r>
          </a:p>
          <a:p>
            <a:pPr>
              <a:spcAft>
                <a:spcPts val="1200"/>
              </a:spcAft>
              <a:defRPr sz="1300" b="0">
                <a:solidFill>
                  <a:srgbClr val="2B5797"/>
                </a:solidFill>
                <a:latin typeface="맑은 고딕"/>
              </a:defRPr>
            </a:pPr>
            <a:r>
              <a:t>※ 영업이익률: 30.0% 달성 전망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457200"/>
          </a:xfrm>
          <a:prstGeom prst="rect">
            <a:avLst/>
          </a:prstGeom>
          <a:noFill/>
        </p:spPr>
        <p:txBody>
          <a:bodyPr wrap="square" tIns="0" bIns="0" lIns="0" rIns="0">
            <a:spAutoFit/>
          </a:bodyPr>
          <a:lstStyle/>
          <a:p>
            <a:pPr>
              <a:defRPr sz="2800" b="1">
                <a:solidFill>
                  <a:srgbClr val="2B5797"/>
                </a:solidFill>
                <a:latin typeface="맑은 고딕"/>
              </a:defRPr>
            </a:pPr>
            <a:r>
              <a:t>5. 리스크 및 대응 방안</a:t>
            </a:r>
          </a:p>
        </p:txBody>
      </p:sp>
      <p:sp>
        <p:nvSpPr>
          <p:cNvPr id="3" name="TextBox 2"/>
          <p:cNvSpPr txBox="1"/>
          <p:nvPr/>
        </p:nvSpPr>
        <p:spPr>
          <a:xfrm>
            <a:off x="731520" y="841248"/>
            <a:ext cx="10698480" cy="365760"/>
          </a:xfrm>
          <a:prstGeom prst="rect">
            <a:avLst/>
          </a:prstGeom>
          <a:noFill/>
        </p:spPr>
        <p:txBody>
          <a:bodyPr wrap="square" tIns="0" bIns="0" lIns="0" rIns="0">
            <a:spAutoFit/>
          </a:bodyPr>
          <a:lstStyle/>
          <a:p>
            <a:pPr>
              <a:defRPr sz="1500" b="1">
                <a:solidFill>
                  <a:srgbClr val="E87722"/>
                </a:solidFill>
                <a:latin typeface="맑은 고딕"/>
              </a:defRPr>
            </a:pPr>
            <a:r>
              <a:t>경기 둔화, 경쟁사 공격 및 인력 확보 등 핵심 3대 위협의 완벽한 리스크 헤징</a:t>
            </a:r>
          </a:p>
        </p:txBody>
      </p:sp>
      <p:sp>
        <p:nvSpPr>
          <p:cNvPr id="4" name="Rectangle 3"/>
          <p:cNvSpPr/>
          <p:nvPr/>
        </p:nvSpPr>
        <p:spPr>
          <a:xfrm>
            <a:off x="731520" y="1280160"/>
            <a:ext cx="10698480" cy="1828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전략기획팀</a:t>
            </a:r>
          </a:p>
        </p:txBody>
      </p:sp>
      <p:sp>
        <p:nvSpPr>
          <p:cNvPr id="6" name="TextBox 5"/>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7</a:t>
            </a:r>
          </a:p>
        </p:txBody>
      </p:sp>
      <p:sp>
        <p:nvSpPr>
          <p:cNvPr id="7" name="Rectangle 6"/>
          <p:cNvSpPr/>
          <p:nvPr/>
        </p:nvSpPr>
        <p:spPr>
          <a:xfrm>
            <a:off x="731520" y="1645920"/>
            <a:ext cx="10698480" cy="41148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45920"/>
            <a:ext cx="10698480" cy="54864"/>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28800"/>
            <a:ext cx="10332720" cy="3840480"/>
          </a:xfrm>
          <a:prstGeom prst="rect">
            <a:avLst/>
          </a:prstGeom>
          <a:noFill/>
        </p:spPr>
        <p:txBody>
          <a:bodyPr wrap="square">
            <a:spAutoFit/>
          </a:bodyPr>
          <a:lstStyle/>
          <a:p>
            <a:pPr>
              <a:spcAft>
                <a:spcPts val="1200"/>
              </a:spcAft>
              <a:defRPr sz="1800" b="0">
                <a:solidFill>
                  <a:srgbClr val="2B5797"/>
                </a:solidFill>
                <a:latin typeface="맑은 고딕"/>
              </a:defRPr>
            </a:pPr>
            <a:r>
              <a:t>· 1) 경기 둔화 위험: 솔루션 분할 결제 등 유연 요금제 선제적 도입 (진입 장벽 완화)</a:t>
            </a:r>
          </a:p>
          <a:p>
            <a:pPr>
              <a:spcAft>
                <a:spcPts val="1200"/>
              </a:spcAft>
              <a:defRPr sz="1800" b="0">
                <a:solidFill>
                  <a:srgbClr val="2B5797"/>
                </a:solidFill>
                <a:latin typeface="맑은 고딕"/>
              </a:defRPr>
            </a:pPr>
            <a:r>
              <a:t>· 2) 경쟁사 신제품 출현: AI 핵심 기능을 탑재한 프리미엄 V2.0 출시 앞당김 (9월 -&gt; 8월)</a:t>
            </a:r>
          </a:p>
          <a:p>
            <a:pPr>
              <a:spcAft>
                <a:spcPts val="1200"/>
              </a:spcAft>
              <a:defRPr sz="1800" b="0">
                <a:solidFill>
                  <a:srgbClr val="2B5797"/>
                </a:solidFill>
                <a:latin typeface="맑은 고딕"/>
              </a:defRPr>
            </a:pPr>
            <a:r>
              <a:t>· 3) 인력 이탈 및 공백: 7~8월 내 마케팅 및 개발 핵심 부문 3명 특별 특별 전담 채용 완료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698480" cy="457200"/>
          </a:xfrm>
          <a:prstGeom prst="rect">
            <a:avLst/>
          </a:prstGeom>
          <a:noFill/>
        </p:spPr>
        <p:txBody>
          <a:bodyPr wrap="square" tIns="0" bIns="0" lIns="0" rIns="0">
            <a:spAutoFit/>
          </a:bodyPr>
          <a:lstStyle/>
          <a:p>
            <a:pPr>
              <a:defRPr sz="2800" b="1">
                <a:solidFill>
                  <a:srgbClr val="2B5797"/>
                </a:solidFill>
                <a:latin typeface="맑은 고딕"/>
              </a:defRPr>
            </a:pPr>
            <a:r>
              <a:t>요약 및 제안</a:t>
            </a:r>
          </a:p>
        </p:txBody>
      </p:sp>
      <p:sp>
        <p:nvSpPr>
          <p:cNvPr id="3" name="TextBox 2"/>
          <p:cNvSpPr txBox="1"/>
          <p:nvPr/>
        </p:nvSpPr>
        <p:spPr>
          <a:xfrm>
            <a:off x="731520" y="841248"/>
            <a:ext cx="10698480" cy="365760"/>
          </a:xfrm>
          <a:prstGeom prst="rect">
            <a:avLst/>
          </a:prstGeom>
          <a:noFill/>
        </p:spPr>
        <p:txBody>
          <a:bodyPr wrap="square" tIns="0" bIns="0" lIns="0" rIns="0">
            <a:spAutoFit/>
          </a:bodyPr>
          <a:lstStyle/>
          <a:p>
            <a:pPr>
              <a:defRPr sz="1500" b="1">
                <a:solidFill>
                  <a:srgbClr val="E87722"/>
                </a:solidFill>
                <a:latin typeface="맑은 고딕"/>
              </a:defRPr>
            </a:pPr>
            <a:r>
              <a:t>하반기 매출 32억 원과 영업이익 9.6억 원 달성을 위한 제언 요약</a:t>
            </a:r>
          </a:p>
        </p:txBody>
      </p:sp>
      <p:sp>
        <p:nvSpPr>
          <p:cNvPr id="4" name="Rectangle 3"/>
          <p:cNvSpPr/>
          <p:nvPr/>
        </p:nvSpPr>
        <p:spPr>
          <a:xfrm>
            <a:off x="731520" y="1280160"/>
            <a:ext cx="10698480" cy="1828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전략기획팀</a:t>
            </a:r>
          </a:p>
        </p:txBody>
      </p:sp>
      <p:sp>
        <p:nvSpPr>
          <p:cNvPr id="6" name="TextBox 5"/>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8</a:t>
            </a:r>
          </a:p>
        </p:txBody>
      </p:sp>
      <p:sp>
        <p:nvSpPr>
          <p:cNvPr id="7" name="Rectangle 6"/>
          <p:cNvSpPr/>
          <p:nvPr/>
        </p:nvSpPr>
        <p:spPr>
          <a:xfrm>
            <a:off x="731520" y="1645920"/>
            <a:ext cx="10698480" cy="201168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45920"/>
            <a:ext cx="10698480" cy="54864"/>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28800"/>
            <a:ext cx="10332720" cy="1737360"/>
          </a:xfrm>
          <a:prstGeom prst="rect">
            <a:avLst/>
          </a:prstGeom>
          <a:noFill/>
        </p:spPr>
        <p:txBody>
          <a:bodyPr wrap="square">
            <a:spAutoFit/>
          </a:bodyPr>
          <a:lstStyle/>
          <a:p>
            <a:pPr>
              <a:spcAft>
                <a:spcPts val="1200"/>
              </a:spcAft>
              <a:defRPr sz="1300" b="0">
                <a:solidFill>
                  <a:srgbClr val="2B5797"/>
                </a:solidFill>
                <a:latin typeface="맑은 고딕"/>
              </a:defRPr>
            </a:pPr>
            <a:r>
              <a:t>[핵심 발견 (Key Findings)]</a:t>
            </a:r>
          </a:p>
          <a:p>
            <a:pPr>
              <a:spcAft>
                <a:spcPts val="1200"/>
              </a:spcAft>
              <a:defRPr sz="1300" b="0">
                <a:solidFill>
                  <a:srgbClr val="2B5797"/>
                </a:solidFill>
                <a:latin typeface="맑은 고딕"/>
              </a:defRPr>
            </a:pPr>
            <a:r>
              <a:t>1. 매출 32억 원 목표를 위해 상반기 성장 모멘텀이 증명된 프리미엄 및 B2B 영업 가동 필요</a:t>
            </a:r>
          </a:p>
          <a:p>
            <a:pPr>
              <a:spcAft>
                <a:spcPts val="1200"/>
              </a:spcAft>
              <a:defRPr sz="1300" b="0">
                <a:solidFill>
                  <a:srgbClr val="2B5797"/>
                </a:solidFill>
                <a:latin typeface="맑은 고딕"/>
              </a:defRPr>
            </a:pPr>
            <a:r>
              <a:t>2. 전국 영업 기반 구축 및 지방 잠재 수요 흡수를 위해 비수도권 매출 비중 45% 유치 중요</a:t>
            </a:r>
          </a:p>
          <a:p>
            <a:pPr>
              <a:spcAft>
                <a:spcPts val="1200"/>
              </a:spcAft>
              <a:defRPr sz="1300" b="0">
                <a:solidFill>
                  <a:srgbClr val="2B5797"/>
                </a:solidFill>
                <a:latin typeface="맑은 고딕"/>
              </a:defRPr>
            </a:pPr>
            <a:r>
              <a:t>3. 프리미엄 신기능 V2.0 조기 출시(8월)를 통한 시장 경쟁력 선점 및 리스크 관리 요구됨</a:t>
            </a:r>
          </a:p>
        </p:txBody>
      </p:sp>
      <p:sp>
        <p:nvSpPr>
          <p:cNvPr id="10" name="Rectangle 9"/>
          <p:cNvSpPr/>
          <p:nvPr/>
        </p:nvSpPr>
        <p:spPr>
          <a:xfrm>
            <a:off x="731520" y="3931920"/>
            <a:ext cx="10698480" cy="18288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931920"/>
            <a:ext cx="10698480" cy="54864"/>
          </a:xfrm>
          <a:prstGeom prst="rect">
            <a:avLst/>
          </a:prstGeom>
          <a:solidFill>
            <a:srgbClr val="2B57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114800"/>
            <a:ext cx="10332720" cy="1554480"/>
          </a:xfrm>
          <a:prstGeom prst="rect">
            <a:avLst/>
          </a:prstGeom>
          <a:noFill/>
        </p:spPr>
        <p:txBody>
          <a:bodyPr wrap="square">
            <a:spAutoFit/>
          </a:bodyPr>
          <a:lstStyle/>
          <a:p>
            <a:pPr>
              <a:spcAft>
                <a:spcPts val="1200"/>
              </a:spcAft>
              <a:defRPr sz="1300" b="0">
                <a:solidFill>
                  <a:srgbClr val="2B5797"/>
                </a:solidFill>
                <a:latin typeface="맑은 고딕"/>
              </a:defRPr>
            </a:pPr>
            <a:r>
              <a:t>[제안 및 다음 단계 (Proposals &amp; Next Steps)]</a:t>
            </a:r>
          </a:p>
          <a:p>
            <a:pPr>
              <a:spcAft>
                <a:spcPts val="1200"/>
              </a:spcAft>
              <a:defRPr sz="1300" b="0">
                <a:solidFill>
                  <a:srgbClr val="2B5797"/>
                </a:solidFill>
                <a:latin typeface="맑은 고딕"/>
              </a:defRPr>
            </a:pPr>
            <a:r>
              <a:t>1. 대표이사 승인 직후 전 부서 대상 하반기 킥오프 세션 진행 및 마일스톤 실행 지시</a:t>
            </a:r>
          </a:p>
          <a:p>
            <a:pPr>
              <a:spcAft>
                <a:spcPts val="1200"/>
              </a:spcAft>
              <a:defRPr sz="1300" b="0">
                <a:solidFill>
                  <a:srgbClr val="2B5797"/>
                </a:solidFill>
                <a:latin typeface="맑은 고딕"/>
              </a:defRPr>
            </a:pPr>
            <a:r>
              <a:t>2. 7월 중 신규 채용 승인 가결 및 프리미엄 V2.0 AI 보고 모듈 개발 진척도 우선 감시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6309360"/>
            <a:ext cx="3657600" cy="274320"/>
          </a:xfrm>
          <a:prstGeom prst="rect">
            <a:avLst/>
          </a:prstGeom>
          <a:noFill/>
        </p:spPr>
        <p:txBody>
          <a:bodyPr wrap="square">
            <a:spAutoFit/>
          </a:bodyPr>
          <a:lstStyle/>
          <a:p>
            <a:pPr>
              <a:defRPr sz="1100">
                <a:solidFill>
                  <a:srgbClr val="788291"/>
                </a:solidFill>
                <a:latin typeface="맑은 고딕"/>
              </a:defRPr>
            </a:pPr>
            <a:r>
              <a:t>전략기획팀</a:t>
            </a:r>
          </a:p>
        </p:txBody>
      </p:sp>
      <p:sp>
        <p:nvSpPr>
          <p:cNvPr id="3" name="TextBox 2"/>
          <p:cNvSpPr txBox="1"/>
          <p:nvPr/>
        </p:nvSpPr>
        <p:spPr>
          <a:xfrm>
            <a:off x="10058400" y="6309360"/>
            <a:ext cx="1371600" cy="274320"/>
          </a:xfrm>
          <a:prstGeom prst="rect">
            <a:avLst/>
          </a:prstGeom>
          <a:noFill/>
        </p:spPr>
        <p:txBody>
          <a:bodyPr wrap="square">
            <a:spAutoFit/>
          </a:bodyPr>
          <a:lstStyle/>
          <a:p>
            <a:pPr algn="r">
              <a:defRPr sz="1100">
                <a:solidFill>
                  <a:srgbClr val="788291"/>
                </a:solidFill>
                <a:latin typeface="맑은 고딕"/>
              </a:defRPr>
            </a:pPr>
            <a:r>
              <a:t>9</a:t>
            </a:r>
          </a:p>
        </p:txBody>
      </p:sp>
      <p:sp>
        <p:nvSpPr>
          <p:cNvPr id="4" name="TextBox 3"/>
          <p:cNvSpPr txBox="1"/>
          <p:nvPr/>
        </p:nvSpPr>
        <p:spPr>
          <a:xfrm>
            <a:off x="914400" y="2011680"/>
            <a:ext cx="10362895" cy="3200400"/>
          </a:xfrm>
          <a:prstGeom prst="rect">
            <a:avLst/>
          </a:prstGeom>
          <a:noFill/>
        </p:spPr>
        <p:txBody>
          <a:bodyPr wrap="square">
            <a:spAutoFit/>
          </a:bodyPr>
          <a:lstStyle/>
          <a:p>
            <a:pPr algn="ctr">
              <a:spcAft>
                <a:spcPts val="2400"/>
              </a:spcAft>
              <a:defRPr sz="4000" b="1">
                <a:solidFill>
                  <a:srgbClr val="2B5797"/>
                </a:solidFill>
                <a:latin typeface="맑은 고딕"/>
              </a:defRPr>
            </a:pPr>
            <a:r>
              <a:t>경청해 주셔서 감사합니다.</a:t>
            </a:r>
          </a:p>
          <a:p>
            <a:pPr algn="ctr">
              <a:spcAft>
                <a:spcPts val="2400"/>
              </a:spcAft>
              <a:defRPr sz="2000" b="1">
                <a:solidFill>
                  <a:srgbClr val="E87722"/>
                </a:solidFill>
                <a:latin typeface="맑은 고딕"/>
              </a:defRPr>
            </a:pPr>
            <a:r>
              <a:t>[ Q&amp;A 및 토론 ]</a:t>
            </a:r>
          </a:p>
          <a:p>
            <a:pPr algn="ctr">
              <a:defRPr sz="1400">
                <a:solidFill>
                  <a:srgbClr val="2B5797"/>
                </a:solidFill>
                <a:latin typeface="맑은 고딕"/>
              </a:defRPr>
            </a:pPr>
            <a:r>
              <a:t>문의처: 전략기획팀 (strategy@company.com / 사내전화 101)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